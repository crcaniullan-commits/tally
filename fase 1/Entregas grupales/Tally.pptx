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rand Hotel" charset="1" panose="02000606000000020003"/>
      <p:regular r:id="rId17"/>
    </p:embeddedFont>
    <p:embeddedFont>
      <p:font typeface="Bree Serif" charset="1" panose="02000503040000020004"/>
      <p:regular r:id="rId18"/>
    </p:embeddedFont>
    <p:embeddedFont>
      <p:font typeface="Calibri (MS)" charset="1" panose="020F0502020204030204"/>
      <p:regular r:id="rId19"/>
    </p:embeddedFont>
    <p:embeddedFont>
      <p:font typeface="Montaser Arabic Bold" charset="1" panose="00000800000000000000"/>
      <p:regular r:id="rId20"/>
    </p:embeddedFont>
    <p:embeddedFont>
      <p:font typeface="Montaser Arabic" charset="1" panose="00000500000000000000"/>
      <p:regular r:id="rId21"/>
    </p:embeddedFont>
    <p:embeddedFont>
      <p:font typeface="Poppins" charset="1" panose="00000500000000000000"/>
      <p:regular r:id="rId22"/>
    </p:embeddedFont>
    <p:embeddedFont>
      <p:font typeface="Cambria Bold" charset="1" panose="02040803050406030204"/>
      <p:regular r:id="rId23"/>
    </p:embeddedFont>
    <p:embeddedFont>
      <p:font typeface="Calibri (MS) Bold" charset="1" panose="020F0702030404030204"/>
      <p:regular r:id="rId24"/>
    </p:embeddedFont>
    <p:embeddedFont>
      <p:font typeface="Open Sans Bold" charset="1" panose="00000000000000000000"/>
      <p:regular r:id="rId25"/>
    </p:embeddedFont>
    <p:embeddedFont>
      <p:font typeface="Open Sans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16" Target="../media/image4.jpe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14" Target="../media/image45.png" Type="http://schemas.openxmlformats.org/officeDocument/2006/relationships/image"/><Relationship Id="rId15" Target="../media/image46.svg" Type="http://schemas.openxmlformats.org/officeDocument/2006/relationships/image"/><Relationship Id="rId16" Target="../media/image4.jpe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0.png" Type="http://schemas.openxmlformats.org/officeDocument/2006/relationships/image"/><Relationship Id="rId4" Target="../media/image5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9.png" Type="http://schemas.openxmlformats.org/officeDocument/2006/relationships/image"/><Relationship Id="rId4" Target="../media/image6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61.png" Type="http://schemas.openxmlformats.org/officeDocument/2006/relationships/image"/><Relationship Id="rId4" Target="../media/image6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63.png" Type="http://schemas.openxmlformats.org/officeDocument/2006/relationships/image"/><Relationship Id="rId4" Target="../media/image6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png" Type="http://schemas.openxmlformats.org/officeDocument/2006/relationships/image"/><Relationship Id="rId4" Target="../media/image67.png" Type="http://schemas.openxmlformats.org/officeDocument/2006/relationships/image"/><Relationship Id="rId5" Target="../media/image68.svg" Type="http://schemas.openxmlformats.org/officeDocument/2006/relationships/image"/><Relationship Id="rId6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92598" y="4751001"/>
            <a:ext cx="12382500" cy="2548787"/>
            <a:chOff x="0" y="0"/>
            <a:chExt cx="16510000" cy="33983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510000" cy="3398382"/>
            </a:xfrm>
            <a:custGeom>
              <a:avLst/>
              <a:gdLst/>
              <a:ahLst/>
              <a:cxnLst/>
              <a:rect r="r" b="b" t="t" l="l"/>
              <a:pathLst>
                <a:path h="3398382" w="16510000">
                  <a:moveTo>
                    <a:pt x="432405" y="0"/>
                  </a:moveTo>
                  <a:lnTo>
                    <a:pt x="16077595" y="0"/>
                  </a:lnTo>
                  <a:cubicBezTo>
                    <a:pt x="16316406" y="0"/>
                    <a:pt x="16510000" y="152151"/>
                    <a:pt x="16510000" y="339838"/>
                  </a:cubicBezTo>
                  <a:lnTo>
                    <a:pt x="16510000" y="3058544"/>
                  </a:lnTo>
                  <a:cubicBezTo>
                    <a:pt x="16510000" y="3246232"/>
                    <a:pt x="16316406" y="3398382"/>
                    <a:pt x="16077595" y="3398382"/>
                  </a:cubicBezTo>
                  <a:lnTo>
                    <a:pt x="432405" y="3398382"/>
                  </a:lnTo>
                  <a:cubicBezTo>
                    <a:pt x="193594" y="3398382"/>
                    <a:pt x="0" y="3246232"/>
                    <a:pt x="0" y="3058544"/>
                  </a:cubicBezTo>
                  <a:lnTo>
                    <a:pt x="0" y="339838"/>
                  </a:lnTo>
                  <a:cubicBezTo>
                    <a:pt x="0" y="152151"/>
                    <a:pt x="193594" y="0"/>
                    <a:pt x="432405" y="0"/>
                  </a:cubicBezTo>
                  <a:close/>
                </a:path>
              </a:pathLst>
            </a:custGeom>
            <a:solidFill>
              <a:srgbClr val="302551">
                <a:alpha val="58824"/>
              </a:srgbClr>
            </a:solidFill>
            <a:ln w="19050" cap="sq">
              <a:solidFill>
                <a:srgbClr val="2A2045">
                  <a:alpha val="5882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510000" cy="3446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013528" y="157085"/>
            <a:ext cx="7704451" cy="6245413"/>
            <a:chOff x="0" y="0"/>
            <a:chExt cx="10272601" cy="832721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390563"/>
              <a:ext cx="10272601" cy="60835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315"/>
                </a:lnSpc>
                <a:spcBef>
                  <a:spcPct val="0"/>
                </a:spcBef>
              </a:pPr>
              <a:r>
                <a:rPr lang="en-US" sz="27368">
                  <a:solidFill>
                    <a:srgbClr val="F884D4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ally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508594" y="-781050"/>
              <a:ext cx="2370036" cy="9108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7396"/>
                </a:lnSpc>
                <a:spcBef>
                  <a:spcPct val="0"/>
                </a:spcBef>
              </a:pPr>
              <a:r>
                <a:rPr lang="en-US" sz="40997">
                  <a:solidFill>
                    <a:srgbClr val="F884D4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t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4345781" y="5143500"/>
            <a:ext cx="6467219" cy="0"/>
          </a:xfrm>
          <a:prstGeom prst="line">
            <a:avLst/>
          </a:prstGeom>
          <a:ln cap="flat" w="19050">
            <a:solidFill>
              <a:srgbClr val="53D0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4345781" y="6812074"/>
            <a:ext cx="11139993" cy="0"/>
          </a:xfrm>
          <a:prstGeom prst="line">
            <a:avLst/>
          </a:prstGeom>
          <a:ln cap="flat" w="19050">
            <a:solidFill>
              <a:srgbClr val="53D0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7502879" y="8676884"/>
            <a:ext cx="4381500" cy="904875"/>
            <a:chOff x="0" y="0"/>
            <a:chExt cx="6120363" cy="12639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20363" cy="1263988"/>
            </a:xfrm>
            <a:custGeom>
              <a:avLst/>
              <a:gdLst/>
              <a:ahLst/>
              <a:cxnLst/>
              <a:rect r="r" b="b" t="t" l="l"/>
              <a:pathLst>
                <a:path h="1263988" w="6120363">
                  <a:moveTo>
                    <a:pt x="160295" y="0"/>
                  </a:moveTo>
                  <a:lnTo>
                    <a:pt x="5960068" y="0"/>
                  </a:lnTo>
                  <a:cubicBezTo>
                    <a:pt x="6048597" y="0"/>
                    <a:pt x="6120363" y="56591"/>
                    <a:pt x="6120363" y="126399"/>
                  </a:cubicBezTo>
                  <a:lnTo>
                    <a:pt x="6120363" y="1137589"/>
                  </a:lnTo>
                  <a:cubicBezTo>
                    <a:pt x="6120363" y="1207397"/>
                    <a:pt x="6048597" y="1263988"/>
                    <a:pt x="5960068" y="1263988"/>
                  </a:cubicBezTo>
                  <a:lnTo>
                    <a:pt x="160295" y="1263988"/>
                  </a:lnTo>
                  <a:cubicBezTo>
                    <a:pt x="71767" y="1263988"/>
                    <a:pt x="0" y="1207397"/>
                    <a:pt x="0" y="1137589"/>
                  </a:cubicBezTo>
                  <a:lnTo>
                    <a:pt x="0" y="126399"/>
                  </a:lnTo>
                  <a:cubicBezTo>
                    <a:pt x="0" y="56591"/>
                    <a:pt x="71767" y="0"/>
                    <a:pt x="160295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AE56EA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6120363" cy="1292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60604" y="8676884"/>
            <a:ext cx="4381500" cy="904875"/>
            <a:chOff x="0" y="0"/>
            <a:chExt cx="6177729" cy="12758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77729" cy="1275835"/>
            </a:xfrm>
            <a:custGeom>
              <a:avLst/>
              <a:gdLst/>
              <a:ahLst/>
              <a:cxnLst/>
              <a:rect r="r" b="b" t="t" l="l"/>
              <a:pathLst>
                <a:path h="1275835" w="6177729">
                  <a:moveTo>
                    <a:pt x="178829" y="0"/>
                  </a:moveTo>
                  <a:lnTo>
                    <a:pt x="5998900" y="0"/>
                  </a:lnTo>
                  <a:cubicBezTo>
                    <a:pt x="6097665" y="0"/>
                    <a:pt x="6177729" y="57121"/>
                    <a:pt x="6177729" y="127584"/>
                  </a:cubicBezTo>
                  <a:lnTo>
                    <a:pt x="6177729" y="1148252"/>
                  </a:lnTo>
                  <a:cubicBezTo>
                    <a:pt x="6177729" y="1218714"/>
                    <a:pt x="6097665" y="1275835"/>
                    <a:pt x="5998900" y="1275835"/>
                  </a:cubicBezTo>
                  <a:lnTo>
                    <a:pt x="178829" y="1275835"/>
                  </a:lnTo>
                  <a:cubicBezTo>
                    <a:pt x="80064" y="1275835"/>
                    <a:pt x="0" y="1218714"/>
                    <a:pt x="0" y="1148252"/>
                  </a:cubicBezTo>
                  <a:lnTo>
                    <a:pt x="0" y="127584"/>
                  </a:lnTo>
                  <a:cubicBezTo>
                    <a:pt x="0" y="57121"/>
                    <a:pt x="80064" y="0"/>
                    <a:pt x="178829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B2E18E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6177729" cy="1304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819150" y="9915525"/>
            <a:ext cx="16621125" cy="0"/>
          </a:xfrm>
          <a:prstGeom prst="line">
            <a:avLst/>
          </a:prstGeom>
          <a:ln cap="flat" w="9525">
            <a:solidFill>
              <a:srgbClr val="FFC1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5400000">
            <a:off x="169722" y="-2270645"/>
            <a:ext cx="2441012" cy="5172449"/>
            <a:chOff x="0" y="0"/>
            <a:chExt cx="642900" cy="13622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2900" cy="1362291"/>
            </a:xfrm>
            <a:custGeom>
              <a:avLst/>
              <a:gdLst/>
              <a:ahLst/>
              <a:cxnLst/>
              <a:rect r="r" b="b" t="t" l="l"/>
              <a:pathLst>
                <a:path h="1362291" w="642900">
                  <a:moveTo>
                    <a:pt x="214416" y="1343222"/>
                  </a:moveTo>
                  <a:cubicBezTo>
                    <a:pt x="247376" y="1354736"/>
                    <a:pt x="284847" y="1362291"/>
                    <a:pt x="321623" y="1362291"/>
                  </a:cubicBezTo>
                  <a:cubicBezTo>
                    <a:pt x="358401" y="1362291"/>
                    <a:pt x="393790" y="1355814"/>
                    <a:pt x="426402" y="1344300"/>
                  </a:cubicBezTo>
                  <a:cubicBezTo>
                    <a:pt x="427097" y="1343941"/>
                    <a:pt x="427791" y="1343941"/>
                    <a:pt x="428484" y="1343582"/>
                  </a:cubicBezTo>
                  <a:cubicBezTo>
                    <a:pt x="550958" y="1297526"/>
                    <a:pt x="641166" y="1175912"/>
                    <a:pt x="642900" y="1021583"/>
                  </a:cubicBezTo>
                  <a:lnTo>
                    <a:pt x="642900" y="257693"/>
                  </a:lnTo>
                  <a:cubicBezTo>
                    <a:pt x="642900" y="189348"/>
                    <a:pt x="615751" y="123803"/>
                    <a:pt x="567424" y="75476"/>
                  </a:cubicBezTo>
                  <a:cubicBezTo>
                    <a:pt x="519097" y="27150"/>
                    <a:pt x="453552" y="0"/>
                    <a:pt x="385208" y="0"/>
                  </a:cubicBezTo>
                  <a:lnTo>
                    <a:pt x="257693" y="0"/>
                  </a:lnTo>
                  <a:cubicBezTo>
                    <a:pt x="189348" y="0"/>
                    <a:pt x="123803" y="27150"/>
                    <a:pt x="75476" y="75476"/>
                  </a:cubicBezTo>
                  <a:cubicBezTo>
                    <a:pt x="27150" y="123803"/>
                    <a:pt x="0" y="189348"/>
                    <a:pt x="0" y="257693"/>
                  </a:cubicBezTo>
                  <a:lnTo>
                    <a:pt x="0" y="1020825"/>
                  </a:lnTo>
                  <a:cubicBezTo>
                    <a:pt x="1735" y="1176631"/>
                    <a:pt x="90554" y="1298246"/>
                    <a:pt x="214416" y="1343222"/>
                  </a:cubicBezTo>
                  <a:lnTo>
                    <a:pt x="214416" y="1343222"/>
                  </a:ln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A4B82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42900" cy="1282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45898" y="315580"/>
            <a:ext cx="3500764" cy="861516"/>
          </a:xfrm>
          <a:custGeom>
            <a:avLst/>
            <a:gdLst/>
            <a:ahLst/>
            <a:cxnLst/>
            <a:rect r="r" b="b" t="t" l="l"/>
            <a:pathLst>
              <a:path h="861516" w="3500764">
                <a:moveTo>
                  <a:pt x="0" y="0"/>
                </a:moveTo>
                <a:lnTo>
                  <a:pt x="3500764" y="0"/>
                </a:lnTo>
                <a:lnTo>
                  <a:pt x="3500764" y="861516"/>
                </a:lnTo>
                <a:lnTo>
                  <a:pt x="0" y="861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845610" y="8676884"/>
            <a:ext cx="4381500" cy="904875"/>
            <a:chOff x="0" y="0"/>
            <a:chExt cx="6177729" cy="127583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77729" cy="1275835"/>
            </a:xfrm>
            <a:custGeom>
              <a:avLst/>
              <a:gdLst/>
              <a:ahLst/>
              <a:cxnLst/>
              <a:rect r="r" b="b" t="t" l="l"/>
              <a:pathLst>
                <a:path h="1275835" w="6177729">
                  <a:moveTo>
                    <a:pt x="178829" y="0"/>
                  </a:moveTo>
                  <a:lnTo>
                    <a:pt x="5998900" y="0"/>
                  </a:lnTo>
                  <a:cubicBezTo>
                    <a:pt x="6097665" y="0"/>
                    <a:pt x="6177729" y="57121"/>
                    <a:pt x="6177729" y="127584"/>
                  </a:cubicBezTo>
                  <a:lnTo>
                    <a:pt x="6177729" y="1148252"/>
                  </a:lnTo>
                  <a:cubicBezTo>
                    <a:pt x="6177729" y="1218714"/>
                    <a:pt x="6097665" y="1275835"/>
                    <a:pt x="5998900" y="1275835"/>
                  </a:cubicBezTo>
                  <a:lnTo>
                    <a:pt x="178829" y="1275835"/>
                  </a:lnTo>
                  <a:cubicBezTo>
                    <a:pt x="80064" y="1275835"/>
                    <a:pt x="0" y="1218714"/>
                    <a:pt x="0" y="1148252"/>
                  </a:cubicBezTo>
                  <a:lnTo>
                    <a:pt x="0" y="127584"/>
                  </a:lnTo>
                  <a:cubicBezTo>
                    <a:pt x="0" y="57121"/>
                    <a:pt x="80064" y="0"/>
                    <a:pt x="178829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FFB5AC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6177729" cy="1304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2607864" y="3282679"/>
            <a:ext cx="2877910" cy="2936643"/>
          </a:xfrm>
          <a:custGeom>
            <a:avLst/>
            <a:gdLst/>
            <a:ahLst/>
            <a:cxnLst/>
            <a:rect r="r" b="b" t="t" l="l"/>
            <a:pathLst>
              <a:path h="2936643" w="2877910">
                <a:moveTo>
                  <a:pt x="0" y="0"/>
                </a:moveTo>
                <a:lnTo>
                  <a:pt x="2877910" y="0"/>
                </a:lnTo>
                <a:lnTo>
                  <a:pt x="2877910" y="2936643"/>
                </a:lnTo>
                <a:lnTo>
                  <a:pt x="0" y="2936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133767" y="5681296"/>
            <a:ext cx="5473359" cy="62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2"/>
              </a:lnSpc>
              <a:spcBef>
                <a:spcPct val="0"/>
              </a:spcBef>
            </a:pPr>
            <a:r>
              <a:rPr lang="en-US" sz="3658">
                <a:solidFill>
                  <a:srgbClr val="D7FFB8"/>
                </a:solidFill>
                <a:latin typeface="Bree Serif"/>
                <a:ea typeface="Bree Serif"/>
                <a:cs typeface="Bree Serif"/>
                <a:sym typeface="Bree Serif"/>
              </a:rPr>
              <a:t>APP Para emprendedores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772133" y="8019280"/>
            <a:ext cx="9525000" cy="48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32"/>
              </a:lnSpc>
              <a:spcBef>
                <a:spcPct val="0"/>
              </a:spcBef>
            </a:pPr>
            <a:r>
              <a:rPr lang="en-US" sz="2808" strike="noStrike" u="none">
                <a:solidFill>
                  <a:srgbClr val="D3D8D5"/>
                </a:solidFill>
                <a:latin typeface="Bree Serif"/>
                <a:ea typeface="Bree Serif"/>
                <a:cs typeface="Bree Serif"/>
                <a:sym typeface="Bree Serif"/>
              </a:rPr>
              <a:t>Equipo de Proyecto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02879" y="8744674"/>
            <a:ext cx="4381500" cy="34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7"/>
              </a:lnSpc>
              <a:spcBef>
                <a:spcPct val="0"/>
              </a:spcBef>
            </a:pPr>
            <a:r>
              <a:rPr lang="en-US" sz="2033" strike="noStrike" u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Cristopher Caniullan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02879" y="9117628"/>
            <a:ext cx="4381500" cy="281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2"/>
              </a:lnSpc>
              <a:spcBef>
                <a:spcPct val="0"/>
              </a:spcBef>
            </a:pPr>
            <a:r>
              <a:rPr lang="en-US" sz="1658">
                <a:solidFill>
                  <a:srgbClr val="AE56EA"/>
                </a:solidFill>
                <a:latin typeface="Bree Serif"/>
                <a:ea typeface="Bree Serif"/>
                <a:cs typeface="Bree Serif"/>
                <a:sym typeface="Bree Serif"/>
              </a:rPr>
              <a:t>Backend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60604" y="8747531"/>
            <a:ext cx="4381500" cy="34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7"/>
              </a:lnSpc>
              <a:spcBef>
                <a:spcPct val="0"/>
              </a:spcBef>
            </a:pPr>
            <a:r>
              <a:rPr lang="en-US" sz="2033" strike="noStrike" u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Thiare Hernández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60604" y="9116277"/>
            <a:ext cx="4381500" cy="281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2"/>
              </a:lnSpc>
              <a:spcBef>
                <a:spcPct val="0"/>
              </a:spcBef>
            </a:pPr>
            <a:r>
              <a:rPr lang="en-US" sz="1658">
                <a:solidFill>
                  <a:srgbClr val="B2E18E"/>
                </a:solidFill>
                <a:latin typeface="Bree Serif"/>
                <a:ea typeface="Bree Serif"/>
                <a:cs typeface="Bree Serif"/>
                <a:sym typeface="Bree Serif"/>
              </a:rPr>
              <a:t>Frontend/UI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845610" y="8747531"/>
            <a:ext cx="4381500" cy="34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7"/>
              </a:lnSpc>
              <a:spcBef>
                <a:spcPct val="0"/>
              </a:spcBef>
            </a:pPr>
            <a:r>
              <a:rPr lang="en-US" sz="2033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Lucas Marchant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845610" y="9116277"/>
            <a:ext cx="4381500" cy="281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2"/>
              </a:lnSpc>
              <a:spcBef>
                <a:spcPct val="0"/>
              </a:spcBef>
            </a:pPr>
            <a:r>
              <a:rPr lang="en-US" sz="1658">
                <a:solidFill>
                  <a:srgbClr val="FFB5AC"/>
                </a:solidFill>
                <a:latin typeface="Bree Serif"/>
                <a:ea typeface="Bree Serif"/>
                <a:cs typeface="Bree Serif"/>
                <a:sym typeface="Bree Serif"/>
              </a:rPr>
              <a:t>Líder de proyecto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2450" y="2113871"/>
            <a:ext cx="17183100" cy="7402526"/>
            <a:chOff x="0" y="0"/>
            <a:chExt cx="22910800" cy="9870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10800" cy="9870035"/>
            </a:xfrm>
            <a:custGeom>
              <a:avLst/>
              <a:gdLst/>
              <a:ahLst/>
              <a:cxnLst/>
              <a:rect r="r" b="b" t="t" l="l"/>
              <a:pathLst>
                <a:path h="9870035" w="22910800">
                  <a:moveTo>
                    <a:pt x="123176" y="0"/>
                  </a:moveTo>
                  <a:lnTo>
                    <a:pt x="22787623" y="0"/>
                  </a:lnTo>
                  <a:cubicBezTo>
                    <a:pt x="22855651" y="0"/>
                    <a:pt x="22910800" y="441896"/>
                    <a:pt x="22910800" y="987004"/>
                  </a:cubicBezTo>
                  <a:lnTo>
                    <a:pt x="22910800" y="8883031"/>
                  </a:lnTo>
                  <a:cubicBezTo>
                    <a:pt x="22910800" y="9428138"/>
                    <a:pt x="22855651" y="9870035"/>
                    <a:pt x="22787623" y="9870035"/>
                  </a:cubicBezTo>
                  <a:lnTo>
                    <a:pt x="123176" y="9870035"/>
                  </a:lnTo>
                  <a:cubicBezTo>
                    <a:pt x="55148" y="9870035"/>
                    <a:pt x="0" y="9428138"/>
                    <a:pt x="0" y="8883031"/>
                  </a:cubicBezTo>
                  <a:lnTo>
                    <a:pt x="0" y="987004"/>
                  </a:lnTo>
                  <a:cubicBezTo>
                    <a:pt x="0" y="441896"/>
                    <a:pt x="55148" y="0"/>
                    <a:pt x="123176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10800" cy="9908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80509" y="2523470"/>
            <a:ext cx="4572820" cy="3141344"/>
            <a:chOff x="0" y="0"/>
            <a:chExt cx="2903684" cy="1994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53D0D9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1694" y="361578"/>
            <a:ext cx="17004612" cy="1437968"/>
            <a:chOff x="0" y="0"/>
            <a:chExt cx="22672816" cy="19172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2816" cy="1917290"/>
            </a:xfrm>
            <a:custGeom>
              <a:avLst/>
              <a:gdLst/>
              <a:ahLst/>
              <a:cxnLst/>
              <a:rect r="r" b="b" t="t" l="l"/>
              <a:pathLst>
                <a:path h="1917290" w="22672816">
                  <a:moveTo>
                    <a:pt x="121897" y="0"/>
                  </a:moveTo>
                  <a:lnTo>
                    <a:pt x="22550918" y="0"/>
                  </a:lnTo>
                  <a:cubicBezTo>
                    <a:pt x="22618240" y="0"/>
                    <a:pt x="22672816" y="85840"/>
                    <a:pt x="22672816" y="191729"/>
                  </a:cubicBezTo>
                  <a:lnTo>
                    <a:pt x="22672816" y="1725561"/>
                  </a:lnTo>
                  <a:cubicBezTo>
                    <a:pt x="22672816" y="1831450"/>
                    <a:pt x="22618240" y="1917290"/>
                    <a:pt x="22550918" y="1917290"/>
                  </a:cubicBezTo>
                  <a:lnTo>
                    <a:pt x="121897" y="1917290"/>
                  </a:lnTo>
                  <a:cubicBezTo>
                    <a:pt x="54575" y="1917290"/>
                    <a:pt x="0" y="1831450"/>
                    <a:pt x="0" y="1725561"/>
                  </a:cubicBezTo>
                  <a:lnTo>
                    <a:pt x="0" y="191729"/>
                  </a:lnTo>
                  <a:cubicBezTo>
                    <a:pt x="0" y="85840"/>
                    <a:pt x="54575" y="0"/>
                    <a:pt x="121897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2816" cy="1955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22787" y="2523470"/>
            <a:ext cx="4572820" cy="3141344"/>
            <a:chOff x="0" y="0"/>
            <a:chExt cx="2903684" cy="1994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FF78D6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80509" y="5950984"/>
            <a:ext cx="4572820" cy="3141344"/>
            <a:chOff x="0" y="0"/>
            <a:chExt cx="2903684" cy="19947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FFC16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43282" y="6014966"/>
            <a:ext cx="4572820" cy="3141344"/>
            <a:chOff x="0" y="0"/>
            <a:chExt cx="2903684" cy="1994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ACD479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89899" y="6014966"/>
            <a:ext cx="4572820" cy="3141344"/>
            <a:chOff x="0" y="0"/>
            <a:chExt cx="2903684" cy="19947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AE56EA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flipV="true">
            <a:off x="2249716" y="9886037"/>
            <a:ext cx="15158575" cy="0"/>
          </a:xfrm>
          <a:prstGeom prst="line">
            <a:avLst/>
          </a:prstGeom>
          <a:ln cap="flat" w="9525">
            <a:solidFill>
              <a:srgbClr val="D7FFB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67377" y="9680297"/>
            <a:ext cx="1498752" cy="411480"/>
            <a:chOff x="0" y="0"/>
            <a:chExt cx="1998335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98335" cy="548640"/>
            </a:xfrm>
            <a:custGeom>
              <a:avLst/>
              <a:gdLst/>
              <a:ahLst/>
              <a:cxnLst/>
              <a:rect r="r" b="b" t="t" l="l"/>
              <a:pathLst>
                <a:path h="548640" w="1998335">
                  <a:moveTo>
                    <a:pt x="0" y="0"/>
                  </a:moveTo>
                  <a:lnTo>
                    <a:pt x="1998335" y="0"/>
                  </a:lnTo>
                  <a:lnTo>
                    <a:pt x="1998335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-449097" b="-33970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998335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2974340" y="3035531"/>
            <a:ext cx="2354616" cy="2354616"/>
          </a:xfrm>
          <a:custGeom>
            <a:avLst/>
            <a:gdLst/>
            <a:ahLst/>
            <a:cxnLst/>
            <a:rect r="r" b="b" t="t" l="l"/>
            <a:pathLst>
              <a:path h="2354616" w="2354616">
                <a:moveTo>
                  <a:pt x="0" y="0"/>
                </a:moveTo>
                <a:lnTo>
                  <a:pt x="2354616" y="0"/>
                </a:lnTo>
                <a:lnTo>
                  <a:pt x="2354616" y="2354616"/>
                </a:lnTo>
                <a:lnTo>
                  <a:pt x="0" y="2354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480214" y="3254105"/>
            <a:ext cx="1943376" cy="2024351"/>
          </a:xfrm>
          <a:custGeom>
            <a:avLst/>
            <a:gdLst/>
            <a:ahLst/>
            <a:cxnLst/>
            <a:rect r="r" b="b" t="t" l="l"/>
            <a:pathLst>
              <a:path h="2024351" w="1943376">
                <a:moveTo>
                  <a:pt x="0" y="0"/>
                </a:moveTo>
                <a:lnTo>
                  <a:pt x="1943377" y="0"/>
                </a:lnTo>
                <a:lnTo>
                  <a:pt x="1943377" y="2024350"/>
                </a:lnTo>
                <a:lnTo>
                  <a:pt x="0" y="202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974340" y="6595285"/>
            <a:ext cx="2464817" cy="2119743"/>
          </a:xfrm>
          <a:custGeom>
            <a:avLst/>
            <a:gdLst/>
            <a:ahLst/>
            <a:cxnLst/>
            <a:rect r="r" b="b" t="t" l="l"/>
            <a:pathLst>
              <a:path h="2119743" w="2464817">
                <a:moveTo>
                  <a:pt x="0" y="0"/>
                </a:moveTo>
                <a:lnTo>
                  <a:pt x="2464817" y="0"/>
                </a:lnTo>
                <a:lnTo>
                  <a:pt x="2464817" y="2119742"/>
                </a:lnTo>
                <a:lnTo>
                  <a:pt x="0" y="21197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1743282" y="2545520"/>
            <a:ext cx="4572820" cy="3141344"/>
            <a:chOff x="0" y="0"/>
            <a:chExt cx="2903684" cy="199471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FB8172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8130081" y="6218525"/>
            <a:ext cx="2293510" cy="2606261"/>
          </a:xfrm>
          <a:custGeom>
            <a:avLst/>
            <a:gdLst/>
            <a:ahLst/>
            <a:cxnLst/>
            <a:rect r="r" b="b" t="t" l="l"/>
            <a:pathLst>
              <a:path h="2606261" w="2293510">
                <a:moveTo>
                  <a:pt x="0" y="0"/>
                </a:moveTo>
                <a:lnTo>
                  <a:pt x="2293510" y="0"/>
                </a:lnTo>
                <a:lnTo>
                  <a:pt x="2293510" y="2606262"/>
                </a:lnTo>
                <a:lnTo>
                  <a:pt x="0" y="26062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401226" y="2973926"/>
            <a:ext cx="2428362" cy="2416220"/>
          </a:xfrm>
          <a:custGeom>
            <a:avLst/>
            <a:gdLst/>
            <a:ahLst/>
            <a:cxnLst/>
            <a:rect r="r" b="b" t="t" l="l"/>
            <a:pathLst>
              <a:path h="2416220" w="2428362">
                <a:moveTo>
                  <a:pt x="0" y="0"/>
                </a:moveTo>
                <a:lnTo>
                  <a:pt x="2428362" y="0"/>
                </a:lnTo>
                <a:lnTo>
                  <a:pt x="2428362" y="2416221"/>
                </a:lnTo>
                <a:lnTo>
                  <a:pt x="0" y="24162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050051" y="6647223"/>
            <a:ext cx="2739074" cy="2177564"/>
          </a:xfrm>
          <a:custGeom>
            <a:avLst/>
            <a:gdLst/>
            <a:ahLst/>
            <a:cxnLst/>
            <a:rect r="r" b="b" t="t" l="l"/>
            <a:pathLst>
              <a:path h="2177564" w="2739074">
                <a:moveTo>
                  <a:pt x="0" y="0"/>
                </a:moveTo>
                <a:lnTo>
                  <a:pt x="2739074" y="0"/>
                </a:lnTo>
                <a:lnTo>
                  <a:pt x="2739074" y="2177564"/>
                </a:lnTo>
                <a:lnTo>
                  <a:pt x="0" y="217756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028700" y="524900"/>
            <a:ext cx="1125536" cy="1160346"/>
          </a:xfrm>
          <a:custGeom>
            <a:avLst/>
            <a:gdLst/>
            <a:ahLst/>
            <a:cxnLst/>
            <a:rect r="r" b="b" t="t" l="l"/>
            <a:pathLst>
              <a:path h="1160346" w="1125536">
                <a:moveTo>
                  <a:pt x="0" y="0"/>
                </a:moveTo>
                <a:lnTo>
                  <a:pt x="1125536" y="0"/>
                </a:lnTo>
                <a:lnTo>
                  <a:pt x="1125536" y="1160346"/>
                </a:lnTo>
                <a:lnTo>
                  <a:pt x="0" y="116034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-5400000">
            <a:off x="456714" y="3820492"/>
            <a:ext cx="3269309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A1F9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REGISTRO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115181" y="11997"/>
            <a:ext cx="13335000" cy="1882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398"/>
              </a:lnSpc>
              <a:spcBef>
                <a:spcPct val="0"/>
              </a:spcBef>
            </a:pPr>
            <a:r>
              <a:rPr lang="en-US" sz="10999">
                <a:solidFill>
                  <a:srgbClr val="FFA2E3"/>
                </a:solidFill>
                <a:latin typeface="Bree Serif"/>
                <a:ea typeface="Bree Serif"/>
                <a:cs typeface="Bree Serif"/>
                <a:sym typeface="Bree Serif"/>
              </a:rPr>
              <a:t>Problema</a:t>
            </a:r>
          </a:p>
        </p:txBody>
      </p:sp>
      <p:sp>
        <p:nvSpPr>
          <p:cNvPr name="TextBox 39" id="39"/>
          <p:cNvSpPr txBox="true"/>
          <p:nvPr/>
        </p:nvSpPr>
        <p:spPr>
          <a:xfrm rot="-5400000">
            <a:off x="6216708" y="3711468"/>
            <a:ext cx="2625881" cy="100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78D6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CUADERNO/ EXCEL</a:t>
            </a:r>
          </a:p>
        </p:txBody>
      </p:sp>
      <p:sp>
        <p:nvSpPr>
          <p:cNvPr name="TextBox 40" id="40"/>
          <p:cNvSpPr txBox="true"/>
          <p:nvPr/>
        </p:nvSpPr>
        <p:spPr>
          <a:xfrm rot="-5400000">
            <a:off x="456714" y="7277480"/>
            <a:ext cx="3269309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C16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ECONOMIA</a:t>
            </a:r>
          </a:p>
        </p:txBody>
      </p:sp>
      <p:sp>
        <p:nvSpPr>
          <p:cNvPr name="TextBox 41" id="41"/>
          <p:cNvSpPr txBox="true"/>
          <p:nvPr/>
        </p:nvSpPr>
        <p:spPr>
          <a:xfrm rot="-5400000">
            <a:off x="10565036" y="7437435"/>
            <a:ext cx="3205327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A4CD6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NEGACION</a:t>
            </a:r>
          </a:p>
        </p:txBody>
      </p:sp>
      <p:sp>
        <p:nvSpPr>
          <p:cNvPr name="TextBox 42" id="42"/>
          <p:cNvSpPr txBox="true"/>
          <p:nvPr/>
        </p:nvSpPr>
        <p:spPr>
          <a:xfrm rot="-5400000">
            <a:off x="5552994" y="7341462"/>
            <a:ext cx="3269309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AE56E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SISTEMAS</a:t>
            </a:r>
          </a:p>
        </p:txBody>
      </p:sp>
      <p:sp>
        <p:nvSpPr>
          <p:cNvPr name="TextBox 43" id="43"/>
          <p:cNvSpPr txBox="true"/>
          <p:nvPr/>
        </p:nvSpPr>
        <p:spPr>
          <a:xfrm rot="-5400000">
            <a:off x="10950894" y="3872016"/>
            <a:ext cx="3269309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B8172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DECISONES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539918" y="9563548"/>
            <a:ext cx="709798" cy="575379"/>
            <a:chOff x="0" y="0"/>
            <a:chExt cx="946398" cy="767173"/>
          </a:xfrm>
        </p:grpSpPr>
        <p:sp>
          <p:nvSpPr>
            <p:cNvPr name="TextBox 45" id="45"/>
            <p:cNvSpPr txBox="true"/>
            <p:nvPr/>
          </p:nvSpPr>
          <p:spPr>
            <a:xfrm rot="0">
              <a:off x="0" y="129627"/>
              <a:ext cx="946398" cy="558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29"/>
                </a:lnSpc>
                <a:spcBef>
                  <a:spcPct val="0"/>
                </a:spcBef>
              </a:pPr>
              <a:r>
                <a:rPr lang="en-US" sz="2521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ally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46856" y="-66675"/>
              <a:ext cx="218347" cy="833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287"/>
                </a:lnSpc>
                <a:spcBef>
                  <a:spcPct val="0"/>
                </a:spcBef>
              </a:pPr>
              <a:r>
                <a:rPr lang="en-US" sz="3777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2450" y="2113871"/>
            <a:ext cx="17183100" cy="7402526"/>
            <a:chOff x="0" y="0"/>
            <a:chExt cx="22910800" cy="9870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10800" cy="9870035"/>
            </a:xfrm>
            <a:custGeom>
              <a:avLst/>
              <a:gdLst/>
              <a:ahLst/>
              <a:cxnLst/>
              <a:rect r="r" b="b" t="t" l="l"/>
              <a:pathLst>
                <a:path h="9870035" w="22910800">
                  <a:moveTo>
                    <a:pt x="123176" y="0"/>
                  </a:moveTo>
                  <a:lnTo>
                    <a:pt x="22787623" y="0"/>
                  </a:lnTo>
                  <a:cubicBezTo>
                    <a:pt x="22855651" y="0"/>
                    <a:pt x="22910800" y="441896"/>
                    <a:pt x="22910800" y="987004"/>
                  </a:cubicBezTo>
                  <a:lnTo>
                    <a:pt x="22910800" y="8883031"/>
                  </a:lnTo>
                  <a:cubicBezTo>
                    <a:pt x="22910800" y="9428138"/>
                    <a:pt x="22855651" y="9870035"/>
                    <a:pt x="22787623" y="9870035"/>
                  </a:cubicBezTo>
                  <a:lnTo>
                    <a:pt x="123176" y="9870035"/>
                  </a:lnTo>
                  <a:cubicBezTo>
                    <a:pt x="55148" y="9870035"/>
                    <a:pt x="0" y="9428138"/>
                    <a:pt x="0" y="8883031"/>
                  </a:cubicBezTo>
                  <a:lnTo>
                    <a:pt x="0" y="987004"/>
                  </a:lnTo>
                  <a:cubicBezTo>
                    <a:pt x="0" y="441896"/>
                    <a:pt x="55148" y="0"/>
                    <a:pt x="123176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10800" cy="9908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4479" y="2587757"/>
            <a:ext cx="4572820" cy="3141344"/>
            <a:chOff x="0" y="0"/>
            <a:chExt cx="2903684" cy="1994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53D0D9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1694" y="361578"/>
            <a:ext cx="17004612" cy="1561793"/>
            <a:chOff x="0" y="0"/>
            <a:chExt cx="22672816" cy="20823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2816" cy="2082390"/>
            </a:xfrm>
            <a:custGeom>
              <a:avLst/>
              <a:gdLst/>
              <a:ahLst/>
              <a:cxnLst/>
              <a:rect r="r" b="b" t="t" l="l"/>
              <a:pathLst>
                <a:path h="2082390" w="22672816">
                  <a:moveTo>
                    <a:pt x="121897" y="0"/>
                  </a:moveTo>
                  <a:lnTo>
                    <a:pt x="22550918" y="0"/>
                  </a:lnTo>
                  <a:cubicBezTo>
                    <a:pt x="22618240" y="0"/>
                    <a:pt x="22672816" y="93232"/>
                    <a:pt x="22672816" y="208239"/>
                  </a:cubicBezTo>
                  <a:lnTo>
                    <a:pt x="22672816" y="1874151"/>
                  </a:lnTo>
                  <a:cubicBezTo>
                    <a:pt x="22672816" y="1989158"/>
                    <a:pt x="22618240" y="2082390"/>
                    <a:pt x="22550918" y="2082390"/>
                  </a:cubicBezTo>
                  <a:lnTo>
                    <a:pt x="121897" y="2082390"/>
                  </a:lnTo>
                  <a:cubicBezTo>
                    <a:pt x="54575" y="2082390"/>
                    <a:pt x="0" y="1989158"/>
                    <a:pt x="0" y="1874151"/>
                  </a:cubicBezTo>
                  <a:lnTo>
                    <a:pt x="0" y="208239"/>
                  </a:lnTo>
                  <a:cubicBezTo>
                    <a:pt x="0" y="93232"/>
                    <a:pt x="54575" y="0"/>
                    <a:pt x="121897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2816" cy="2120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820173" y="2557225"/>
            <a:ext cx="4572820" cy="3141344"/>
            <a:chOff x="0" y="0"/>
            <a:chExt cx="2903684" cy="1994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FF78D6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74479" y="6034220"/>
            <a:ext cx="4572820" cy="3141344"/>
            <a:chOff x="0" y="0"/>
            <a:chExt cx="2903684" cy="19947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FFC16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32452" y="6005302"/>
            <a:ext cx="4572820" cy="3141344"/>
            <a:chOff x="0" y="0"/>
            <a:chExt cx="2903684" cy="1994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ACD479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32452" y="2587757"/>
            <a:ext cx="4572820" cy="3141344"/>
            <a:chOff x="0" y="0"/>
            <a:chExt cx="2903684" cy="19947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AE56EA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659034" y="5947936"/>
            <a:ext cx="4572820" cy="3141344"/>
            <a:chOff x="0" y="0"/>
            <a:chExt cx="2903684" cy="19947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F96D5C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354675" y="2844604"/>
            <a:ext cx="1642281" cy="2627650"/>
          </a:xfrm>
          <a:custGeom>
            <a:avLst/>
            <a:gdLst/>
            <a:ahLst/>
            <a:cxnLst/>
            <a:rect r="r" b="b" t="t" l="l"/>
            <a:pathLst>
              <a:path h="2627650" w="1642281">
                <a:moveTo>
                  <a:pt x="0" y="0"/>
                </a:moveTo>
                <a:lnTo>
                  <a:pt x="1642281" y="0"/>
                </a:lnTo>
                <a:lnTo>
                  <a:pt x="1642281" y="2627651"/>
                </a:lnTo>
                <a:lnTo>
                  <a:pt x="0" y="2627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279624" y="2876998"/>
            <a:ext cx="2573040" cy="2573040"/>
          </a:xfrm>
          <a:custGeom>
            <a:avLst/>
            <a:gdLst/>
            <a:ahLst/>
            <a:cxnLst/>
            <a:rect r="r" b="b" t="t" l="l"/>
            <a:pathLst>
              <a:path h="2573040" w="2573040">
                <a:moveTo>
                  <a:pt x="0" y="0"/>
                </a:moveTo>
                <a:lnTo>
                  <a:pt x="2573040" y="0"/>
                </a:lnTo>
                <a:lnTo>
                  <a:pt x="2573040" y="2573040"/>
                </a:lnTo>
                <a:lnTo>
                  <a:pt x="0" y="2573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058557" y="3129450"/>
            <a:ext cx="2382974" cy="2382974"/>
          </a:xfrm>
          <a:custGeom>
            <a:avLst/>
            <a:gdLst/>
            <a:ahLst/>
            <a:cxnLst/>
            <a:rect r="r" b="b" t="t" l="l"/>
            <a:pathLst>
              <a:path h="2382974" w="2382974">
                <a:moveTo>
                  <a:pt x="0" y="0"/>
                </a:moveTo>
                <a:lnTo>
                  <a:pt x="2382975" y="0"/>
                </a:lnTo>
                <a:lnTo>
                  <a:pt x="2382975" y="2382974"/>
                </a:lnTo>
                <a:lnTo>
                  <a:pt x="0" y="2382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354675" y="6283894"/>
            <a:ext cx="1602179" cy="2584160"/>
          </a:xfrm>
          <a:custGeom>
            <a:avLst/>
            <a:gdLst/>
            <a:ahLst/>
            <a:cxnLst/>
            <a:rect r="r" b="b" t="t" l="l"/>
            <a:pathLst>
              <a:path h="2584160" w="1602179">
                <a:moveTo>
                  <a:pt x="0" y="0"/>
                </a:moveTo>
                <a:lnTo>
                  <a:pt x="1602179" y="0"/>
                </a:lnTo>
                <a:lnTo>
                  <a:pt x="1602179" y="2584160"/>
                </a:lnTo>
                <a:lnTo>
                  <a:pt x="0" y="25841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590756" y="6171375"/>
            <a:ext cx="2205220" cy="2809198"/>
          </a:xfrm>
          <a:custGeom>
            <a:avLst/>
            <a:gdLst/>
            <a:ahLst/>
            <a:cxnLst/>
            <a:rect r="r" b="b" t="t" l="l"/>
            <a:pathLst>
              <a:path h="2809198" w="2205220">
                <a:moveTo>
                  <a:pt x="0" y="0"/>
                </a:moveTo>
                <a:lnTo>
                  <a:pt x="2205221" y="0"/>
                </a:lnTo>
                <a:lnTo>
                  <a:pt x="2205221" y="2809198"/>
                </a:lnTo>
                <a:lnTo>
                  <a:pt x="0" y="28091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245897" y="6215225"/>
            <a:ext cx="2606766" cy="2606766"/>
          </a:xfrm>
          <a:custGeom>
            <a:avLst/>
            <a:gdLst/>
            <a:ahLst/>
            <a:cxnLst/>
            <a:rect r="r" b="b" t="t" l="l"/>
            <a:pathLst>
              <a:path h="2606766" w="2606766">
                <a:moveTo>
                  <a:pt x="0" y="0"/>
                </a:moveTo>
                <a:lnTo>
                  <a:pt x="2606767" y="0"/>
                </a:lnTo>
                <a:lnTo>
                  <a:pt x="2606767" y="2606766"/>
                </a:lnTo>
                <a:lnTo>
                  <a:pt x="0" y="26067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-5400000">
            <a:off x="265144" y="3657060"/>
            <a:ext cx="3614222" cy="100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>
                <a:solidFill>
                  <a:srgbClr val="A1F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APP DE</a:t>
            </a:r>
          </a:p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A1F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FINANZAS</a:t>
            </a:r>
          </a:p>
        </p:txBody>
      </p:sp>
      <p:sp>
        <p:nvSpPr>
          <p:cNvPr name="TextBox 33" id="33"/>
          <p:cNvSpPr txBox="true"/>
          <p:nvPr/>
        </p:nvSpPr>
        <p:spPr>
          <a:xfrm rot="-5400000">
            <a:off x="10682318" y="3965379"/>
            <a:ext cx="3613439" cy="39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78D6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CATEGORIZACIÓN</a:t>
            </a:r>
          </a:p>
        </p:txBody>
      </p:sp>
      <p:sp>
        <p:nvSpPr>
          <p:cNvPr name="TextBox 34" id="34"/>
          <p:cNvSpPr txBox="true"/>
          <p:nvPr/>
        </p:nvSpPr>
        <p:spPr>
          <a:xfrm rot="-5400000">
            <a:off x="437599" y="7360716"/>
            <a:ext cx="3269309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C16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DASHBOARD</a:t>
            </a:r>
          </a:p>
        </p:txBody>
      </p:sp>
      <p:sp>
        <p:nvSpPr>
          <p:cNvPr name="TextBox 35" id="35"/>
          <p:cNvSpPr txBox="true"/>
          <p:nvPr/>
        </p:nvSpPr>
        <p:spPr>
          <a:xfrm rot="-5400000">
            <a:off x="5669010" y="7398536"/>
            <a:ext cx="3269309" cy="41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B2E18E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METAS DE VENTA</a:t>
            </a:r>
          </a:p>
        </p:txBody>
      </p:sp>
      <p:sp>
        <p:nvSpPr>
          <p:cNvPr name="TextBox 36" id="36"/>
          <p:cNvSpPr txBox="true"/>
          <p:nvPr/>
        </p:nvSpPr>
        <p:spPr>
          <a:xfrm rot="-5400000">
            <a:off x="5600492" y="3857890"/>
            <a:ext cx="3490536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AE56E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REGISTRO ÁGIL</a:t>
            </a:r>
          </a:p>
        </p:txBody>
      </p:sp>
      <p:sp>
        <p:nvSpPr>
          <p:cNvPr name="TextBox 37" id="37"/>
          <p:cNvSpPr txBox="true"/>
          <p:nvPr/>
        </p:nvSpPr>
        <p:spPr>
          <a:xfrm rot="-5400000">
            <a:off x="10780282" y="7230194"/>
            <a:ext cx="3490536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96D5C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MODELO B2G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164801" y="-185624"/>
            <a:ext cx="3276731" cy="2656197"/>
            <a:chOff x="0" y="0"/>
            <a:chExt cx="4368975" cy="3541596"/>
          </a:xfrm>
        </p:grpSpPr>
        <p:sp>
          <p:nvSpPr>
            <p:cNvPr name="TextBox 39" id="39"/>
            <p:cNvSpPr txBox="true"/>
            <p:nvPr/>
          </p:nvSpPr>
          <p:spPr>
            <a:xfrm rot="0">
              <a:off x="0" y="599193"/>
              <a:ext cx="4368975" cy="2579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6295"/>
                </a:lnSpc>
                <a:spcBef>
                  <a:spcPct val="0"/>
                </a:spcBef>
              </a:pPr>
              <a:r>
                <a:rPr lang="en-US" sz="11639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ally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216307" y="-342900"/>
              <a:ext cx="1007985" cy="3884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4410"/>
                </a:lnSpc>
                <a:spcBef>
                  <a:spcPct val="0"/>
                </a:spcBef>
              </a:pPr>
              <a:r>
                <a:rPr lang="en-US" sz="17436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t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-5400000">
            <a:off x="6123537" y="7378626"/>
            <a:ext cx="3269309" cy="41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B2E18E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NOTIFICACIONES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842745" y="492021"/>
            <a:ext cx="1290709" cy="1317050"/>
          </a:xfrm>
          <a:custGeom>
            <a:avLst/>
            <a:gdLst/>
            <a:ahLst/>
            <a:cxnLst/>
            <a:rect r="r" b="b" t="t" l="l"/>
            <a:pathLst>
              <a:path h="1317050" w="1290709">
                <a:moveTo>
                  <a:pt x="0" y="0"/>
                </a:moveTo>
                <a:lnTo>
                  <a:pt x="1290709" y="0"/>
                </a:lnTo>
                <a:lnTo>
                  <a:pt x="1290709" y="1317050"/>
                </a:lnTo>
                <a:lnTo>
                  <a:pt x="0" y="13170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3" id="43"/>
          <p:cNvSpPr/>
          <p:nvPr/>
        </p:nvSpPr>
        <p:spPr>
          <a:xfrm flipV="true">
            <a:off x="2249716" y="9886037"/>
            <a:ext cx="15158575" cy="0"/>
          </a:xfrm>
          <a:prstGeom prst="line">
            <a:avLst/>
          </a:prstGeom>
          <a:ln cap="flat" w="9525">
            <a:solidFill>
              <a:srgbClr val="D7FFB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167377" y="9680297"/>
            <a:ext cx="1498752" cy="411480"/>
            <a:chOff x="0" y="0"/>
            <a:chExt cx="1998335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98335" cy="548640"/>
            </a:xfrm>
            <a:custGeom>
              <a:avLst/>
              <a:gdLst/>
              <a:ahLst/>
              <a:cxnLst/>
              <a:rect r="r" b="b" t="t" l="l"/>
              <a:pathLst>
                <a:path h="548640" w="1998335">
                  <a:moveTo>
                    <a:pt x="0" y="0"/>
                  </a:moveTo>
                  <a:lnTo>
                    <a:pt x="1998335" y="0"/>
                  </a:lnTo>
                  <a:lnTo>
                    <a:pt x="1998335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339700" r="-449097" b="-33970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998335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539918" y="9563548"/>
            <a:ext cx="709798" cy="575379"/>
            <a:chOff x="0" y="0"/>
            <a:chExt cx="946398" cy="767173"/>
          </a:xfrm>
        </p:grpSpPr>
        <p:sp>
          <p:nvSpPr>
            <p:cNvPr name="TextBox 48" id="48"/>
            <p:cNvSpPr txBox="true"/>
            <p:nvPr/>
          </p:nvSpPr>
          <p:spPr>
            <a:xfrm rot="0">
              <a:off x="0" y="129627"/>
              <a:ext cx="946398" cy="558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29"/>
                </a:lnSpc>
                <a:spcBef>
                  <a:spcPct val="0"/>
                </a:spcBef>
              </a:pPr>
              <a:r>
                <a:rPr lang="en-US" sz="2521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ally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46856" y="-66675"/>
              <a:ext cx="218347" cy="833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287"/>
                </a:lnSpc>
                <a:spcBef>
                  <a:spcPct val="0"/>
                </a:spcBef>
              </a:pPr>
              <a:r>
                <a:rPr lang="en-US" sz="3777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2450" y="2113871"/>
            <a:ext cx="17183100" cy="7402526"/>
            <a:chOff x="0" y="0"/>
            <a:chExt cx="22910800" cy="9870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10800" cy="9870035"/>
            </a:xfrm>
            <a:custGeom>
              <a:avLst/>
              <a:gdLst/>
              <a:ahLst/>
              <a:cxnLst/>
              <a:rect r="r" b="b" t="t" l="l"/>
              <a:pathLst>
                <a:path h="9870035" w="22910800">
                  <a:moveTo>
                    <a:pt x="123176" y="0"/>
                  </a:moveTo>
                  <a:lnTo>
                    <a:pt x="22787623" y="0"/>
                  </a:lnTo>
                  <a:cubicBezTo>
                    <a:pt x="22855651" y="0"/>
                    <a:pt x="22910800" y="441896"/>
                    <a:pt x="22910800" y="987004"/>
                  </a:cubicBezTo>
                  <a:lnTo>
                    <a:pt x="22910800" y="8883031"/>
                  </a:lnTo>
                  <a:cubicBezTo>
                    <a:pt x="22910800" y="9428138"/>
                    <a:pt x="22855651" y="9870035"/>
                    <a:pt x="22787623" y="9870035"/>
                  </a:cubicBezTo>
                  <a:lnTo>
                    <a:pt x="123176" y="9870035"/>
                  </a:lnTo>
                  <a:cubicBezTo>
                    <a:pt x="55148" y="9870035"/>
                    <a:pt x="0" y="9428138"/>
                    <a:pt x="0" y="8883031"/>
                  </a:cubicBezTo>
                  <a:lnTo>
                    <a:pt x="0" y="987004"/>
                  </a:lnTo>
                  <a:cubicBezTo>
                    <a:pt x="0" y="441896"/>
                    <a:pt x="55148" y="0"/>
                    <a:pt x="123176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10800" cy="9908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694" y="361578"/>
            <a:ext cx="17004612" cy="1552268"/>
            <a:chOff x="0" y="0"/>
            <a:chExt cx="22672816" cy="20696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2816" cy="2069690"/>
            </a:xfrm>
            <a:custGeom>
              <a:avLst/>
              <a:gdLst/>
              <a:ahLst/>
              <a:cxnLst/>
              <a:rect r="r" b="b" t="t" l="l"/>
              <a:pathLst>
                <a:path h="2069690" w="22672816">
                  <a:moveTo>
                    <a:pt x="121897" y="0"/>
                  </a:moveTo>
                  <a:lnTo>
                    <a:pt x="22550918" y="0"/>
                  </a:lnTo>
                  <a:cubicBezTo>
                    <a:pt x="22618240" y="0"/>
                    <a:pt x="22672816" y="92663"/>
                    <a:pt x="22672816" y="206969"/>
                  </a:cubicBezTo>
                  <a:lnTo>
                    <a:pt x="22672816" y="1862721"/>
                  </a:lnTo>
                  <a:cubicBezTo>
                    <a:pt x="22672816" y="1977027"/>
                    <a:pt x="22618240" y="2069690"/>
                    <a:pt x="22550918" y="2069690"/>
                  </a:cubicBezTo>
                  <a:lnTo>
                    <a:pt x="121897" y="2069690"/>
                  </a:lnTo>
                  <a:cubicBezTo>
                    <a:pt x="54575" y="2069690"/>
                    <a:pt x="0" y="1977027"/>
                    <a:pt x="0" y="1862721"/>
                  </a:cubicBezTo>
                  <a:lnTo>
                    <a:pt x="0" y="206969"/>
                  </a:lnTo>
                  <a:cubicBezTo>
                    <a:pt x="0" y="92663"/>
                    <a:pt x="54575" y="0"/>
                    <a:pt x="121897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2816" cy="21077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65298" y="2502966"/>
            <a:ext cx="4572820" cy="3141344"/>
            <a:chOff x="0" y="0"/>
            <a:chExt cx="2903684" cy="19947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F96D5C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913053" y="2787884"/>
            <a:ext cx="2563964" cy="2563964"/>
          </a:xfrm>
          <a:custGeom>
            <a:avLst/>
            <a:gdLst/>
            <a:ahLst/>
            <a:cxnLst/>
            <a:rect r="r" b="b" t="t" l="l"/>
            <a:pathLst>
              <a:path h="2563964" w="2563964">
                <a:moveTo>
                  <a:pt x="0" y="0"/>
                </a:moveTo>
                <a:lnTo>
                  <a:pt x="2563963" y="0"/>
                </a:lnTo>
                <a:lnTo>
                  <a:pt x="2563963" y="2563964"/>
                </a:lnTo>
                <a:lnTo>
                  <a:pt x="0" y="2563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705645" y="2499194"/>
            <a:ext cx="4572820" cy="3141344"/>
            <a:chOff x="0" y="0"/>
            <a:chExt cx="2903684" cy="1994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FF78D6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80509" y="5950984"/>
            <a:ext cx="4572820" cy="3141344"/>
            <a:chOff x="0" y="0"/>
            <a:chExt cx="2903684" cy="19947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FFC16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743282" y="6014966"/>
            <a:ext cx="4572820" cy="3141344"/>
            <a:chOff x="0" y="0"/>
            <a:chExt cx="2903684" cy="19947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ACD479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89899" y="6014966"/>
            <a:ext cx="4572820" cy="3141344"/>
            <a:chOff x="0" y="0"/>
            <a:chExt cx="2903684" cy="19947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AE56EA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589899" y="2502966"/>
            <a:ext cx="4572820" cy="3141344"/>
            <a:chOff x="0" y="0"/>
            <a:chExt cx="2903684" cy="19947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03684" cy="1994715"/>
            </a:xfrm>
            <a:custGeom>
              <a:avLst/>
              <a:gdLst/>
              <a:ahLst/>
              <a:cxnLst/>
              <a:rect r="r" b="b" t="t" l="l"/>
              <a:pathLst>
                <a:path h="1994715" w="2903684">
                  <a:moveTo>
                    <a:pt x="92390" y="0"/>
                  </a:moveTo>
                  <a:lnTo>
                    <a:pt x="2811294" y="0"/>
                  </a:lnTo>
                  <a:cubicBezTo>
                    <a:pt x="2862320" y="0"/>
                    <a:pt x="2903684" y="89306"/>
                    <a:pt x="2903684" y="199471"/>
                  </a:cubicBezTo>
                  <a:lnTo>
                    <a:pt x="2903684" y="1795243"/>
                  </a:lnTo>
                  <a:cubicBezTo>
                    <a:pt x="2903684" y="1905408"/>
                    <a:pt x="2862320" y="1994715"/>
                    <a:pt x="2811294" y="1994715"/>
                  </a:cubicBezTo>
                  <a:lnTo>
                    <a:pt x="92390" y="1994715"/>
                  </a:lnTo>
                  <a:cubicBezTo>
                    <a:pt x="41364" y="1994715"/>
                    <a:pt x="0" y="1905408"/>
                    <a:pt x="0" y="1795243"/>
                  </a:cubicBezTo>
                  <a:lnTo>
                    <a:pt x="0" y="199471"/>
                  </a:lnTo>
                  <a:cubicBezTo>
                    <a:pt x="0" y="89306"/>
                    <a:pt x="41364" y="0"/>
                    <a:pt x="92390" y="0"/>
                  </a:cubicBezTo>
                  <a:close/>
                </a:path>
              </a:pathLst>
            </a:custGeom>
            <a:solidFill>
              <a:srgbClr val="302551"/>
            </a:solidFill>
            <a:ln w="19050" cap="sq">
              <a:solidFill>
                <a:srgbClr val="53D0D9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903684" cy="20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3402492" y="2763609"/>
            <a:ext cx="2578950" cy="2700471"/>
          </a:xfrm>
          <a:custGeom>
            <a:avLst/>
            <a:gdLst/>
            <a:ahLst/>
            <a:cxnLst/>
            <a:rect r="r" b="b" t="t" l="l"/>
            <a:pathLst>
              <a:path h="2700471" w="2578950">
                <a:moveTo>
                  <a:pt x="0" y="0"/>
                </a:moveTo>
                <a:lnTo>
                  <a:pt x="2578950" y="0"/>
                </a:lnTo>
                <a:lnTo>
                  <a:pt x="2578950" y="2700470"/>
                </a:lnTo>
                <a:lnTo>
                  <a:pt x="0" y="2700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341626" y="2849504"/>
            <a:ext cx="1849158" cy="2355616"/>
          </a:xfrm>
          <a:custGeom>
            <a:avLst/>
            <a:gdLst/>
            <a:ahLst/>
            <a:cxnLst/>
            <a:rect r="r" b="b" t="t" l="l"/>
            <a:pathLst>
              <a:path h="2355616" w="1849158">
                <a:moveTo>
                  <a:pt x="0" y="0"/>
                </a:moveTo>
                <a:lnTo>
                  <a:pt x="1849158" y="0"/>
                </a:lnTo>
                <a:lnTo>
                  <a:pt x="1849158" y="2355616"/>
                </a:lnTo>
                <a:lnTo>
                  <a:pt x="0" y="2355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734905" y="6276280"/>
            <a:ext cx="2742111" cy="2618716"/>
          </a:xfrm>
          <a:custGeom>
            <a:avLst/>
            <a:gdLst/>
            <a:ahLst/>
            <a:cxnLst/>
            <a:rect r="r" b="b" t="t" l="l"/>
            <a:pathLst>
              <a:path h="2618716" w="2742111">
                <a:moveTo>
                  <a:pt x="0" y="0"/>
                </a:moveTo>
                <a:lnTo>
                  <a:pt x="2742111" y="0"/>
                </a:lnTo>
                <a:lnTo>
                  <a:pt x="2742111" y="2618717"/>
                </a:lnTo>
                <a:lnTo>
                  <a:pt x="0" y="26187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031018" y="6366742"/>
            <a:ext cx="2926244" cy="2458045"/>
          </a:xfrm>
          <a:custGeom>
            <a:avLst/>
            <a:gdLst/>
            <a:ahLst/>
            <a:cxnLst/>
            <a:rect r="r" b="b" t="t" l="l"/>
            <a:pathLst>
              <a:path h="2458045" w="2926244">
                <a:moveTo>
                  <a:pt x="0" y="0"/>
                </a:moveTo>
                <a:lnTo>
                  <a:pt x="2926244" y="0"/>
                </a:lnTo>
                <a:lnTo>
                  <a:pt x="2926244" y="2458045"/>
                </a:lnTo>
                <a:lnTo>
                  <a:pt x="0" y="24580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192784" y="6346278"/>
            <a:ext cx="2618716" cy="2618716"/>
          </a:xfrm>
          <a:custGeom>
            <a:avLst/>
            <a:gdLst/>
            <a:ahLst/>
            <a:cxnLst/>
            <a:rect r="r" b="b" t="t" l="l"/>
            <a:pathLst>
              <a:path h="2618716" w="2618716">
                <a:moveTo>
                  <a:pt x="0" y="0"/>
                </a:moveTo>
                <a:lnTo>
                  <a:pt x="2618716" y="0"/>
                </a:lnTo>
                <a:lnTo>
                  <a:pt x="2618716" y="2618717"/>
                </a:lnTo>
                <a:lnTo>
                  <a:pt x="0" y="26187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28700" y="532159"/>
            <a:ext cx="1211105" cy="1211105"/>
          </a:xfrm>
          <a:custGeom>
            <a:avLst/>
            <a:gdLst/>
            <a:ahLst/>
            <a:cxnLst/>
            <a:rect r="r" b="b" t="t" l="l"/>
            <a:pathLst>
              <a:path h="1211105" w="1211105">
                <a:moveTo>
                  <a:pt x="0" y="0"/>
                </a:moveTo>
                <a:lnTo>
                  <a:pt x="1211105" y="0"/>
                </a:lnTo>
                <a:lnTo>
                  <a:pt x="1211105" y="1211106"/>
                </a:lnTo>
                <a:lnTo>
                  <a:pt x="0" y="12111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2285398" y="-92753"/>
            <a:ext cx="13335000" cy="189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0"/>
              </a:lnSpc>
              <a:spcBef>
                <a:spcPct val="0"/>
              </a:spcBef>
            </a:pPr>
            <a:r>
              <a:rPr lang="en-US" sz="11000">
                <a:solidFill>
                  <a:srgbClr val="FFA2E3"/>
                </a:solidFill>
                <a:latin typeface="Bree Serif"/>
                <a:ea typeface="Bree Serif"/>
                <a:cs typeface="Bree Serif"/>
                <a:sym typeface="Bree Serif"/>
              </a:rPr>
              <a:t>Impacto</a:t>
            </a:r>
          </a:p>
        </p:txBody>
      </p:sp>
      <p:sp>
        <p:nvSpPr>
          <p:cNvPr name="TextBox 34" id="34"/>
          <p:cNvSpPr txBox="true"/>
          <p:nvPr/>
        </p:nvSpPr>
        <p:spPr>
          <a:xfrm rot="-5400000">
            <a:off x="376748" y="3825690"/>
            <a:ext cx="3490536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96D5C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IMPACTO DUAL</a:t>
            </a:r>
          </a:p>
        </p:txBody>
      </p:sp>
      <p:sp>
        <p:nvSpPr>
          <p:cNvPr name="TextBox 35" id="35"/>
          <p:cNvSpPr txBox="true"/>
          <p:nvPr/>
        </p:nvSpPr>
        <p:spPr>
          <a:xfrm rot="-5400000">
            <a:off x="11199564" y="3687193"/>
            <a:ext cx="2625881" cy="100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78D6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MEJORES DECISIONES</a:t>
            </a:r>
          </a:p>
        </p:txBody>
      </p:sp>
      <p:sp>
        <p:nvSpPr>
          <p:cNvPr name="TextBox 36" id="36"/>
          <p:cNvSpPr txBox="true"/>
          <p:nvPr/>
        </p:nvSpPr>
        <p:spPr>
          <a:xfrm rot="-5400000">
            <a:off x="607963" y="7339299"/>
            <a:ext cx="2937785" cy="417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15"/>
              </a:lnSpc>
              <a:spcBef>
                <a:spcPct val="0"/>
              </a:spcBef>
            </a:pPr>
            <a:r>
              <a:rPr lang="en-US" b="true" sz="2368">
                <a:solidFill>
                  <a:srgbClr val="FFC16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MUNICIPALIDADES</a:t>
            </a:r>
          </a:p>
        </p:txBody>
      </p:sp>
      <p:sp>
        <p:nvSpPr>
          <p:cNvPr name="TextBox 37" id="37"/>
          <p:cNvSpPr txBox="true"/>
          <p:nvPr/>
        </p:nvSpPr>
        <p:spPr>
          <a:xfrm rot="-5400000">
            <a:off x="10633662" y="7261059"/>
            <a:ext cx="3205327" cy="78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A4CD6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APOYO A EMPRENDEDORES</a:t>
            </a:r>
          </a:p>
        </p:txBody>
      </p:sp>
      <p:sp>
        <p:nvSpPr>
          <p:cNvPr name="TextBox 38" id="38"/>
          <p:cNvSpPr txBox="true"/>
          <p:nvPr/>
        </p:nvSpPr>
        <p:spPr>
          <a:xfrm rot="-5400000">
            <a:off x="5552994" y="7084269"/>
            <a:ext cx="3269309" cy="100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AE56E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DESARROLLO ECONOMICO</a:t>
            </a:r>
          </a:p>
        </p:txBody>
      </p:sp>
      <p:sp>
        <p:nvSpPr>
          <p:cNvPr name="TextBox 39" id="39"/>
          <p:cNvSpPr txBox="true"/>
          <p:nvPr/>
        </p:nvSpPr>
        <p:spPr>
          <a:xfrm rot="-5400000">
            <a:off x="5728886" y="3829462"/>
            <a:ext cx="3269309" cy="48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53D0D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ORDEN</a:t>
            </a:r>
          </a:p>
        </p:txBody>
      </p:sp>
      <p:sp>
        <p:nvSpPr>
          <p:cNvPr name="AutoShape 40" id="40"/>
          <p:cNvSpPr/>
          <p:nvPr/>
        </p:nvSpPr>
        <p:spPr>
          <a:xfrm flipV="true">
            <a:off x="2189535" y="9972236"/>
            <a:ext cx="15158575" cy="0"/>
          </a:xfrm>
          <a:prstGeom prst="line">
            <a:avLst/>
          </a:prstGeom>
          <a:ln cap="flat" w="9525">
            <a:solidFill>
              <a:srgbClr val="D7FFB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107196" y="9766496"/>
            <a:ext cx="1498752" cy="411480"/>
            <a:chOff x="0" y="0"/>
            <a:chExt cx="1998335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98335" cy="548640"/>
            </a:xfrm>
            <a:custGeom>
              <a:avLst/>
              <a:gdLst/>
              <a:ahLst/>
              <a:cxnLst/>
              <a:rect r="r" b="b" t="t" l="l"/>
              <a:pathLst>
                <a:path h="548640" w="1998335">
                  <a:moveTo>
                    <a:pt x="0" y="0"/>
                  </a:moveTo>
                  <a:lnTo>
                    <a:pt x="1998335" y="0"/>
                  </a:lnTo>
                  <a:lnTo>
                    <a:pt x="1998335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339700" r="-449097" b="-3397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998335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79737" y="9649747"/>
            <a:ext cx="709798" cy="575379"/>
            <a:chOff x="0" y="0"/>
            <a:chExt cx="946398" cy="767173"/>
          </a:xfrm>
        </p:grpSpPr>
        <p:sp>
          <p:nvSpPr>
            <p:cNvPr name="TextBox 45" id="45"/>
            <p:cNvSpPr txBox="true"/>
            <p:nvPr/>
          </p:nvSpPr>
          <p:spPr>
            <a:xfrm rot="0">
              <a:off x="0" y="129627"/>
              <a:ext cx="946398" cy="558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29"/>
                </a:lnSpc>
                <a:spcBef>
                  <a:spcPct val="0"/>
                </a:spcBef>
              </a:pPr>
              <a:r>
                <a:rPr lang="en-US" sz="2521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ally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46856" y="-66675"/>
              <a:ext cx="218347" cy="833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287"/>
                </a:lnSpc>
                <a:spcBef>
                  <a:spcPct val="0"/>
                </a:spcBef>
              </a:pPr>
              <a:r>
                <a:rPr lang="en-US" sz="3777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9976" y="2187111"/>
            <a:ext cx="17788049" cy="7362565"/>
            <a:chOff x="0" y="0"/>
            <a:chExt cx="23717398" cy="98167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17399" cy="9816753"/>
            </a:xfrm>
            <a:custGeom>
              <a:avLst/>
              <a:gdLst/>
              <a:ahLst/>
              <a:cxnLst/>
              <a:rect r="r" b="b" t="t" l="l"/>
              <a:pathLst>
                <a:path h="9816753" w="23717399">
                  <a:moveTo>
                    <a:pt x="127513" y="0"/>
                  </a:moveTo>
                  <a:lnTo>
                    <a:pt x="23589886" y="0"/>
                  </a:lnTo>
                  <a:cubicBezTo>
                    <a:pt x="23660309" y="0"/>
                    <a:pt x="23717399" y="439511"/>
                    <a:pt x="23717399" y="981675"/>
                  </a:cubicBezTo>
                  <a:lnTo>
                    <a:pt x="23717399" y="8835078"/>
                  </a:lnTo>
                  <a:cubicBezTo>
                    <a:pt x="23717399" y="9377242"/>
                    <a:pt x="23660309" y="9816753"/>
                    <a:pt x="23589886" y="9816753"/>
                  </a:cubicBezTo>
                  <a:lnTo>
                    <a:pt x="127513" y="9816753"/>
                  </a:lnTo>
                  <a:cubicBezTo>
                    <a:pt x="57089" y="9816753"/>
                    <a:pt x="0" y="9377242"/>
                    <a:pt x="0" y="8835078"/>
                  </a:cubicBezTo>
                  <a:lnTo>
                    <a:pt x="0" y="981675"/>
                  </a:lnTo>
                  <a:cubicBezTo>
                    <a:pt x="0" y="439511"/>
                    <a:pt x="57089" y="0"/>
                    <a:pt x="127513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717398" cy="9854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47335" y="2400300"/>
            <a:ext cx="8397140" cy="6858000"/>
            <a:chOff x="0" y="0"/>
            <a:chExt cx="11196187" cy="914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96187" cy="9144000"/>
            </a:xfrm>
            <a:custGeom>
              <a:avLst/>
              <a:gdLst/>
              <a:ahLst/>
              <a:cxnLst/>
              <a:rect r="r" b="b" t="t" l="l"/>
              <a:pathLst>
                <a:path h="9144000" w="11196187">
                  <a:moveTo>
                    <a:pt x="0" y="870857"/>
                  </a:moveTo>
                  <a:cubicBezTo>
                    <a:pt x="0" y="390071"/>
                    <a:pt x="41446" y="0"/>
                    <a:pt x="92530" y="0"/>
                  </a:cubicBezTo>
                  <a:lnTo>
                    <a:pt x="11103656" y="0"/>
                  </a:lnTo>
                  <a:cubicBezTo>
                    <a:pt x="11154741" y="0"/>
                    <a:pt x="11196187" y="390071"/>
                    <a:pt x="11196187" y="870857"/>
                  </a:cubicBezTo>
                  <a:lnTo>
                    <a:pt x="11196187" y="8273143"/>
                  </a:lnTo>
                  <a:cubicBezTo>
                    <a:pt x="11196187" y="8753928"/>
                    <a:pt x="11154741" y="9144000"/>
                    <a:pt x="11103656" y="9144000"/>
                  </a:cubicBezTo>
                  <a:lnTo>
                    <a:pt x="92530" y="9144000"/>
                  </a:lnTo>
                  <a:cubicBezTo>
                    <a:pt x="41446" y="9144000"/>
                    <a:pt x="0" y="8753928"/>
                    <a:pt x="0" y="8273143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49976" y="261469"/>
            <a:ext cx="17644270" cy="1623866"/>
            <a:chOff x="0" y="0"/>
            <a:chExt cx="23525693" cy="21651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525693" cy="2165154"/>
            </a:xfrm>
            <a:custGeom>
              <a:avLst/>
              <a:gdLst/>
              <a:ahLst/>
              <a:cxnLst/>
              <a:rect r="r" b="b" t="t" l="l"/>
              <a:pathLst>
                <a:path h="2165154" w="23525693">
                  <a:moveTo>
                    <a:pt x="126482" y="0"/>
                  </a:moveTo>
                  <a:lnTo>
                    <a:pt x="23399210" y="0"/>
                  </a:lnTo>
                  <a:cubicBezTo>
                    <a:pt x="23469065" y="0"/>
                    <a:pt x="23525693" y="96937"/>
                    <a:pt x="23525693" y="216515"/>
                  </a:cubicBezTo>
                  <a:lnTo>
                    <a:pt x="23525693" y="1948639"/>
                  </a:lnTo>
                  <a:cubicBezTo>
                    <a:pt x="23525693" y="2068217"/>
                    <a:pt x="23469065" y="2165154"/>
                    <a:pt x="23399210" y="2165154"/>
                  </a:cubicBezTo>
                  <a:lnTo>
                    <a:pt x="126482" y="2165154"/>
                  </a:lnTo>
                  <a:cubicBezTo>
                    <a:pt x="56628" y="2165154"/>
                    <a:pt x="0" y="2068217"/>
                    <a:pt x="0" y="1948639"/>
                  </a:cubicBezTo>
                  <a:lnTo>
                    <a:pt x="0" y="216515"/>
                  </a:lnTo>
                  <a:cubicBezTo>
                    <a:pt x="0" y="96937"/>
                    <a:pt x="56628" y="0"/>
                    <a:pt x="126482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3525693" cy="2203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400300"/>
            <a:ext cx="7799142" cy="6858000"/>
            <a:chOff x="0" y="0"/>
            <a:chExt cx="10398856" cy="914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98856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398856">
                  <a:moveTo>
                    <a:pt x="0" y="870857"/>
                  </a:moveTo>
                  <a:cubicBezTo>
                    <a:pt x="0" y="390071"/>
                    <a:pt x="38494" y="0"/>
                    <a:pt x="85941" y="0"/>
                  </a:cubicBezTo>
                  <a:lnTo>
                    <a:pt x="10312915" y="0"/>
                  </a:lnTo>
                  <a:cubicBezTo>
                    <a:pt x="10360361" y="0"/>
                    <a:pt x="10398856" y="390071"/>
                    <a:pt x="10398856" y="870857"/>
                  </a:cubicBezTo>
                  <a:lnTo>
                    <a:pt x="10398856" y="8273143"/>
                  </a:lnTo>
                  <a:cubicBezTo>
                    <a:pt x="10398856" y="8753928"/>
                    <a:pt x="10360361" y="9144000"/>
                    <a:pt x="10312915" y="9144000"/>
                  </a:cubicBezTo>
                  <a:lnTo>
                    <a:pt x="85941" y="9144000"/>
                  </a:lnTo>
                  <a:cubicBezTo>
                    <a:pt x="38494" y="9144000"/>
                    <a:pt x="0" y="8753928"/>
                    <a:pt x="0" y="8273143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119969" y="2689085"/>
            <a:ext cx="5329851" cy="782013"/>
            <a:chOff x="0" y="0"/>
            <a:chExt cx="5486400" cy="8049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804983"/>
            </a:xfrm>
            <a:custGeom>
              <a:avLst/>
              <a:gdLst/>
              <a:ahLst/>
              <a:cxnLst/>
              <a:rect r="r" b="b" t="t" l="l"/>
              <a:pathLst>
                <a:path h="804983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04983"/>
                  </a:lnTo>
                  <a:lnTo>
                    <a:pt x="0" y="8049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043" r="0" b="-7255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5486400" cy="795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spc="333">
                  <a:solidFill>
                    <a:srgbClr val="A1F9FF"/>
                  </a:solidFill>
                  <a:latin typeface="Bree Serif"/>
                  <a:ea typeface="Bree Serif"/>
                  <a:cs typeface="Bree Serif"/>
                  <a:sym typeface="Bree Serif"/>
                </a:rPr>
                <a:t>OBJETIVO GENERAL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74611" y="4445468"/>
            <a:ext cx="5275209" cy="2988456"/>
            <a:chOff x="0" y="0"/>
            <a:chExt cx="7033612" cy="398460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33613" cy="3984608"/>
            </a:xfrm>
            <a:custGeom>
              <a:avLst/>
              <a:gdLst/>
              <a:ahLst/>
              <a:cxnLst/>
              <a:rect r="r" b="b" t="t" l="l"/>
              <a:pathLst>
                <a:path h="3984608" w="7033613">
                  <a:moveTo>
                    <a:pt x="0" y="0"/>
                  </a:moveTo>
                  <a:lnTo>
                    <a:pt x="7033613" y="0"/>
                  </a:lnTo>
                  <a:lnTo>
                    <a:pt x="7033613" y="3984608"/>
                  </a:lnTo>
                  <a:lnTo>
                    <a:pt x="0" y="3984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075" r="-199009" b="-166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14300"/>
              <a:ext cx="7033612" cy="40989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63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una aplicación de finanzas simples para emprendedores informales que permita registrar y visualizar sus ingresos y egresos, bajo un modelo de venta B2G a municipalidades.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196668" y="2689085"/>
            <a:ext cx="7062632" cy="782013"/>
            <a:chOff x="0" y="0"/>
            <a:chExt cx="9416843" cy="10426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16843" cy="1042684"/>
            </a:xfrm>
            <a:custGeom>
              <a:avLst/>
              <a:gdLst/>
              <a:ahLst/>
              <a:cxnLst/>
              <a:rect r="r" b="b" t="t" l="l"/>
              <a:pathLst>
                <a:path h="1042684" w="9416843">
                  <a:moveTo>
                    <a:pt x="0" y="0"/>
                  </a:moveTo>
                  <a:lnTo>
                    <a:pt x="9416843" y="0"/>
                  </a:lnTo>
                  <a:lnTo>
                    <a:pt x="9416843" y="1042684"/>
                  </a:lnTo>
                  <a:lnTo>
                    <a:pt x="0" y="10426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183" r="2897" b="-10157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9416843" cy="1033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spc="333">
                  <a:solidFill>
                    <a:srgbClr val="B2E18E"/>
                  </a:solidFill>
                  <a:latin typeface="Bree Serif"/>
                  <a:ea typeface="Bree Serif"/>
                  <a:cs typeface="Bree Serif"/>
                  <a:sym typeface="Bree Serif"/>
                </a:rPr>
                <a:t>OBJETIVOS ESPECÍFICOS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835942" y="3588155"/>
            <a:ext cx="7784083" cy="1555345"/>
            <a:chOff x="0" y="0"/>
            <a:chExt cx="10378778" cy="207379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378777" cy="2073793"/>
            </a:xfrm>
            <a:custGeom>
              <a:avLst/>
              <a:gdLst/>
              <a:ahLst/>
              <a:cxnLst/>
              <a:rect r="r" b="b" t="t" l="l"/>
              <a:pathLst>
                <a:path h="2073793" w="10378777">
                  <a:moveTo>
                    <a:pt x="0" y="0"/>
                  </a:moveTo>
                  <a:lnTo>
                    <a:pt x="10378777" y="0"/>
                  </a:lnTo>
                  <a:lnTo>
                    <a:pt x="10378777" y="2073793"/>
                  </a:lnTo>
                  <a:lnTo>
                    <a:pt x="0" y="20737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038" r="0" b="-25703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378778" cy="2121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1966" indent="-250983" lvl="1">
                <a:lnSpc>
                  <a:spcPts val="2789"/>
                </a:lnSpc>
                <a:buFont typeface="Arial"/>
                <a:buChar char="•"/>
              </a:pPr>
              <a:r>
                <a:rPr lang="en-US" sz="232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Diseñar la base de datos y arquitectura del sistema para el registro y almacenamiento seguro de movimientos financieros.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35942" y="4843932"/>
            <a:ext cx="7704350" cy="1195753"/>
            <a:chOff x="0" y="0"/>
            <a:chExt cx="10272467" cy="159433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72467" cy="1594337"/>
            </a:xfrm>
            <a:custGeom>
              <a:avLst/>
              <a:gdLst/>
              <a:ahLst/>
              <a:cxnLst/>
              <a:rect r="r" b="b" t="t" l="l"/>
              <a:pathLst>
                <a:path h="1594337" w="10272467">
                  <a:moveTo>
                    <a:pt x="0" y="0"/>
                  </a:moveTo>
                  <a:lnTo>
                    <a:pt x="10272467" y="0"/>
                  </a:lnTo>
                  <a:lnTo>
                    <a:pt x="10272467" y="1594337"/>
                  </a:lnTo>
                  <a:lnTo>
                    <a:pt x="0" y="159433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251" r="-102953" b="-18633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0272467" cy="1641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1966" indent="-250983" lvl="1">
                <a:lnSpc>
                  <a:spcPts val="2789"/>
                </a:lnSpc>
                <a:buFont typeface="Arial"/>
                <a:buChar char="•"/>
              </a:pPr>
              <a:r>
                <a:rPr lang="en-US" sz="232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Implementar el registro de ingresos y egresos con categorías personalizables y exportación a Excel.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35942" y="6039685"/>
            <a:ext cx="7704350" cy="836161"/>
            <a:chOff x="0" y="0"/>
            <a:chExt cx="10272467" cy="11148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72467" cy="1114881"/>
            </a:xfrm>
            <a:custGeom>
              <a:avLst/>
              <a:gdLst/>
              <a:ahLst/>
              <a:cxnLst/>
              <a:rect r="r" b="b" t="t" l="l"/>
              <a:pathLst>
                <a:path h="1114881" w="10272467">
                  <a:moveTo>
                    <a:pt x="0" y="0"/>
                  </a:moveTo>
                  <a:lnTo>
                    <a:pt x="10272467" y="0"/>
                  </a:lnTo>
                  <a:lnTo>
                    <a:pt x="10272467" y="1114881"/>
                  </a:lnTo>
                  <a:lnTo>
                    <a:pt x="0" y="11148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9261" r="-102953" b="-30948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0272467" cy="11625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1966" indent="-250983" lvl="1">
                <a:lnSpc>
                  <a:spcPts val="2789"/>
                </a:lnSpc>
                <a:buFont typeface="Arial"/>
                <a:buChar char="•"/>
              </a:pPr>
              <a:r>
                <a:rPr lang="en-US" sz="232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Construir el dashboard con visualización gráfica de datos por semana, mes y año.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835942" y="6990146"/>
            <a:ext cx="7784083" cy="1195753"/>
            <a:chOff x="0" y="0"/>
            <a:chExt cx="10378778" cy="159433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378777" cy="1594337"/>
            </a:xfrm>
            <a:custGeom>
              <a:avLst/>
              <a:gdLst/>
              <a:ahLst/>
              <a:cxnLst/>
              <a:rect r="r" b="b" t="t" l="l"/>
              <a:pathLst>
                <a:path h="1594337" w="10378777">
                  <a:moveTo>
                    <a:pt x="0" y="0"/>
                  </a:moveTo>
                  <a:lnTo>
                    <a:pt x="10378777" y="0"/>
                  </a:lnTo>
                  <a:lnTo>
                    <a:pt x="10378777" y="1594337"/>
                  </a:lnTo>
                  <a:lnTo>
                    <a:pt x="0" y="159433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251" r="-100874" b="-18633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0378778" cy="1641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1966" indent="-250983" lvl="1">
                <a:lnSpc>
                  <a:spcPts val="2789"/>
                </a:lnSpc>
                <a:buFont typeface="Arial"/>
                <a:buChar char="•"/>
              </a:pPr>
              <a:r>
                <a:rPr lang="en-US" sz="232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metas de venta, recordatorios diarios y notificación de pagos pendientes.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35942" y="8062547"/>
            <a:ext cx="7908533" cy="1195753"/>
            <a:chOff x="0" y="0"/>
            <a:chExt cx="10544711" cy="159433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44711" cy="1594337"/>
            </a:xfrm>
            <a:custGeom>
              <a:avLst/>
              <a:gdLst/>
              <a:ahLst/>
              <a:cxnLst/>
              <a:rect r="r" b="b" t="t" l="l"/>
              <a:pathLst>
                <a:path h="1594337" w="10544711">
                  <a:moveTo>
                    <a:pt x="0" y="0"/>
                  </a:moveTo>
                  <a:lnTo>
                    <a:pt x="10544711" y="0"/>
                  </a:lnTo>
                  <a:lnTo>
                    <a:pt x="10544711" y="1594337"/>
                  </a:lnTo>
                  <a:lnTo>
                    <a:pt x="0" y="159433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251" r="-97713" b="-18633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544711" cy="1641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1966" indent="-250983" lvl="1">
                <a:lnSpc>
                  <a:spcPts val="2789"/>
                </a:lnSpc>
                <a:buFont typeface="Arial"/>
                <a:buChar char="•"/>
              </a:pPr>
              <a:r>
                <a:rPr lang="en-US" sz="232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Implementar el mecanismo de activación municipal (clave y correo) para cada emprendedor.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741995" y="365776"/>
            <a:ext cx="1377974" cy="1413307"/>
          </a:xfrm>
          <a:custGeom>
            <a:avLst/>
            <a:gdLst/>
            <a:ahLst/>
            <a:cxnLst/>
            <a:rect r="r" b="b" t="t" l="l"/>
            <a:pathLst>
              <a:path h="1413307" w="1377974">
                <a:moveTo>
                  <a:pt x="0" y="0"/>
                </a:moveTo>
                <a:lnTo>
                  <a:pt x="1377974" y="0"/>
                </a:lnTo>
                <a:lnTo>
                  <a:pt x="1377974" y="1413307"/>
                </a:lnTo>
                <a:lnTo>
                  <a:pt x="0" y="1413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2694630" y="80494"/>
            <a:ext cx="12898739" cy="169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B8172"/>
                </a:solidFill>
                <a:latin typeface="Bree Serif"/>
                <a:ea typeface="Bree Serif"/>
                <a:cs typeface="Bree Serif"/>
                <a:sym typeface="Bree Serif"/>
              </a:rPr>
              <a:t>O</a:t>
            </a:r>
            <a:r>
              <a:rPr lang="en-US" sz="9999">
                <a:solidFill>
                  <a:srgbClr val="FB8172"/>
                </a:solidFill>
                <a:latin typeface="Bree Serif"/>
                <a:ea typeface="Bree Serif"/>
                <a:cs typeface="Bree Serif"/>
                <a:sym typeface="Bree Serif"/>
              </a:rPr>
              <a:t>bjetivos</a:t>
            </a:r>
          </a:p>
        </p:txBody>
      </p:sp>
      <p:sp>
        <p:nvSpPr>
          <p:cNvPr name="AutoShape 38" id="38"/>
          <p:cNvSpPr/>
          <p:nvPr/>
        </p:nvSpPr>
        <p:spPr>
          <a:xfrm flipV="true">
            <a:off x="2177499" y="9986464"/>
            <a:ext cx="15158575" cy="0"/>
          </a:xfrm>
          <a:prstGeom prst="line">
            <a:avLst/>
          </a:prstGeom>
          <a:ln cap="flat" w="9525">
            <a:solidFill>
              <a:srgbClr val="D7FFB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95160" y="9780724"/>
            <a:ext cx="1498752" cy="411480"/>
            <a:chOff x="0" y="0"/>
            <a:chExt cx="1998335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98335" cy="548640"/>
            </a:xfrm>
            <a:custGeom>
              <a:avLst/>
              <a:gdLst/>
              <a:ahLst/>
              <a:cxnLst/>
              <a:rect r="r" b="b" t="t" l="l"/>
              <a:pathLst>
                <a:path h="548640" w="1998335">
                  <a:moveTo>
                    <a:pt x="0" y="0"/>
                  </a:moveTo>
                  <a:lnTo>
                    <a:pt x="1998335" y="0"/>
                  </a:lnTo>
                  <a:lnTo>
                    <a:pt x="1998335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-449097" b="-33970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998335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67700" y="9663975"/>
            <a:ext cx="709798" cy="575379"/>
            <a:chOff x="0" y="0"/>
            <a:chExt cx="946398" cy="767173"/>
          </a:xfrm>
        </p:grpSpPr>
        <p:sp>
          <p:nvSpPr>
            <p:cNvPr name="TextBox 43" id="43"/>
            <p:cNvSpPr txBox="true"/>
            <p:nvPr/>
          </p:nvSpPr>
          <p:spPr>
            <a:xfrm rot="0">
              <a:off x="0" y="129627"/>
              <a:ext cx="946398" cy="558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29"/>
                </a:lnSpc>
                <a:spcBef>
                  <a:spcPct val="0"/>
                </a:spcBef>
              </a:pPr>
              <a:r>
                <a:rPr lang="en-US" sz="2521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ally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46856" y="-66675"/>
              <a:ext cx="218347" cy="833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287"/>
                </a:lnSpc>
                <a:spcBef>
                  <a:spcPct val="0"/>
                </a:spcBef>
              </a:pPr>
              <a:r>
                <a:rPr lang="en-US" sz="3777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5521" y="2229991"/>
            <a:ext cx="17596958" cy="7211154"/>
            <a:chOff x="0" y="0"/>
            <a:chExt cx="23462610" cy="96148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62610" cy="9614872"/>
            </a:xfrm>
            <a:custGeom>
              <a:avLst/>
              <a:gdLst/>
              <a:ahLst/>
              <a:cxnLst/>
              <a:rect r="r" b="b" t="t" l="l"/>
              <a:pathLst>
                <a:path h="9614872" w="23462610">
                  <a:moveTo>
                    <a:pt x="126143" y="0"/>
                  </a:moveTo>
                  <a:lnTo>
                    <a:pt x="23336467" y="0"/>
                  </a:lnTo>
                  <a:cubicBezTo>
                    <a:pt x="23406134" y="0"/>
                    <a:pt x="23462610" y="430472"/>
                    <a:pt x="23462610" y="961487"/>
                  </a:cubicBezTo>
                  <a:lnTo>
                    <a:pt x="23462610" y="8653384"/>
                  </a:lnTo>
                  <a:cubicBezTo>
                    <a:pt x="23462610" y="9184399"/>
                    <a:pt x="23406134" y="9614872"/>
                    <a:pt x="23336467" y="9614872"/>
                  </a:cubicBezTo>
                  <a:lnTo>
                    <a:pt x="126143" y="9614872"/>
                  </a:lnTo>
                  <a:cubicBezTo>
                    <a:pt x="56476" y="9614872"/>
                    <a:pt x="0" y="9184399"/>
                    <a:pt x="0" y="8653384"/>
                  </a:cubicBezTo>
                  <a:lnTo>
                    <a:pt x="0" y="961487"/>
                  </a:lnTo>
                  <a:cubicBezTo>
                    <a:pt x="0" y="430472"/>
                    <a:pt x="56476" y="0"/>
                    <a:pt x="126143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462610" cy="9652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5521" y="353695"/>
            <a:ext cx="17596958" cy="1609596"/>
            <a:chOff x="0" y="0"/>
            <a:chExt cx="23462610" cy="2146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462610" cy="2146128"/>
            </a:xfrm>
            <a:custGeom>
              <a:avLst/>
              <a:gdLst/>
              <a:ahLst/>
              <a:cxnLst/>
              <a:rect r="r" b="b" t="t" l="l"/>
              <a:pathLst>
                <a:path h="2146128" w="23462610">
                  <a:moveTo>
                    <a:pt x="126143" y="0"/>
                  </a:moveTo>
                  <a:lnTo>
                    <a:pt x="23336467" y="0"/>
                  </a:lnTo>
                  <a:cubicBezTo>
                    <a:pt x="23406134" y="0"/>
                    <a:pt x="23462610" y="96085"/>
                    <a:pt x="23462610" y="214613"/>
                  </a:cubicBezTo>
                  <a:lnTo>
                    <a:pt x="23462610" y="1931515"/>
                  </a:lnTo>
                  <a:cubicBezTo>
                    <a:pt x="23462610" y="2050043"/>
                    <a:pt x="23406134" y="2146128"/>
                    <a:pt x="23336467" y="2146128"/>
                  </a:cubicBezTo>
                  <a:lnTo>
                    <a:pt x="126143" y="2146128"/>
                  </a:lnTo>
                  <a:cubicBezTo>
                    <a:pt x="56476" y="2146128"/>
                    <a:pt x="0" y="2050043"/>
                    <a:pt x="0" y="1931515"/>
                  </a:cubicBezTo>
                  <a:lnTo>
                    <a:pt x="0" y="214613"/>
                  </a:lnTo>
                  <a:cubicBezTo>
                    <a:pt x="0" y="96085"/>
                    <a:pt x="56476" y="0"/>
                    <a:pt x="126143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462610" cy="2184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9218" y="2558598"/>
            <a:ext cx="16584070" cy="1508760"/>
            <a:chOff x="0" y="0"/>
            <a:chExt cx="22112093" cy="2011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12094" cy="2011680"/>
            </a:xfrm>
            <a:custGeom>
              <a:avLst/>
              <a:gdLst/>
              <a:ahLst/>
              <a:cxnLst/>
              <a:rect r="r" b="b" t="t" l="l"/>
              <a:pathLst>
                <a:path h="2011680" w="22112094">
                  <a:moveTo>
                    <a:pt x="0" y="0"/>
                  </a:moveTo>
                  <a:lnTo>
                    <a:pt x="22112094" y="0"/>
                  </a:lnTo>
                  <a:lnTo>
                    <a:pt x="2211209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335" r="-74" b="-1643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2112093" cy="207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96"/>
                </a:lnSpc>
              </a:pPr>
              <a:r>
                <a:rPr lang="en-US" sz="21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El proyecto se desarrolla bajo una metodología ágil, organizando el trabajo en sprints con entregas incrementales alineadas a las fases de Portafolio de Título. Cada sprint contempla planificación, desarrollo y revisión de avances con retroalimentación docente.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9218" y="4320540"/>
            <a:ext cx="5417820" cy="4800600"/>
            <a:chOff x="0" y="0"/>
            <a:chExt cx="7223760" cy="640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23761" cy="6400800"/>
            </a:xfrm>
            <a:custGeom>
              <a:avLst/>
              <a:gdLst/>
              <a:ahLst/>
              <a:cxnLst/>
              <a:rect r="r" b="b" t="t" l="l"/>
              <a:pathLst>
                <a:path h="6400800" w="72237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004304" y="0"/>
                  </a:lnTo>
                  <a:cubicBezTo>
                    <a:pt x="7125462" y="0"/>
                    <a:pt x="7223761" y="98298"/>
                    <a:pt x="7223761" y="219456"/>
                  </a:cubicBezTo>
                  <a:lnTo>
                    <a:pt x="7223761" y="6181344"/>
                  </a:lnTo>
                  <a:cubicBezTo>
                    <a:pt x="7223761" y="6302502"/>
                    <a:pt x="7125462" y="6400800"/>
                    <a:pt x="7004304" y="6400800"/>
                  </a:cubicBezTo>
                  <a:lnTo>
                    <a:pt x="219456" y="6400800"/>
                  </a:lnTo>
                  <a:cubicBezTo>
                    <a:pt x="98298" y="6400800"/>
                    <a:pt x="0" y="6302502"/>
                    <a:pt x="0" y="6181344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4662666"/>
            <a:ext cx="891540" cy="891540"/>
            <a:chOff x="0" y="0"/>
            <a:chExt cx="1188720" cy="1188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A4CD6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88362" y="4862506"/>
            <a:ext cx="4705530" cy="2546645"/>
            <a:chOff x="0" y="0"/>
            <a:chExt cx="3984931" cy="21566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84931" cy="2156654"/>
            </a:xfrm>
            <a:custGeom>
              <a:avLst/>
              <a:gdLst/>
              <a:ahLst/>
              <a:cxnLst/>
              <a:rect r="r" b="b" t="t" l="l"/>
              <a:pathLst>
                <a:path h="2156654" w="3984931">
                  <a:moveTo>
                    <a:pt x="0" y="0"/>
                  </a:moveTo>
                  <a:lnTo>
                    <a:pt x="3984931" y="0"/>
                  </a:lnTo>
                  <a:lnTo>
                    <a:pt x="3984931" y="2156654"/>
                  </a:lnTo>
                  <a:lnTo>
                    <a:pt x="0" y="21566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218" r="-56035" b="2686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3984931" cy="2166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49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Lucas Marchant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88362" y="6502944"/>
            <a:ext cx="4705530" cy="647851"/>
            <a:chOff x="0" y="0"/>
            <a:chExt cx="3984931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84931" cy="548640"/>
            </a:xfrm>
            <a:custGeom>
              <a:avLst/>
              <a:gdLst/>
              <a:ahLst/>
              <a:cxnLst/>
              <a:rect r="r" b="b" t="t" l="l"/>
              <a:pathLst>
                <a:path h="548640" w="3984931">
                  <a:moveTo>
                    <a:pt x="0" y="0"/>
                  </a:moveTo>
                  <a:lnTo>
                    <a:pt x="3984931" y="0"/>
                  </a:lnTo>
                  <a:lnTo>
                    <a:pt x="398493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-56035" b="-17083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984931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b="true" sz="2174" spc="207">
                  <a:solidFill>
                    <a:srgbClr val="C1FF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LÍDER DE PROYECTO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53465" y="6748272"/>
            <a:ext cx="4663440" cy="2057400"/>
            <a:chOff x="0" y="0"/>
            <a:chExt cx="6217920" cy="2743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179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4" t="0" r="-6604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33350"/>
              <a:ext cx="6217920" cy="2876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12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Planificación, coordinación y gestión de riesgos del proyecto.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583680" y="4320540"/>
            <a:ext cx="5417820" cy="4800600"/>
            <a:chOff x="0" y="0"/>
            <a:chExt cx="7223760" cy="640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23761" cy="6400800"/>
            </a:xfrm>
            <a:custGeom>
              <a:avLst/>
              <a:gdLst/>
              <a:ahLst/>
              <a:cxnLst/>
              <a:rect r="r" b="b" t="t" l="l"/>
              <a:pathLst>
                <a:path h="6400800" w="72237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004304" y="0"/>
                  </a:lnTo>
                  <a:cubicBezTo>
                    <a:pt x="7125462" y="0"/>
                    <a:pt x="7223761" y="98298"/>
                    <a:pt x="7223761" y="219456"/>
                  </a:cubicBezTo>
                  <a:lnTo>
                    <a:pt x="7223761" y="6181344"/>
                  </a:lnTo>
                  <a:cubicBezTo>
                    <a:pt x="7223761" y="6302502"/>
                    <a:pt x="7125462" y="6400800"/>
                    <a:pt x="7004304" y="6400800"/>
                  </a:cubicBezTo>
                  <a:lnTo>
                    <a:pt x="219456" y="6400800"/>
                  </a:lnTo>
                  <a:cubicBezTo>
                    <a:pt x="98298" y="6400800"/>
                    <a:pt x="0" y="6302502"/>
                    <a:pt x="0" y="6181344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01076" y="4862506"/>
            <a:ext cx="4705530" cy="2546645"/>
            <a:chOff x="0" y="0"/>
            <a:chExt cx="3984931" cy="21566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84931" cy="2156654"/>
            </a:xfrm>
            <a:custGeom>
              <a:avLst/>
              <a:gdLst/>
              <a:ahLst/>
              <a:cxnLst/>
              <a:rect r="r" b="b" t="t" l="l"/>
              <a:pathLst>
                <a:path h="2156654" w="3984931">
                  <a:moveTo>
                    <a:pt x="0" y="0"/>
                  </a:moveTo>
                  <a:lnTo>
                    <a:pt x="3984931" y="0"/>
                  </a:lnTo>
                  <a:lnTo>
                    <a:pt x="3984931" y="2156654"/>
                  </a:lnTo>
                  <a:lnTo>
                    <a:pt x="0" y="21566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218" r="-56035" b="2686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984931" cy="2166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49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Cristopher Caniullan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901076" y="6502944"/>
            <a:ext cx="4705530" cy="647851"/>
            <a:chOff x="0" y="0"/>
            <a:chExt cx="3984931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84931" cy="548640"/>
            </a:xfrm>
            <a:custGeom>
              <a:avLst/>
              <a:gdLst/>
              <a:ahLst/>
              <a:cxnLst/>
              <a:rect r="r" b="b" t="t" l="l"/>
              <a:pathLst>
                <a:path h="548640" w="3984931">
                  <a:moveTo>
                    <a:pt x="0" y="0"/>
                  </a:moveTo>
                  <a:lnTo>
                    <a:pt x="3984931" y="0"/>
                  </a:lnTo>
                  <a:lnTo>
                    <a:pt x="398493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-56035" b="-17083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3984931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b="true" sz="2174" spc="207">
                  <a:solidFill>
                    <a:srgbClr val="F96D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&amp; DATOS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812280" y="6826687"/>
            <a:ext cx="4663440" cy="2057400"/>
            <a:chOff x="0" y="0"/>
            <a:chExt cx="6217920" cy="2743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179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4" t="0" r="-6604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33350"/>
              <a:ext cx="6217920" cy="2876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12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 de datos, lógica de negocio y API del sistema.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44400" y="4320540"/>
            <a:ext cx="5417820" cy="4800600"/>
            <a:chOff x="0" y="0"/>
            <a:chExt cx="7223760" cy="6400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223761" cy="6400800"/>
            </a:xfrm>
            <a:custGeom>
              <a:avLst/>
              <a:gdLst/>
              <a:ahLst/>
              <a:cxnLst/>
              <a:rect r="r" b="b" t="t" l="l"/>
              <a:pathLst>
                <a:path h="6400800" w="72237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004304" y="0"/>
                  </a:lnTo>
                  <a:cubicBezTo>
                    <a:pt x="7125462" y="0"/>
                    <a:pt x="7223761" y="98298"/>
                    <a:pt x="7223761" y="219456"/>
                  </a:cubicBezTo>
                  <a:lnTo>
                    <a:pt x="7223761" y="6181344"/>
                  </a:lnTo>
                  <a:cubicBezTo>
                    <a:pt x="7223761" y="6302502"/>
                    <a:pt x="7125462" y="6400800"/>
                    <a:pt x="7004304" y="6400800"/>
                  </a:cubicBezTo>
                  <a:lnTo>
                    <a:pt x="219456" y="6400800"/>
                  </a:lnTo>
                  <a:cubicBezTo>
                    <a:pt x="98298" y="6400800"/>
                    <a:pt x="0" y="6302502"/>
                    <a:pt x="0" y="6181344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713790" y="4862506"/>
            <a:ext cx="4705530" cy="2546645"/>
            <a:chOff x="0" y="0"/>
            <a:chExt cx="3984931" cy="215665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84931" cy="2156654"/>
            </a:xfrm>
            <a:custGeom>
              <a:avLst/>
              <a:gdLst/>
              <a:ahLst/>
              <a:cxnLst/>
              <a:rect r="r" b="b" t="t" l="l"/>
              <a:pathLst>
                <a:path h="2156654" w="3984931">
                  <a:moveTo>
                    <a:pt x="0" y="0"/>
                  </a:moveTo>
                  <a:lnTo>
                    <a:pt x="3984931" y="0"/>
                  </a:lnTo>
                  <a:lnTo>
                    <a:pt x="3984931" y="2156654"/>
                  </a:lnTo>
                  <a:lnTo>
                    <a:pt x="0" y="21566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218" r="-56035" b="2686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3984931" cy="2166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49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Thiare Hernández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713790" y="6502944"/>
            <a:ext cx="4705530" cy="647851"/>
            <a:chOff x="0" y="0"/>
            <a:chExt cx="3984931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984931" cy="548640"/>
            </a:xfrm>
            <a:custGeom>
              <a:avLst/>
              <a:gdLst/>
              <a:ahLst/>
              <a:cxnLst/>
              <a:rect r="r" b="b" t="t" l="l"/>
              <a:pathLst>
                <a:path h="548640" w="3984931">
                  <a:moveTo>
                    <a:pt x="0" y="0"/>
                  </a:moveTo>
                  <a:lnTo>
                    <a:pt x="3984931" y="0"/>
                  </a:lnTo>
                  <a:lnTo>
                    <a:pt x="398493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-56035" b="-17083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3984931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b="true" sz="2174" spc="207">
                  <a:solidFill>
                    <a:srgbClr val="FF78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&amp; UI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595860" y="6826687"/>
            <a:ext cx="4663440" cy="2057400"/>
            <a:chOff x="0" y="0"/>
            <a:chExt cx="6217920" cy="2743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2179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04" t="0" r="-6604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33350"/>
              <a:ext cx="6217920" cy="2876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12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Interfaz de usuario, experiencia de usuario y conexión con backend.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E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909435" y="4662666"/>
            <a:ext cx="891540" cy="891540"/>
            <a:chOff x="0" y="0"/>
            <a:chExt cx="1188720" cy="11887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F96D5C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744450" y="4662666"/>
            <a:ext cx="891540" cy="891540"/>
            <a:chOff x="0" y="0"/>
            <a:chExt cx="1188720" cy="11887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FFA2E3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483182" y="4862506"/>
            <a:ext cx="394057" cy="491860"/>
            <a:chOff x="0" y="0"/>
            <a:chExt cx="525409" cy="65581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25409" cy="655814"/>
            </a:xfrm>
            <a:custGeom>
              <a:avLst/>
              <a:gdLst/>
              <a:ahLst/>
              <a:cxnLst/>
              <a:rect r="r" b="b" t="t" l="l"/>
              <a:pathLst>
                <a:path h="655814" w="525409">
                  <a:moveTo>
                    <a:pt x="0" y="0"/>
                  </a:moveTo>
                  <a:lnTo>
                    <a:pt x="525409" y="0"/>
                  </a:lnTo>
                  <a:lnTo>
                    <a:pt x="525409" y="655814"/>
                  </a:lnTo>
                  <a:lnTo>
                    <a:pt x="0" y="6558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4091" r="-4111666" b="-71083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04775"/>
              <a:ext cx="525409" cy="760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3"/>
                </a:lnSpc>
              </a:pPr>
              <a:r>
                <a:rPr lang="en-US" b="true" sz="2349">
                  <a:solidFill>
                    <a:srgbClr val="3333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LM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192467" y="4897570"/>
            <a:ext cx="485497" cy="491860"/>
            <a:chOff x="0" y="0"/>
            <a:chExt cx="647329" cy="65581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47329" cy="655814"/>
            </a:xfrm>
            <a:custGeom>
              <a:avLst/>
              <a:gdLst/>
              <a:ahLst/>
              <a:cxnLst/>
              <a:rect r="r" b="b" t="t" l="l"/>
              <a:pathLst>
                <a:path h="655814" w="647329">
                  <a:moveTo>
                    <a:pt x="0" y="0"/>
                  </a:moveTo>
                  <a:lnTo>
                    <a:pt x="647329" y="0"/>
                  </a:lnTo>
                  <a:lnTo>
                    <a:pt x="647329" y="655814"/>
                  </a:lnTo>
                  <a:lnTo>
                    <a:pt x="0" y="6558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4091" r="-3318427" b="-71083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04775"/>
              <a:ext cx="647329" cy="760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3"/>
                </a:lnSpc>
              </a:pPr>
              <a:r>
                <a:rPr lang="en-US" sz="2349" b="true">
                  <a:solidFill>
                    <a:srgbClr val="3333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CC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017004" y="4897570"/>
            <a:ext cx="346432" cy="491860"/>
            <a:chOff x="0" y="0"/>
            <a:chExt cx="461909" cy="65581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61909" cy="655814"/>
            </a:xfrm>
            <a:custGeom>
              <a:avLst/>
              <a:gdLst/>
              <a:ahLst/>
              <a:cxnLst/>
              <a:rect r="r" b="b" t="t" l="l"/>
              <a:pathLst>
                <a:path h="655814" w="461909">
                  <a:moveTo>
                    <a:pt x="0" y="0"/>
                  </a:moveTo>
                  <a:lnTo>
                    <a:pt x="461909" y="0"/>
                  </a:lnTo>
                  <a:lnTo>
                    <a:pt x="461909" y="655814"/>
                  </a:lnTo>
                  <a:lnTo>
                    <a:pt x="0" y="6558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4091" r="-4690656" b="-71083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04775"/>
              <a:ext cx="461909" cy="760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83"/>
                </a:lnSpc>
              </a:pPr>
              <a:r>
                <a:rPr lang="en-US" sz="2349" b="true">
                  <a:solidFill>
                    <a:srgbClr val="3333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</a:t>
              </a: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628696" y="504106"/>
            <a:ext cx="1325834" cy="1325834"/>
          </a:xfrm>
          <a:custGeom>
            <a:avLst/>
            <a:gdLst/>
            <a:ahLst/>
            <a:cxnLst/>
            <a:rect r="r" b="b" t="t" l="l"/>
            <a:pathLst>
              <a:path h="1325834" w="1325834">
                <a:moveTo>
                  <a:pt x="0" y="0"/>
                </a:moveTo>
                <a:lnTo>
                  <a:pt x="1325834" y="0"/>
                </a:lnTo>
                <a:lnTo>
                  <a:pt x="1325834" y="1325835"/>
                </a:lnTo>
                <a:lnTo>
                  <a:pt x="0" y="1325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2368548" y="238652"/>
            <a:ext cx="13345410" cy="163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300"/>
              </a:lnSpc>
              <a:spcBef>
                <a:spcPct val="0"/>
              </a:spcBef>
            </a:pPr>
            <a:r>
              <a:rPr lang="en-US" sz="9500">
                <a:solidFill>
                  <a:srgbClr val="FB8172"/>
                </a:solidFill>
                <a:latin typeface="Bree Serif"/>
                <a:ea typeface="Bree Serif"/>
                <a:cs typeface="Bree Serif"/>
                <a:sym typeface="Bree Serif"/>
              </a:rPr>
              <a:t>M</a:t>
            </a:r>
            <a:r>
              <a:rPr lang="en-US" sz="9500">
                <a:solidFill>
                  <a:srgbClr val="FB8172"/>
                </a:solidFill>
                <a:latin typeface="Bree Serif"/>
                <a:ea typeface="Bree Serif"/>
                <a:cs typeface="Bree Serif"/>
                <a:sym typeface="Bree Serif"/>
              </a:rPr>
              <a:t>etodologías y Roles</a:t>
            </a:r>
          </a:p>
        </p:txBody>
      </p:sp>
      <p:sp>
        <p:nvSpPr>
          <p:cNvPr name="AutoShape 64" id="64"/>
          <p:cNvSpPr/>
          <p:nvPr/>
        </p:nvSpPr>
        <p:spPr>
          <a:xfrm flipV="true">
            <a:off x="2249716" y="9886037"/>
            <a:ext cx="15158575" cy="0"/>
          </a:xfrm>
          <a:prstGeom prst="line">
            <a:avLst/>
          </a:prstGeom>
          <a:ln cap="flat" w="9525">
            <a:solidFill>
              <a:srgbClr val="D7FFB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5" id="65"/>
          <p:cNvGrpSpPr/>
          <p:nvPr/>
        </p:nvGrpSpPr>
        <p:grpSpPr>
          <a:xfrm rot="0">
            <a:off x="167377" y="9680297"/>
            <a:ext cx="1498752" cy="411480"/>
            <a:chOff x="0" y="0"/>
            <a:chExt cx="1998335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998335" cy="548640"/>
            </a:xfrm>
            <a:custGeom>
              <a:avLst/>
              <a:gdLst/>
              <a:ahLst/>
              <a:cxnLst/>
              <a:rect r="r" b="b" t="t" l="l"/>
              <a:pathLst>
                <a:path h="548640" w="1998335">
                  <a:moveTo>
                    <a:pt x="0" y="0"/>
                  </a:moveTo>
                  <a:lnTo>
                    <a:pt x="1998335" y="0"/>
                  </a:lnTo>
                  <a:lnTo>
                    <a:pt x="1998335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-449097" b="-33970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998335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539918" y="9563548"/>
            <a:ext cx="709798" cy="575379"/>
            <a:chOff x="0" y="0"/>
            <a:chExt cx="946398" cy="767173"/>
          </a:xfrm>
        </p:grpSpPr>
        <p:sp>
          <p:nvSpPr>
            <p:cNvPr name="TextBox 69" id="69"/>
            <p:cNvSpPr txBox="true"/>
            <p:nvPr/>
          </p:nvSpPr>
          <p:spPr>
            <a:xfrm rot="0">
              <a:off x="0" y="129627"/>
              <a:ext cx="946398" cy="558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29"/>
                </a:lnSpc>
                <a:spcBef>
                  <a:spcPct val="0"/>
                </a:spcBef>
              </a:pPr>
              <a:r>
                <a:rPr lang="en-US" sz="2521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ally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46856" y="-66675"/>
              <a:ext cx="218347" cy="833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287"/>
                </a:lnSpc>
                <a:spcBef>
                  <a:spcPct val="0"/>
                </a:spcBef>
              </a:pPr>
              <a:r>
                <a:rPr lang="en-US" sz="3777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2450" y="1834213"/>
            <a:ext cx="17183100" cy="7773878"/>
            <a:chOff x="0" y="0"/>
            <a:chExt cx="22910800" cy="10365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10800" cy="10365170"/>
            </a:xfrm>
            <a:custGeom>
              <a:avLst/>
              <a:gdLst/>
              <a:ahLst/>
              <a:cxnLst/>
              <a:rect r="r" b="b" t="t" l="l"/>
              <a:pathLst>
                <a:path h="10365170" w="22910800">
                  <a:moveTo>
                    <a:pt x="123176" y="0"/>
                  </a:moveTo>
                  <a:lnTo>
                    <a:pt x="22787623" y="0"/>
                  </a:lnTo>
                  <a:cubicBezTo>
                    <a:pt x="22855651" y="0"/>
                    <a:pt x="22910800" y="464065"/>
                    <a:pt x="22910800" y="1036517"/>
                  </a:cubicBezTo>
                  <a:lnTo>
                    <a:pt x="22910800" y="9328654"/>
                  </a:lnTo>
                  <a:cubicBezTo>
                    <a:pt x="22910800" y="9901107"/>
                    <a:pt x="22855651" y="10365170"/>
                    <a:pt x="22787623" y="10365170"/>
                  </a:cubicBezTo>
                  <a:lnTo>
                    <a:pt x="123176" y="10365170"/>
                  </a:lnTo>
                  <a:cubicBezTo>
                    <a:pt x="55148" y="10365170"/>
                    <a:pt x="0" y="9901107"/>
                    <a:pt x="0" y="9328654"/>
                  </a:cubicBezTo>
                  <a:lnTo>
                    <a:pt x="0" y="1036517"/>
                  </a:lnTo>
                  <a:cubicBezTo>
                    <a:pt x="0" y="464065"/>
                    <a:pt x="55148" y="0"/>
                    <a:pt x="123176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10800" cy="1040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2450" y="216445"/>
            <a:ext cx="17183100" cy="1474049"/>
            <a:chOff x="0" y="0"/>
            <a:chExt cx="22910800" cy="19653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10800" cy="1965399"/>
            </a:xfrm>
            <a:custGeom>
              <a:avLst/>
              <a:gdLst/>
              <a:ahLst/>
              <a:cxnLst/>
              <a:rect r="r" b="b" t="t" l="l"/>
              <a:pathLst>
                <a:path h="1965399" w="22910800">
                  <a:moveTo>
                    <a:pt x="123176" y="0"/>
                  </a:moveTo>
                  <a:lnTo>
                    <a:pt x="22787623" y="0"/>
                  </a:lnTo>
                  <a:cubicBezTo>
                    <a:pt x="22855651" y="0"/>
                    <a:pt x="22910800" y="87994"/>
                    <a:pt x="22910800" y="196540"/>
                  </a:cubicBezTo>
                  <a:lnTo>
                    <a:pt x="22910800" y="1768859"/>
                  </a:lnTo>
                  <a:cubicBezTo>
                    <a:pt x="22910800" y="1877405"/>
                    <a:pt x="22855651" y="1965399"/>
                    <a:pt x="22787623" y="1965399"/>
                  </a:cubicBezTo>
                  <a:lnTo>
                    <a:pt x="123176" y="1965399"/>
                  </a:lnTo>
                  <a:cubicBezTo>
                    <a:pt x="55148" y="1965399"/>
                    <a:pt x="0" y="1877405"/>
                    <a:pt x="0" y="1768859"/>
                  </a:cubicBezTo>
                  <a:lnTo>
                    <a:pt x="0" y="196540"/>
                  </a:lnTo>
                  <a:cubicBezTo>
                    <a:pt x="0" y="87994"/>
                    <a:pt x="55148" y="0"/>
                    <a:pt x="123176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910800" cy="2003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85642" y="5318505"/>
            <a:ext cx="3106534" cy="1017288"/>
            <a:chOff x="0" y="0"/>
            <a:chExt cx="818182" cy="2679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8182" cy="267928"/>
            </a:xfrm>
            <a:custGeom>
              <a:avLst/>
              <a:gdLst/>
              <a:ahLst/>
              <a:cxnLst/>
              <a:rect r="r" b="b" t="t" l="l"/>
              <a:pathLst>
                <a:path h="267928" w="818182">
                  <a:moveTo>
                    <a:pt x="0" y="0"/>
                  </a:moveTo>
                  <a:lnTo>
                    <a:pt x="818182" y="0"/>
                  </a:lnTo>
                  <a:lnTo>
                    <a:pt x="818182" y="267928"/>
                  </a:lnTo>
                  <a:lnTo>
                    <a:pt x="0" y="267928"/>
                  </a:lnTo>
                  <a:close/>
                </a:path>
              </a:pathLst>
            </a:custGeom>
            <a:solidFill>
              <a:srgbClr val="E0FFF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18182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10429598" y="1843085"/>
            <a:ext cx="4901136" cy="4901136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690988" y="5318505"/>
            <a:ext cx="12295235" cy="1017288"/>
            <a:chOff x="0" y="0"/>
            <a:chExt cx="3238251" cy="267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38251" cy="267928"/>
            </a:xfrm>
            <a:custGeom>
              <a:avLst/>
              <a:gdLst/>
              <a:ahLst/>
              <a:cxnLst/>
              <a:rect r="r" b="b" t="t" l="l"/>
              <a:pathLst>
                <a:path h="267928" w="3238251">
                  <a:moveTo>
                    <a:pt x="0" y="0"/>
                  </a:moveTo>
                  <a:lnTo>
                    <a:pt x="3238251" y="0"/>
                  </a:lnTo>
                  <a:lnTo>
                    <a:pt x="3238251" y="267928"/>
                  </a:lnTo>
                  <a:lnTo>
                    <a:pt x="0" y="267928"/>
                  </a:lnTo>
                  <a:close/>
                </a:path>
              </a:pathLst>
            </a:custGeom>
            <a:solidFill>
              <a:srgbClr val="44C0C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238251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666233" y="4293653"/>
            <a:ext cx="1470026" cy="553882"/>
            <a:chOff x="0" y="0"/>
            <a:chExt cx="600197" cy="2261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0197" cy="226144"/>
            </a:xfrm>
            <a:custGeom>
              <a:avLst/>
              <a:gdLst/>
              <a:ahLst/>
              <a:cxnLst/>
              <a:rect r="r" b="b" t="t" l="l"/>
              <a:pathLst>
                <a:path h="226144" w="600197">
                  <a:moveTo>
                    <a:pt x="300099" y="226144"/>
                  </a:moveTo>
                  <a:lnTo>
                    <a:pt x="600197" y="0"/>
                  </a:lnTo>
                  <a:lnTo>
                    <a:pt x="0" y="0"/>
                  </a:lnTo>
                  <a:lnTo>
                    <a:pt x="300099" y="226144"/>
                  </a:lnTo>
                  <a:close/>
                </a:path>
              </a:pathLst>
            </a:custGeom>
            <a:solidFill>
              <a:srgbClr val="44C0C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93781" y="-12422"/>
              <a:ext cx="412636" cy="1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76629" y="5400683"/>
            <a:ext cx="2381250" cy="867953"/>
            <a:chOff x="0" y="0"/>
            <a:chExt cx="627160" cy="2285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7161" cy="228597"/>
            </a:xfrm>
            <a:custGeom>
              <a:avLst/>
              <a:gdLst/>
              <a:ahLst/>
              <a:cxnLst/>
              <a:rect r="r" b="b" t="t" l="l"/>
              <a:pathLst>
                <a:path h="228597" w="627161">
                  <a:moveTo>
                    <a:pt x="114298" y="0"/>
                  </a:moveTo>
                  <a:lnTo>
                    <a:pt x="512862" y="0"/>
                  </a:lnTo>
                  <a:cubicBezTo>
                    <a:pt x="575987" y="0"/>
                    <a:pt x="627161" y="51173"/>
                    <a:pt x="627161" y="114298"/>
                  </a:cubicBezTo>
                  <a:lnTo>
                    <a:pt x="627161" y="114298"/>
                  </a:lnTo>
                  <a:cubicBezTo>
                    <a:pt x="627161" y="177424"/>
                    <a:pt x="575987" y="228597"/>
                    <a:pt x="512862" y="228597"/>
                  </a:cubicBezTo>
                  <a:lnTo>
                    <a:pt x="114298" y="228597"/>
                  </a:lnTo>
                  <a:cubicBezTo>
                    <a:pt x="51173" y="228597"/>
                    <a:pt x="0" y="177424"/>
                    <a:pt x="0" y="114298"/>
                  </a:cubicBezTo>
                  <a:lnTo>
                    <a:pt x="0" y="114298"/>
                  </a:lnTo>
                  <a:cubicBezTo>
                    <a:pt x="0" y="51173"/>
                    <a:pt x="51173" y="0"/>
                    <a:pt x="114298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627160" cy="257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216594" y="5376708"/>
            <a:ext cx="2304973" cy="867953"/>
            <a:chOff x="0" y="0"/>
            <a:chExt cx="607071" cy="2285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7071" cy="228597"/>
            </a:xfrm>
            <a:custGeom>
              <a:avLst/>
              <a:gdLst/>
              <a:ahLst/>
              <a:cxnLst/>
              <a:rect r="r" b="b" t="t" l="l"/>
              <a:pathLst>
                <a:path h="228597" w="607071">
                  <a:moveTo>
                    <a:pt x="114298" y="0"/>
                  </a:moveTo>
                  <a:lnTo>
                    <a:pt x="492773" y="0"/>
                  </a:lnTo>
                  <a:cubicBezTo>
                    <a:pt x="555898" y="0"/>
                    <a:pt x="607071" y="51173"/>
                    <a:pt x="607071" y="114298"/>
                  </a:cubicBezTo>
                  <a:lnTo>
                    <a:pt x="607071" y="114298"/>
                  </a:lnTo>
                  <a:cubicBezTo>
                    <a:pt x="607071" y="177424"/>
                    <a:pt x="555898" y="228597"/>
                    <a:pt x="492773" y="228597"/>
                  </a:cubicBezTo>
                  <a:lnTo>
                    <a:pt x="114298" y="228597"/>
                  </a:lnTo>
                  <a:cubicBezTo>
                    <a:pt x="51173" y="228597"/>
                    <a:pt x="0" y="177424"/>
                    <a:pt x="0" y="114298"/>
                  </a:cubicBezTo>
                  <a:lnTo>
                    <a:pt x="0" y="114298"/>
                  </a:lnTo>
                  <a:cubicBezTo>
                    <a:pt x="0" y="51173"/>
                    <a:pt x="51173" y="0"/>
                    <a:pt x="114298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607071" cy="257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979849" y="5400683"/>
            <a:ext cx="2233036" cy="852933"/>
            <a:chOff x="0" y="0"/>
            <a:chExt cx="588125" cy="22464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8125" cy="224641"/>
            </a:xfrm>
            <a:custGeom>
              <a:avLst/>
              <a:gdLst/>
              <a:ahLst/>
              <a:cxnLst/>
              <a:rect r="r" b="b" t="t" l="l"/>
              <a:pathLst>
                <a:path h="224641" w="588125">
                  <a:moveTo>
                    <a:pt x="112320" y="0"/>
                  </a:moveTo>
                  <a:lnTo>
                    <a:pt x="475804" y="0"/>
                  </a:lnTo>
                  <a:cubicBezTo>
                    <a:pt x="537837" y="0"/>
                    <a:pt x="588125" y="50288"/>
                    <a:pt x="588125" y="112320"/>
                  </a:cubicBezTo>
                  <a:lnTo>
                    <a:pt x="588125" y="112320"/>
                  </a:lnTo>
                  <a:cubicBezTo>
                    <a:pt x="588125" y="174353"/>
                    <a:pt x="537837" y="224641"/>
                    <a:pt x="475804" y="224641"/>
                  </a:cubicBezTo>
                  <a:lnTo>
                    <a:pt x="112320" y="224641"/>
                  </a:lnTo>
                  <a:cubicBezTo>
                    <a:pt x="50288" y="224641"/>
                    <a:pt x="0" y="174353"/>
                    <a:pt x="0" y="112320"/>
                  </a:cubicBezTo>
                  <a:lnTo>
                    <a:pt x="0" y="112320"/>
                  </a:lnTo>
                  <a:cubicBezTo>
                    <a:pt x="0" y="50288"/>
                    <a:pt x="50288" y="0"/>
                    <a:pt x="112320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588125" cy="253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830441" y="5376708"/>
            <a:ext cx="1793230" cy="1017288"/>
            <a:chOff x="0" y="0"/>
            <a:chExt cx="472291" cy="2679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2291" cy="267928"/>
            </a:xfrm>
            <a:custGeom>
              <a:avLst/>
              <a:gdLst/>
              <a:ahLst/>
              <a:cxnLst/>
              <a:rect r="r" b="b" t="t" l="l"/>
              <a:pathLst>
                <a:path h="267928" w="472291">
                  <a:moveTo>
                    <a:pt x="133964" y="0"/>
                  </a:moveTo>
                  <a:lnTo>
                    <a:pt x="338327" y="0"/>
                  </a:lnTo>
                  <a:cubicBezTo>
                    <a:pt x="412313" y="0"/>
                    <a:pt x="472291" y="59978"/>
                    <a:pt x="472291" y="133964"/>
                  </a:cubicBezTo>
                  <a:lnTo>
                    <a:pt x="472291" y="133964"/>
                  </a:lnTo>
                  <a:cubicBezTo>
                    <a:pt x="472291" y="207950"/>
                    <a:pt x="412313" y="267928"/>
                    <a:pt x="33832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F7D36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472291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5400000">
            <a:off x="14680594" y="5550208"/>
            <a:ext cx="1470026" cy="553882"/>
            <a:chOff x="0" y="0"/>
            <a:chExt cx="600197" cy="2261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0197" cy="226144"/>
            </a:xfrm>
            <a:custGeom>
              <a:avLst/>
              <a:gdLst/>
              <a:ahLst/>
              <a:cxnLst/>
              <a:rect r="r" b="b" t="t" l="l"/>
              <a:pathLst>
                <a:path h="226144" w="600197">
                  <a:moveTo>
                    <a:pt x="300099" y="226144"/>
                  </a:moveTo>
                  <a:lnTo>
                    <a:pt x="600197" y="0"/>
                  </a:lnTo>
                  <a:lnTo>
                    <a:pt x="0" y="0"/>
                  </a:lnTo>
                  <a:lnTo>
                    <a:pt x="300099" y="226144"/>
                  </a:lnTo>
                  <a:close/>
                </a:path>
              </a:pathLst>
            </a:custGeom>
            <a:solidFill>
              <a:srgbClr val="E0FFF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93781" y="-12422"/>
              <a:ext cx="412636" cy="1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38270" y="1997169"/>
            <a:ext cx="7761306" cy="3094968"/>
            <a:chOff x="0" y="0"/>
            <a:chExt cx="10348408" cy="412662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348408" cy="4126623"/>
            </a:xfrm>
            <a:custGeom>
              <a:avLst/>
              <a:gdLst/>
              <a:ahLst/>
              <a:cxnLst/>
              <a:rect r="r" b="b" t="t" l="l"/>
              <a:pathLst>
                <a:path h="4126623" w="10348408">
                  <a:moveTo>
                    <a:pt x="55637" y="0"/>
                  </a:moveTo>
                  <a:lnTo>
                    <a:pt x="10292771" y="0"/>
                  </a:lnTo>
                  <a:cubicBezTo>
                    <a:pt x="10323499" y="0"/>
                    <a:pt x="10348408" y="184755"/>
                    <a:pt x="10348408" y="412662"/>
                  </a:cubicBezTo>
                  <a:lnTo>
                    <a:pt x="10348408" y="3713961"/>
                  </a:lnTo>
                  <a:cubicBezTo>
                    <a:pt x="10348408" y="3941868"/>
                    <a:pt x="10323499" y="4126623"/>
                    <a:pt x="10292771" y="4126623"/>
                  </a:cubicBezTo>
                  <a:lnTo>
                    <a:pt x="55637" y="4126623"/>
                  </a:lnTo>
                  <a:cubicBezTo>
                    <a:pt x="24909" y="4126623"/>
                    <a:pt x="0" y="3941868"/>
                    <a:pt x="0" y="3713961"/>
                  </a:cubicBezTo>
                  <a:lnTo>
                    <a:pt x="0" y="412662"/>
                  </a:lnTo>
                  <a:cubicBezTo>
                    <a:pt x="0" y="184755"/>
                    <a:pt x="24909" y="0"/>
                    <a:pt x="55637" y="0"/>
                  </a:cubicBezTo>
                  <a:close/>
                </a:path>
              </a:pathLst>
            </a:custGeom>
            <a:solidFill>
              <a:srgbClr val="4E4077"/>
            </a:solidFill>
            <a:ln w="28575" cap="sq">
              <a:solidFill>
                <a:srgbClr val="5A4B82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348408" cy="4164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59835" y="2263106"/>
            <a:ext cx="1255649" cy="1255649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D479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422582" y="6899797"/>
            <a:ext cx="1333500" cy="1333500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FFFB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1572405" y="2675676"/>
            <a:ext cx="430508" cy="430508"/>
          </a:xfrm>
          <a:custGeom>
            <a:avLst/>
            <a:gdLst/>
            <a:ahLst/>
            <a:cxnLst/>
            <a:rect r="r" b="b" t="t" l="l"/>
            <a:pathLst>
              <a:path h="430508" w="430508">
                <a:moveTo>
                  <a:pt x="0" y="0"/>
                </a:moveTo>
                <a:lnTo>
                  <a:pt x="430509" y="0"/>
                </a:lnTo>
                <a:lnTo>
                  <a:pt x="430509" y="430509"/>
                </a:lnTo>
                <a:lnTo>
                  <a:pt x="0" y="430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5855121" y="7299847"/>
            <a:ext cx="468422" cy="533400"/>
          </a:xfrm>
          <a:custGeom>
            <a:avLst/>
            <a:gdLst/>
            <a:ahLst/>
            <a:cxnLst/>
            <a:rect r="r" b="b" t="t" l="l"/>
            <a:pathLst>
              <a:path h="533400" w="468422">
                <a:moveTo>
                  <a:pt x="0" y="0"/>
                </a:moveTo>
                <a:lnTo>
                  <a:pt x="468422" y="0"/>
                </a:lnTo>
                <a:lnTo>
                  <a:pt x="468422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6120307" y="2251513"/>
            <a:ext cx="1255649" cy="1255649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2E3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6532878" y="2664084"/>
            <a:ext cx="430508" cy="430508"/>
          </a:xfrm>
          <a:custGeom>
            <a:avLst/>
            <a:gdLst/>
            <a:ahLst/>
            <a:cxnLst/>
            <a:rect r="r" b="b" t="t" l="l"/>
            <a:pathLst>
              <a:path h="430508" w="430508">
                <a:moveTo>
                  <a:pt x="0" y="0"/>
                </a:moveTo>
                <a:lnTo>
                  <a:pt x="430508" y="0"/>
                </a:lnTo>
                <a:lnTo>
                  <a:pt x="430508" y="430508"/>
                </a:lnTo>
                <a:lnTo>
                  <a:pt x="0" y="430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3574901" y="2263106"/>
            <a:ext cx="1255649" cy="1255649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566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3987472" y="2664084"/>
            <a:ext cx="430508" cy="430508"/>
          </a:xfrm>
          <a:custGeom>
            <a:avLst/>
            <a:gdLst/>
            <a:ahLst/>
            <a:cxnLst/>
            <a:rect r="r" b="b" t="t" l="l"/>
            <a:pathLst>
              <a:path h="430508" w="430508">
                <a:moveTo>
                  <a:pt x="0" y="0"/>
                </a:moveTo>
                <a:lnTo>
                  <a:pt x="430508" y="0"/>
                </a:lnTo>
                <a:lnTo>
                  <a:pt x="430508" y="430508"/>
                </a:lnTo>
                <a:lnTo>
                  <a:pt x="0" y="430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866100" y="384555"/>
            <a:ext cx="1221058" cy="1221058"/>
          </a:xfrm>
          <a:custGeom>
            <a:avLst/>
            <a:gdLst/>
            <a:ahLst/>
            <a:cxnLst/>
            <a:rect r="r" b="b" t="t" l="l"/>
            <a:pathLst>
              <a:path h="1221058" w="1221058">
                <a:moveTo>
                  <a:pt x="0" y="0"/>
                </a:moveTo>
                <a:lnTo>
                  <a:pt x="1221058" y="0"/>
                </a:lnTo>
                <a:lnTo>
                  <a:pt x="1221058" y="1221058"/>
                </a:lnTo>
                <a:lnTo>
                  <a:pt x="0" y="12210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3393120" y="-102217"/>
            <a:ext cx="10902364" cy="189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0"/>
              </a:lnSpc>
              <a:spcBef>
                <a:spcPct val="0"/>
              </a:spcBef>
            </a:pPr>
            <a:r>
              <a:rPr lang="en-US" sz="11000">
                <a:solidFill>
                  <a:srgbClr val="FB8172"/>
                </a:solidFill>
                <a:latin typeface="Bree Serif"/>
                <a:ea typeface="Bree Serif"/>
                <a:cs typeface="Bree Serif"/>
                <a:sym typeface="Bree Serif"/>
              </a:rPr>
              <a:t>Metodología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911086" y="5443981"/>
            <a:ext cx="1473278" cy="79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BACKLOG DEL PRODUCTO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72790" y="6728762"/>
            <a:ext cx="2670470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750" indent="-205375" lvl="1">
              <a:lnSpc>
                <a:spcPts val="2283"/>
              </a:lnSpc>
              <a:buFont typeface="Arial"/>
              <a:buChar char="•"/>
            </a:pPr>
            <a:r>
              <a:rPr lang="en-US" sz="19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Gestionado por el líder del proyecto</a:t>
            </a:r>
          </a:p>
          <a:p>
            <a:pPr algn="l" marL="410750" indent="-205375" lvl="1">
              <a:lnSpc>
                <a:spcPts val="2283"/>
              </a:lnSpc>
              <a:buFont typeface="Arial"/>
              <a:buChar char="•"/>
            </a:pPr>
            <a:r>
              <a:rPr lang="en-US" sz="19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Pendientes del proyecto </a:t>
            </a:r>
          </a:p>
          <a:p>
            <a:pPr algn="l" marL="410750" indent="-205375" lvl="1">
              <a:lnSpc>
                <a:spcPts val="2283"/>
              </a:lnSpc>
              <a:buFont typeface="Arial"/>
              <a:buChar char="•"/>
            </a:pPr>
            <a:r>
              <a:rPr lang="en-US" sz="19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Requerimientos</a:t>
            </a:r>
          </a:p>
          <a:p>
            <a:pPr algn="l" marL="410750" indent="-205375" lvl="1">
              <a:lnSpc>
                <a:spcPts val="2283"/>
              </a:lnSpc>
              <a:buFont typeface="Arial"/>
              <a:buChar char="•"/>
            </a:pPr>
            <a:r>
              <a:rPr lang="en-US" sz="19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Orden de desarrollo</a:t>
            </a:r>
          </a:p>
          <a:p>
            <a:pPr algn="l" marL="410750" indent="-205375" lvl="1">
              <a:lnSpc>
                <a:spcPts val="2283"/>
              </a:lnSpc>
              <a:buFont typeface="Arial"/>
              <a:buChar char="•"/>
            </a:pPr>
            <a:r>
              <a:rPr lang="en-US" sz="19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Bugs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216594" y="6673029"/>
            <a:ext cx="2932502" cy="188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172" indent="-229086" lvl="1">
              <a:lnSpc>
                <a:spcPts val="2546"/>
              </a:lnSpc>
              <a:buFont typeface="Arial"/>
              <a:buChar char="•"/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Asignación de metas</a:t>
            </a:r>
          </a:p>
          <a:p>
            <a:pPr algn="l" marL="458172" indent="-229086" lvl="1">
              <a:lnSpc>
                <a:spcPts val="2546"/>
              </a:lnSpc>
              <a:buFont typeface="Arial"/>
              <a:buChar char="•"/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Definición de entregables</a:t>
            </a:r>
          </a:p>
          <a:p>
            <a:pPr algn="l" marL="458172" indent="-229086" lvl="1">
              <a:lnSpc>
                <a:spcPts val="2546"/>
              </a:lnSpc>
              <a:buFont typeface="Arial"/>
              <a:buChar char="•"/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Duración en semanas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424970" y="5553347"/>
            <a:ext cx="1888221" cy="52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PLANIFICACIÓN DEL SPRINT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507812" y="5436652"/>
            <a:ext cx="1177111" cy="79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BACKLOG DEL SPRINT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137043" y="5628196"/>
            <a:ext cx="1238078" cy="52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Trabajo terminado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291611" y="4046719"/>
            <a:ext cx="1177111" cy="52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1-4 Weeks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901921" y="6614462"/>
            <a:ext cx="2932502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172" indent="-229086" lvl="1">
              <a:lnSpc>
                <a:spcPts val="2546"/>
              </a:lnSpc>
              <a:buFont typeface="Arial"/>
              <a:buChar char="•"/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</a:t>
            </a: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onado por el equipo de de</a:t>
            </a: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sarrollo</a:t>
            </a:r>
          </a:p>
          <a:p>
            <a:pPr algn="l" marL="458172" indent="-229086" lvl="1">
              <a:lnSpc>
                <a:spcPts val="2546"/>
              </a:lnSpc>
              <a:buFont typeface="Arial"/>
              <a:buChar char="•"/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Prioridades del sprint</a:t>
            </a:r>
          </a:p>
          <a:p>
            <a:pPr algn="l" marL="458172" indent="-229086" lvl="1">
              <a:lnSpc>
                <a:spcPts val="2546"/>
              </a:lnSpc>
              <a:buFont typeface="Arial"/>
              <a:buChar char="•"/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Metas</a:t>
            </a:r>
          </a:p>
          <a:p>
            <a:pPr algn="l" marL="458172" indent="-229086" lvl="1">
              <a:lnSpc>
                <a:spcPts val="2546"/>
              </a:lnSpc>
              <a:buFont typeface="Arial"/>
              <a:buChar char="•"/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Entregables</a:t>
            </a:r>
          </a:p>
          <a:p>
            <a:pPr algn="l">
              <a:lnSpc>
                <a:spcPts val="2546"/>
              </a:lnSpc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897736" y="3695340"/>
            <a:ext cx="1944481" cy="105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b="true" sz="1799">
                <a:solidFill>
                  <a:srgbClr val="B2E1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Lucas Marchant</a:t>
            </a:r>
          </a:p>
          <a:p>
            <a:pPr algn="l" marL="777237" indent="-259079" lvl="2">
              <a:lnSpc>
                <a:spcPts val="2159"/>
              </a:lnSpc>
              <a:buFont typeface="Arial"/>
              <a:buChar char="⚬"/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Líder de proyecto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922306" y="8469688"/>
            <a:ext cx="2517969" cy="79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4"/>
              </a:lnSpc>
            </a:pPr>
            <a:r>
              <a:rPr lang="en-US" b="true" sz="1795">
                <a:solidFill>
                  <a:srgbClr val="E0FF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Revisión y retroalimentación del sprint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559963" y="3828680"/>
            <a:ext cx="2470902" cy="79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b="true" sz="1799">
                <a:solidFill>
                  <a:srgbClr val="FFA2E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Thiare Hernández</a:t>
            </a:r>
          </a:p>
          <a:p>
            <a:pPr algn="l" marL="777237" indent="-259079" lvl="2">
              <a:lnSpc>
                <a:spcPts val="2159"/>
              </a:lnSpc>
              <a:buFont typeface="Arial"/>
              <a:buChar char="⚬"/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desarrolladora frontend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3156420" y="3758377"/>
            <a:ext cx="2547137" cy="105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b="true" sz="1799">
                <a:solidFill>
                  <a:srgbClr val="FB81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Cristopher Caniullan</a:t>
            </a:r>
          </a:p>
          <a:p>
            <a:pPr algn="l" marL="777237" indent="-259079" lvl="2">
              <a:lnSpc>
                <a:spcPts val="2159"/>
              </a:lnSpc>
              <a:buFont typeface="Arial"/>
              <a:buChar char="⚬"/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Desarrollador backend</a:t>
            </a:r>
          </a:p>
        </p:txBody>
      </p:sp>
      <p:sp>
        <p:nvSpPr>
          <p:cNvPr name="AutoShape 66" id="66"/>
          <p:cNvSpPr/>
          <p:nvPr/>
        </p:nvSpPr>
        <p:spPr>
          <a:xfrm flipV="true">
            <a:off x="2249716" y="9886037"/>
            <a:ext cx="15158575" cy="0"/>
          </a:xfrm>
          <a:prstGeom prst="line">
            <a:avLst/>
          </a:prstGeom>
          <a:ln cap="flat" w="9525">
            <a:solidFill>
              <a:srgbClr val="D7FFB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7" id="67"/>
          <p:cNvGrpSpPr/>
          <p:nvPr/>
        </p:nvGrpSpPr>
        <p:grpSpPr>
          <a:xfrm rot="0">
            <a:off x="167377" y="9680297"/>
            <a:ext cx="1498752" cy="411480"/>
            <a:chOff x="0" y="0"/>
            <a:chExt cx="1998335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998335" cy="548640"/>
            </a:xfrm>
            <a:custGeom>
              <a:avLst/>
              <a:gdLst/>
              <a:ahLst/>
              <a:cxnLst/>
              <a:rect r="r" b="b" t="t" l="l"/>
              <a:pathLst>
                <a:path h="548640" w="1998335">
                  <a:moveTo>
                    <a:pt x="0" y="0"/>
                  </a:moveTo>
                  <a:lnTo>
                    <a:pt x="1998335" y="0"/>
                  </a:lnTo>
                  <a:lnTo>
                    <a:pt x="1998335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39700" r="-449097" b="-33970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998335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539918" y="9563548"/>
            <a:ext cx="709798" cy="575379"/>
            <a:chOff x="0" y="0"/>
            <a:chExt cx="946398" cy="767173"/>
          </a:xfrm>
        </p:grpSpPr>
        <p:sp>
          <p:nvSpPr>
            <p:cNvPr name="TextBox 71" id="71"/>
            <p:cNvSpPr txBox="true"/>
            <p:nvPr/>
          </p:nvSpPr>
          <p:spPr>
            <a:xfrm rot="0">
              <a:off x="0" y="129627"/>
              <a:ext cx="946398" cy="558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29"/>
                </a:lnSpc>
                <a:spcBef>
                  <a:spcPct val="0"/>
                </a:spcBef>
              </a:pPr>
              <a:r>
                <a:rPr lang="en-US" sz="2521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ally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46856" y="-66675"/>
              <a:ext cx="218347" cy="833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287"/>
                </a:lnSpc>
                <a:spcBef>
                  <a:spcPct val="0"/>
                </a:spcBef>
              </a:pPr>
              <a:r>
                <a:rPr lang="en-US" sz="3777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2450" y="2199903"/>
            <a:ext cx="17183100" cy="7058397"/>
            <a:chOff x="0" y="0"/>
            <a:chExt cx="22910800" cy="94111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10800" cy="9411195"/>
            </a:xfrm>
            <a:custGeom>
              <a:avLst/>
              <a:gdLst/>
              <a:ahLst/>
              <a:cxnLst/>
              <a:rect r="r" b="b" t="t" l="l"/>
              <a:pathLst>
                <a:path h="9411195" w="22910800">
                  <a:moveTo>
                    <a:pt x="123176" y="0"/>
                  </a:moveTo>
                  <a:lnTo>
                    <a:pt x="22787623" y="0"/>
                  </a:lnTo>
                  <a:cubicBezTo>
                    <a:pt x="22855651" y="0"/>
                    <a:pt x="22910800" y="421354"/>
                    <a:pt x="22910800" y="941120"/>
                  </a:cubicBezTo>
                  <a:lnTo>
                    <a:pt x="22910800" y="8470076"/>
                  </a:lnTo>
                  <a:cubicBezTo>
                    <a:pt x="22910800" y="8989842"/>
                    <a:pt x="22855651" y="9411195"/>
                    <a:pt x="22787623" y="9411195"/>
                  </a:cubicBezTo>
                  <a:lnTo>
                    <a:pt x="123176" y="9411195"/>
                  </a:lnTo>
                  <a:cubicBezTo>
                    <a:pt x="55148" y="9411195"/>
                    <a:pt x="0" y="8989842"/>
                    <a:pt x="0" y="8470076"/>
                  </a:cubicBezTo>
                  <a:lnTo>
                    <a:pt x="0" y="941120"/>
                  </a:lnTo>
                  <a:cubicBezTo>
                    <a:pt x="0" y="421354"/>
                    <a:pt x="55148" y="0"/>
                    <a:pt x="123176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10800" cy="9449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694" y="361578"/>
            <a:ext cx="17004612" cy="1181100"/>
            <a:chOff x="0" y="0"/>
            <a:chExt cx="22672816" cy="1574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2816" cy="1574800"/>
            </a:xfrm>
            <a:custGeom>
              <a:avLst/>
              <a:gdLst/>
              <a:ahLst/>
              <a:cxnLst/>
              <a:rect r="r" b="b" t="t" l="l"/>
              <a:pathLst>
                <a:path h="1574800" w="22672816">
                  <a:moveTo>
                    <a:pt x="121897" y="0"/>
                  </a:moveTo>
                  <a:lnTo>
                    <a:pt x="22550918" y="0"/>
                  </a:lnTo>
                  <a:cubicBezTo>
                    <a:pt x="22618240" y="0"/>
                    <a:pt x="22672816" y="70506"/>
                    <a:pt x="22672816" y="157480"/>
                  </a:cubicBezTo>
                  <a:lnTo>
                    <a:pt x="22672816" y="1417320"/>
                  </a:lnTo>
                  <a:cubicBezTo>
                    <a:pt x="22672816" y="1504294"/>
                    <a:pt x="22618240" y="1574800"/>
                    <a:pt x="22550918" y="1574800"/>
                  </a:cubicBezTo>
                  <a:lnTo>
                    <a:pt x="121897" y="1574800"/>
                  </a:lnTo>
                  <a:cubicBezTo>
                    <a:pt x="54575" y="1574800"/>
                    <a:pt x="0" y="1504294"/>
                    <a:pt x="0" y="1417320"/>
                  </a:cubicBezTo>
                  <a:lnTo>
                    <a:pt x="0" y="157480"/>
                  </a:lnTo>
                  <a:cubicBezTo>
                    <a:pt x="0" y="70506"/>
                    <a:pt x="54575" y="0"/>
                    <a:pt x="121897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2816" cy="161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85043" y="2960824"/>
            <a:ext cx="7301757" cy="685800"/>
            <a:chOff x="0" y="0"/>
            <a:chExt cx="9735676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35676" cy="914400"/>
            </a:xfrm>
            <a:custGeom>
              <a:avLst/>
              <a:gdLst/>
              <a:ahLst/>
              <a:cxnLst/>
              <a:rect r="r" b="b" t="t" l="l"/>
              <a:pathLst>
                <a:path h="914400" w="9735676">
                  <a:moveTo>
                    <a:pt x="0" y="0"/>
                  </a:moveTo>
                  <a:lnTo>
                    <a:pt x="9735676" y="0"/>
                  </a:lnTo>
                  <a:lnTo>
                    <a:pt x="9735676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ACD47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978588" y="2960824"/>
            <a:ext cx="6177074" cy="685800"/>
            <a:chOff x="0" y="0"/>
            <a:chExt cx="8236099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36100" cy="914400"/>
            </a:xfrm>
            <a:custGeom>
              <a:avLst/>
              <a:gdLst/>
              <a:ahLst/>
              <a:cxnLst/>
              <a:rect r="r" b="b" t="t" l="l"/>
              <a:pathLst>
                <a:path h="914400" w="8236100">
                  <a:moveTo>
                    <a:pt x="0" y="0"/>
                  </a:moveTo>
                  <a:lnTo>
                    <a:pt x="8236100" y="0"/>
                  </a:lnTo>
                  <a:lnTo>
                    <a:pt x="82361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974" r="-29897" b="-17797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8236099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79"/>
                </a:lnSpc>
              </a:pPr>
              <a:r>
                <a:rPr lang="en-US" sz="2649" spc="203">
                  <a:solidFill>
                    <a:srgbClr val="392D5D"/>
                  </a:solidFill>
                  <a:latin typeface="Bree Serif"/>
                  <a:ea typeface="Bree Serif"/>
                  <a:cs typeface="Bree Serif"/>
                  <a:sym typeface="Bree Serif"/>
                </a:rPr>
                <a:t>EVIDENCIAS DE AVANCE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18760" y="2960824"/>
            <a:ext cx="7635035" cy="685800"/>
            <a:chOff x="0" y="0"/>
            <a:chExt cx="10180047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80048" cy="914400"/>
            </a:xfrm>
            <a:custGeom>
              <a:avLst/>
              <a:gdLst/>
              <a:ahLst/>
              <a:cxnLst/>
              <a:rect r="r" b="b" t="t" l="l"/>
              <a:pathLst>
                <a:path h="914400" w="10180048">
                  <a:moveTo>
                    <a:pt x="0" y="0"/>
                  </a:moveTo>
                  <a:lnTo>
                    <a:pt x="10180048" y="0"/>
                  </a:lnTo>
                  <a:lnTo>
                    <a:pt x="10180048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C16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814272" y="2960824"/>
            <a:ext cx="6644010" cy="685800"/>
            <a:chOff x="0" y="0"/>
            <a:chExt cx="885868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58680" cy="914400"/>
            </a:xfrm>
            <a:custGeom>
              <a:avLst/>
              <a:gdLst/>
              <a:ahLst/>
              <a:cxnLst/>
              <a:rect r="r" b="b" t="t" l="l"/>
              <a:pathLst>
                <a:path h="914400" w="8858680">
                  <a:moveTo>
                    <a:pt x="0" y="0"/>
                  </a:moveTo>
                  <a:lnTo>
                    <a:pt x="8858680" y="0"/>
                  </a:lnTo>
                  <a:lnTo>
                    <a:pt x="8858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974" r="-20768" b="-17797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885868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79"/>
                </a:lnSpc>
              </a:pPr>
              <a:r>
                <a:rPr lang="en-US" sz="2649" spc="203">
                  <a:solidFill>
                    <a:srgbClr val="0F2E30"/>
                  </a:solidFill>
                  <a:latin typeface="Bree Serif"/>
                  <a:ea typeface="Bree Serif"/>
                  <a:cs typeface="Bree Serif"/>
                  <a:sym typeface="Bree Serif"/>
                </a:rPr>
                <a:t>EVIDENCIAS FINALES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85043" y="3989524"/>
            <a:ext cx="7301757" cy="1165860"/>
            <a:chOff x="0" y="0"/>
            <a:chExt cx="9735676" cy="1554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35676" cy="1554480"/>
            </a:xfrm>
            <a:custGeom>
              <a:avLst/>
              <a:gdLst/>
              <a:ahLst/>
              <a:cxnLst/>
              <a:rect r="r" b="b" t="t" l="l"/>
              <a:pathLst>
                <a:path h="1554480" w="9735676">
                  <a:moveTo>
                    <a:pt x="0" y="182880"/>
                  </a:moveTo>
                  <a:cubicBezTo>
                    <a:pt x="0" y="81915"/>
                    <a:pt x="74543" y="0"/>
                    <a:pt x="166422" y="0"/>
                  </a:cubicBezTo>
                  <a:lnTo>
                    <a:pt x="9569254" y="0"/>
                  </a:lnTo>
                  <a:cubicBezTo>
                    <a:pt x="9661133" y="0"/>
                    <a:pt x="9735676" y="81915"/>
                    <a:pt x="9735676" y="182880"/>
                  </a:cubicBezTo>
                  <a:lnTo>
                    <a:pt x="9735676" y="1371600"/>
                  </a:lnTo>
                  <a:cubicBezTo>
                    <a:pt x="9735676" y="1472565"/>
                    <a:pt x="9661133" y="1554480"/>
                    <a:pt x="9569254" y="1554480"/>
                  </a:cubicBezTo>
                  <a:lnTo>
                    <a:pt x="166422" y="1554480"/>
                  </a:lnTo>
                  <a:cubicBezTo>
                    <a:pt x="74543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97084" y="3989524"/>
            <a:ext cx="6740083" cy="1165860"/>
            <a:chOff x="0" y="0"/>
            <a:chExt cx="8986778" cy="1554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86777" cy="1554480"/>
            </a:xfrm>
            <a:custGeom>
              <a:avLst/>
              <a:gdLst/>
              <a:ahLst/>
              <a:cxnLst/>
              <a:rect r="r" b="b" t="t" l="l"/>
              <a:pathLst>
                <a:path h="1554480" w="8986777">
                  <a:moveTo>
                    <a:pt x="0" y="0"/>
                  </a:moveTo>
                  <a:lnTo>
                    <a:pt x="8986777" y="0"/>
                  </a:lnTo>
                  <a:lnTo>
                    <a:pt x="8986777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87" r="-9889" b="-7378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986778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2131" indent="-286066" lvl="1">
                <a:lnSpc>
                  <a:spcPts val="3179"/>
                </a:lnSpc>
                <a:buFont typeface="Arial"/>
                <a:buChar char="•"/>
              </a:pPr>
              <a:r>
                <a:rPr lang="en-US" sz="26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Documento de épicas (12) y criterios de aceptación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85043" y="5429704"/>
            <a:ext cx="7301757" cy="1165860"/>
            <a:chOff x="0" y="0"/>
            <a:chExt cx="9735676" cy="1554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35676" cy="1554480"/>
            </a:xfrm>
            <a:custGeom>
              <a:avLst/>
              <a:gdLst/>
              <a:ahLst/>
              <a:cxnLst/>
              <a:rect r="r" b="b" t="t" l="l"/>
              <a:pathLst>
                <a:path h="1554480" w="9735676">
                  <a:moveTo>
                    <a:pt x="0" y="182880"/>
                  </a:moveTo>
                  <a:cubicBezTo>
                    <a:pt x="0" y="81915"/>
                    <a:pt x="74543" y="0"/>
                    <a:pt x="166422" y="0"/>
                  </a:cubicBezTo>
                  <a:lnTo>
                    <a:pt x="9569254" y="0"/>
                  </a:lnTo>
                  <a:cubicBezTo>
                    <a:pt x="9661133" y="0"/>
                    <a:pt x="9735676" y="81915"/>
                    <a:pt x="9735676" y="182880"/>
                  </a:cubicBezTo>
                  <a:lnTo>
                    <a:pt x="9735676" y="1371600"/>
                  </a:lnTo>
                  <a:cubicBezTo>
                    <a:pt x="9735676" y="1472565"/>
                    <a:pt x="9661133" y="1554480"/>
                    <a:pt x="9569254" y="1554480"/>
                  </a:cubicBezTo>
                  <a:lnTo>
                    <a:pt x="166422" y="1554480"/>
                  </a:lnTo>
                  <a:cubicBezTo>
                    <a:pt x="74543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97084" y="5429704"/>
            <a:ext cx="6740083" cy="1165860"/>
            <a:chOff x="0" y="0"/>
            <a:chExt cx="8986778" cy="15544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986777" cy="1554480"/>
            </a:xfrm>
            <a:custGeom>
              <a:avLst/>
              <a:gdLst/>
              <a:ahLst/>
              <a:cxnLst/>
              <a:rect r="r" b="b" t="t" l="l"/>
              <a:pathLst>
                <a:path h="1554480" w="8986777">
                  <a:moveTo>
                    <a:pt x="0" y="0"/>
                  </a:moveTo>
                  <a:lnTo>
                    <a:pt x="8986777" y="0"/>
                  </a:lnTo>
                  <a:lnTo>
                    <a:pt x="8986777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87" r="-9889" b="-7378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8986778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2131" indent="-286066" lvl="1">
                <a:lnSpc>
                  <a:spcPts val="3179"/>
                </a:lnSpc>
                <a:buFont typeface="Arial"/>
                <a:buChar char="•"/>
              </a:pPr>
              <a:r>
                <a:rPr lang="en-US" sz="26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Planificación de Poker Planning (78 PF)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85043" y="6869884"/>
            <a:ext cx="7301757" cy="1165860"/>
            <a:chOff x="0" y="0"/>
            <a:chExt cx="9735676" cy="1554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35676" cy="1554480"/>
            </a:xfrm>
            <a:custGeom>
              <a:avLst/>
              <a:gdLst/>
              <a:ahLst/>
              <a:cxnLst/>
              <a:rect r="r" b="b" t="t" l="l"/>
              <a:pathLst>
                <a:path h="1554480" w="9735676">
                  <a:moveTo>
                    <a:pt x="0" y="182880"/>
                  </a:moveTo>
                  <a:cubicBezTo>
                    <a:pt x="0" y="81915"/>
                    <a:pt x="74543" y="0"/>
                    <a:pt x="166422" y="0"/>
                  </a:cubicBezTo>
                  <a:lnTo>
                    <a:pt x="9569254" y="0"/>
                  </a:lnTo>
                  <a:cubicBezTo>
                    <a:pt x="9661133" y="0"/>
                    <a:pt x="9735676" y="81915"/>
                    <a:pt x="9735676" y="182880"/>
                  </a:cubicBezTo>
                  <a:lnTo>
                    <a:pt x="9735676" y="1371600"/>
                  </a:lnTo>
                  <a:cubicBezTo>
                    <a:pt x="9735676" y="1472565"/>
                    <a:pt x="9661133" y="1554480"/>
                    <a:pt x="9569254" y="1554480"/>
                  </a:cubicBezTo>
                  <a:lnTo>
                    <a:pt x="166422" y="1554480"/>
                  </a:lnTo>
                  <a:cubicBezTo>
                    <a:pt x="74543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97084" y="6869884"/>
            <a:ext cx="6740083" cy="1165860"/>
            <a:chOff x="0" y="0"/>
            <a:chExt cx="8986778" cy="15544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986777" cy="1554480"/>
            </a:xfrm>
            <a:custGeom>
              <a:avLst/>
              <a:gdLst/>
              <a:ahLst/>
              <a:cxnLst/>
              <a:rect r="r" b="b" t="t" l="l"/>
              <a:pathLst>
                <a:path h="1554480" w="8986777">
                  <a:moveTo>
                    <a:pt x="0" y="0"/>
                  </a:moveTo>
                  <a:lnTo>
                    <a:pt x="8986777" y="0"/>
                  </a:lnTo>
                  <a:lnTo>
                    <a:pt x="8986777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87" r="-9889" b="-7378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8986778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2131" indent="-286066" lvl="1">
                <a:lnSpc>
                  <a:spcPts val="3179"/>
                </a:lnSpc>
                <a:buFont typeface="Arial"/>
                <a:buChar char="•"/>
              </a:pPr>
              <a:r>
                <a:rPr lang="en-US" sz="26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Prototipo navegable / mockups de la app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18760" y="3989524"/>
            <a:ext cx="7635035" cy="1165860"/>
            <a:chOff x="0" y="0"/>
            <a:chExt cx="10180047" cy="15544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80048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180048">
                  <a:moveTo>
                    <a:pt x="0" y="182880"/>
                  </a:moveTo>
                  <a:cubicBezTo>
                    <a:pt x="0" y="81915"/>
                    <a:pt x="77946" y="0"/>
                    <a:pt x="174018" y="0"/>
                  </a:cubicBezTo>
                  <a:lnTo>
                    <a:pt x="10006029" y="0"/>
                  </a:lnTo>
                  <a:cubicBezTo>
                    <a:pt x="10102102" y="0"/>
                    <a:pt x="10180048" y="81915"/>
                    <a:pt x="10180048" y="182880"/>
                  </a:cubicBezTo>
                  <a:lnTo>
                    <a:pt x="10180048" y="1371600"/>
                  </a:lnTo>
                  <a:cubicBezTo>
                    <a:pt x="10180048" y="1472565"/>
                    <a:pt x="10102102" y="1554480"/>
                    <a:pt x="10006029" y="1554480"/>
                  </a:cubicBezTo>
                  <a:lnTo>
                    <a:pt x="174018" y="1554480"/>
                  </a:lnTo>
                  <a:cubicBezTo>
                    <a:pt x="77946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45043" y="3989524"/>
            <a:ext cx="7047725" cy="1165860"/>
            <a:chOff x="0" y="0"/>
            <a:chExt cx="9396966" cy="15544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396966" cy="1554480"/>
            </a:xfrm>
            <a:custGeom>
              <a:avLst/>
              <a:gdLst/>
              <a:ahLst/>
              <a:cxnLst/>
              <a:rect r="r" b="b" t="t" l="l"/>
              <a:pathLst>
                <a:path h="1554480" w="9396966">
                  <a:moveTo>
                    <a:pt x="0" y="0"/>
                  </a:moveTo>
                  <a:lnTo>
                    <a:pt x="9396966" y="0"/>
                  </a:lnTo>
                  <a:lnTo>
                    <a:pt x="9396966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87" r="-5092" b="-737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396966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2131" indent="-286066" lvl="1">
                <a:lnSpc>
                  <a:spcPts val="3179"/>
                </a:lnSpc>
                <a:buFont typeface="Arial"/>
                <a:buChar char="•"/>
              </a:pPr>
              <a:r>
                <a:rPr lang="en-US" sz="26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Aplicación funcional Tally (MVP)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18760" y="5429704"/>
            <a:ext cx="7635035" cy="1165860"/>
            <a:chOff x="0" y="0"/>
            <a:chExt cx="10180047" cy="15544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180048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180048">
                  <a:moveTo>
                    <a:pt x="0" y="182880"/>
                  </a:moveTo>
                  <a:cubicBezTo>
                    <a:pt x="0" y="81915"/>
                    <a:pt x="77946" y="0"/>
                    <a:pt x="174018" y="0"/>
                  </a:cubicBezTo>
                  <a:lnTo>
                    <a:pt x="10006029" y="0"/>
                  </a:lnTo>
                  <a:cubicBezTo>
                    <a:pt x="10102102" y="0"/>
                    <a:pt x="10180048" y="81915"/>
                    <a:pt x="10180048" y="182880"/>
                  </a:cubicBezTo>
                  <a:lnTo>
                    <a:pt x="10180048" y="1371600"/>
                  </a:lnTo>
                  <a:cubicBezTo>
                    <a:pt x="10180048" y="1472565"/>
                    <a:pt x="10102102" y="1554480"/>
                    <a:pt x="10006029" y="1554480"/>
                  </a:cubicBezTo>
                  <a:lnTo>
                    <a:pt x="174018" y="1554480"/>
                  </a:lnTo>
                  <a:cubicBezTo>
                    <a:pt x="77946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645043" y="5429704"/>
            <a:ext cx="7047725" cy="1165860"/>
            <a:chOff x="0" y="0"/>
            <a:chExt cx="9396966" cy="1554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396966" cy="1554480"/>
            </a:xfrm>
            <a:custGeom>
              <a:avLst/>
              <a:gdLst/>
              <a:ahLst/>
              <a:cxnLst/>
              <a:rect r="r" b="b" t="t" l="l"/>
              <a:pathLst>
                <a:path h="1554480" w="9396966">
                  <a:moveTo>
                    <a:pt x="0" y="0"/>
                  </a:moveTo>
                  <a:lnTo>
                    <a:pt x="9396966" y="0"/>
                  </a:lnTo>
                  <a:lnTo>
                    <a:pt x="9396966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87" r="-5092" b="-7378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9396966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2131" indent="-286066" lvl="1">
                <a:lnSpc>
                  <a:spcPts val="3179"/>
                </a:lnSpc>
                <a:buFont typeface="Arial"/>
                <a:buChar char="•"/>
              </a:pPr>
              <a:r>
                <a:rPr lang="en-US" sz="26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de usuario y respaldo de base de datos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972900" y="457654"/>
            <a:ext cx="1005689" cy="1010743"/>
          </a:xfrm>
          <a:custGeom>
            <a:avLst/>
            <a:gdLst/>
            <a:ahLst/>
            <a:cxnLst/>
            <a:rect r="r" b="b" t="t" l="l"/>
            <a:pathLst>
              <a:path h="1010743" w="1005689">
                <a:moveTo>
                  <a:pt x="0" y="0"/>
                </a:moveTo>
                <a:lnTo>
                  <a:pt x="1005688" y="0"/>
                </a:lnTo>
                <a:lnTo>
                  <a:pt x="1005688" y="1010742"/>
                </a:lnTo>
                <a:lnTo>
                  <a:pt x="0" y="10107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2476500" y="12347"/>
            <a:ext cx="13335000" cy="169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D7FFB8"/>
                </a:solidFill>
                <a:latin typeface="Bree Serif"/>
                <a:ea typeface="Bree Serif"/>
                <a:cs typeface="Bree Serif"/>
                <a:sym typeface="Bree Serif"/>
              </a:rPr>
              <a:t>Evidencias</a:t>
            </a:r>
          </a:p>
        </p:txBody>
      </p:sp>
      <p:sp>
        <p:nvSpPr>
          <p:cNvPr name="AutoShape 45" id="45"/>
          <p:cNvSpPr/>
          <p:nvPr/>
        </p:nvSpPr>
        <p:spPr>
          <a:xfrm flipV="true">
            <a:off x="2249716" y="9886037"/>
            <a:ext cx="15158575" cy="0"/>
          </a:xfrm>
          <a:prstGeom prst="line">
            <a:avLst/>
          </a:prstGeom>
          <a:ln cap="flat" w="9525">
            <a:solidFill>
              <a:srgbClr val="D7FFB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167377" y="9680297"/>
            <a:ext cx="1498752" cy="411480"/>
            <a:chOff x="0" y="0"/>
            <a:chExt cx="1998335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98335" cy="548640"/>
            </a:xfrm>
            <a:custGeom>
              <a:avLst/>
              <a:gdLst/>
              <a:ahLst/>
              <a:cxnLst/>
              <a:rect r="r" b="b" t="t" l="l"/>
              <a:pathLst>
                <a:path h="548640" w="1998335">
                  <a:moveTo>
                    <a:pt x="0" y="0"/>
                  </a:moveTo>
                  <a:lnTo>
                    <a:pt x="1998335" y="0"/>
                  </a:lnTo>
                  <a:lnTo>
                    <a:pt x="1998335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-449097" b="-33970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998335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539918" y="9563548"/>
            <a:ext cx="709798" cy="575379"/>
            <a:chOff x="0" y="0"/>
            <a:chExt cx="946398" cy="767173"/>
          </a:xfrm>
        </p:grpSpPr>
        <p:sp>
          <p:nvSpPr>
            <p:cNvPr name="TextBox 50" id="50"/>
            <p:cNvSpPr txBox="true"/>
            <p:nvPr/>
          </p:nvSpPr>
          <p:spPr>
            <a:xfrm rot="0">
              <a:off x="0" y="129627"/>
              <a:ext cx="946398" cy="558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29"/>
                </a:lnSpc>
                <a:spcBef>
                  <a:spcPct val="0"/>
                </a:spcBef>
              </a:pPr>
              <a:r>
                <a:rPr lang="en-US" sz="2521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ally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46856" y="-66675"/>
              <a:ext cx="218347" cy="833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287"/>
                </a:lnSpc>
                <a:spcBef>
                  <a:spcPct val="0"/>
                </a:spcBef>
              </a:pPr>
              <a:r>
                <a:rPr lang="en-US" sz="3777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6801" y="1650714"/>
            <a:ext cx="17294397" cy="7773901"/>
            <a:chOff x="0" y="0"/>
            <a:chExt cx="23059196" cy="103652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59196" cy="10365201"/>
            </a:xfrm>
            <a:custGeom>
              <a:avLst/>
              <a:gdLst/>
              <a:ahLst/>
              <a:cxnLst/>
              <a:rect r="r" b="b" t="t" l="l"/>
              <a:pathLst>
                <a:path h="10365201" w="23059196">
                  <a:moveTo>
                    <a:pt x="123974" y="0"/>
                  </a:moveTo>
                  <a:lnTo>
                    <a:pt x="22935222" y="0"/>
                  </a:lnTo>
                  <a:cubicBezTo>
                    <a:pt x="23003690" y="0"/>
                    <a:pt x="23059196" y="464066"/>
                    <a:pt x="23059196" y="1036520"/>
                  </a:cubicBezTo>
                  <a:lnTo>
                    <a:pt x="23059196" y="9328681"/>
                  </a:lnTo>
                  <a:cubicBezTo>
                    <a:pt x="23059196" y="9901136"/>
                    <a:pt x="23003690" y="10365201"/>
                    <a:pt x="22935222" y="10365201"/>
                  </a:cubicBezTo>
                  <a:lnTo>
                    <a:pt x="123974" y="10365201"/>
                  </a:lnTo>
                  <a:cubicBezTo>
                    <a:pt x="55505" y="10365201"/>
                    <a:pt x="0" y="9901136"/>
                    <a:pt x="0" y="9328681"/>
                  </a:cubicBezTo>
                  <a:lnTo>
                    <a:pt x="0" y="1036520"/>
                  </a:lnTo>
                  <a:cubicBezTo>
                    <a:pt x="0" y="464066"/>
                    <a:pt x="55505" y="0"/>
                    <a:pt x="123974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059196" cy="1040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6801" y="234095"/>
            <a:ext cx="17294397" cy="1292794"/>
            <a:chOff x="0" y="0"/>
            <a:chExt cx="23059196" cy="172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059196" cy="1723725"/>
            </a:xfrm>
            <a:custGeom>
              <a:avLst/>
              <a:gdLst/>
              <a:ahLst/>
              <a:cxnLst/>
              <a:rect r="r" b="b" t="t" l="l"/>
              <a:pathLst>
                <a:path h="1723725" w="23059196">
                  <a:moveTo>
                    <a:pt x="123974" y="0"/>
                  </a:moveTo>
                  <a:lnTo>
                    <a:pt x="22935222" y="0"/>
                  </a:lnTo>
                  <a:cubicBezTo>
                    <a:pt x="23003690" y="0"/>
                    <a:pt x="23059196" y="77174"/>
                    <a:pt x="23059196" y="172373"/>
                  </a:cubicBezTo>
                  <a:lnTo>
                    <a:pt x="23059196" y="1551353"/>
                  </a:lnTo>
                  <a:cubicBezTo>
                    <a:pt x="23059196" y="1646551"/>
                    <a:pt x="23003690" y="1723725"/>
                    <a:pt x="22935222" y="1723725"/>
                  </a:cubicBezTo>
                  <a:lnTo>
                    <a:pt x="123974" y="1723725"/>
                  </a:lnTo>
                  <a:cubicBezTo>
                    <a:pt x="55505" y="1723725"/>
                    <a:pt x="0" y="1646551"/>
                    <a:pt x="0" y="1551353"/>
                  </a:cubicBezTo>
                  <a:lnTo>
                    <a:pt x="0" y="172373"/>
                  </a:lnTo>
                  <a:cubicBezTo>
                    <a:pt x="0" y="77174"/>
                    <a:pt x="55505" y="0"/>
                    <a:pt x="123974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059196" cy="176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9769" y="1888620"/>
            <a:ext cx="16637508" cy="595945"/>
            <a:chOff x="0" y="0"/>
            <a:chExt cx="22183344" cy="7945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3344" cy="794593"/>
            </a:xfrm>
            <a:custGeom>
              <a:avLst/>
              <a:gdLst/>
              <a:ahLst/>
              <a:cxnLst/>
              <a:rect r="r" b="b" t="t" l="l"/>
              <a:pathLst>
                <a:path h="794593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794593"/>
                  </a:lnTo>
                  <a:lnTo>
                    <a:pt x="0" y="7945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7949" r="0" b="-49001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183344" cy="794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59"/>
                </a:lnSpc>
              </a:pPr>
              <a:r>
                <a:rPr lang="en-US" sz="3049">
                  <a:solidFill>
                    <a:srgbClr val="D7FFB8"/>
                  </a:solidFill>
                  <a:latin typeface="Bree Serif"/>
                  <a:ea typeface="Bree Serif"/>
                  <a:cs typeface="Bree Serif"/>
                  <a:sym typeface="Bree Serif"/>
                </a:rPr>
                <a:t>Carta Gantt — Fase 1 a Fase 2 (Semanas 1 a 14)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825054" y="2685129"/>
            <a:ext cx="803367" cy="531943"/>
            <a:chOff x="0" y="0"/>
            <a:chExt cx="1071156" cy="709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28421" y="2685129"/>
            <a:ext cx="803367" cy="531943"/>
            <a:chOff x="0" y="0"/>
            <a:chExt cx="1071156" cy="7092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431788" y="2685129"/>
            <a:ext cx="803367" cy="531943"/>
            <a:chOff x="0" y="0"/>
            <a:chExt cx="1071156" cy="7092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35155" y="2685129"/>
            <a:ext cx="803367" cy="531943"/>
            <a:chOff x="0" y="0"/>
            <a:chExt cx="1071156" cy="7092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38513" y="2685129"/>
            <a:ext cx="803367" cy="531943"/>
            <a:chOff x="0" y="0"/>
            <a:chExt cx="1071156" cy="7092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841880" y="2685129"/>
            <a:ext cx="803367" cy="531943"/>
            <a:chOff x="0" y="0"/>
            <a:chExt cx="1071156" cy="70925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645247" y="2685129"/>
            <a:ext cx="803367" cy="531943"/>
            <a:chOff x="0" y="0"/>
            <a:chExt cx="1071156" cy="70925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448614" y="2685129"/>
            <a:ext cx="803367" cy="531943"/>
            <a:chOff x="0" y="0"/>
            <a:chExt cx="1071156" cy="7092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251981" y="2685129"/>
            <a:ext cx="803367" cy="531943"/>
            <a:chOff x="0" y="0"/>
            <a:chExt cx="1071156" cy="70925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055348" y="2685129"/>
            <a:ext cx="803367" cy="531943"/>
            <a:chOff x="0" y="0"/>
            <a:chExt cx="1071156" cy="70925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858715" y="2685129"/>
            <a:ext cx="803367" cy="531943"/>
            <a:chOff x="0" y="0"/>
            <a:chExt cx="1071156" cy="70925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662073" y="2685129"/>
            <a:ext cx="803367" cy="531943"/>
            <a:chOff x="0" y="0"/>
            <a:chExt cx="1071156" cy="70925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5465440" y="2685129"/>
            <a:ext cx="803367" cy="531943"/>
            <a:chOff x="0" y="0"/>
            <a:chExt cx="1071156" cy="70925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268807" y="2685129"/>
            <a:ext cx="803367" cy="531943"/>
            <a:chOff x="0" y="0"/>
            <a:chExt cx="1071156" cy="70925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71154" cy="709257"/>
            </a:xfrm>
            <a:custGeom>
              <a:avLst/>
              <a:gdLst/>
              <a:ahLst/>
              <a:cxnLst/>
              <a:rect r="r" b="b" t="t" l="l"/>
              <a:pathLst>
                <a:path h="709257" w="1071154">
                  <a:moveTo>
                    <a:pt x="0" y="0"/>
                  </a:moveTo>
                  <a:lnTo>
                    <a:pt x="1071154" y="0"/>
                  </a:lnTo>
                  <a:lnTo>
                    <a:pt x="1071154" y="709257"/>
                  </a:lnTo>
                  <a:lnTo>
                    <a:pt x="0" y="7092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35" t="0" r="-11335" b="2780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1071156" cy="76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09"/>
                </a:lnSpc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10501" y="3066990"/>
            <a:ext cx="5417820" cy="603504"/>
            <a:chOff x="0" y="0"/>
            <a:chExt cx="7223760" cy="80467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223760" cy="804672"/>
            </a:xfrm>
            <a:custGeom>
              <a:avLst/>
              <a:gdLst/>
              <a:ahLst/>
              <a:cxnLst/>
              <a:rect r="r" b="b" t="t" l="l"/>
              <a:pathLst>
                <a:path h="804672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922" r="0" b="-12492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7223760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7527" indent="-288763" lvl="1">
                <a:lnSpc>
                  <a:spcPts val="3209"/>
                </a:lnSpc>
                <a:buFont typeface="Arial"/>
                <a:buChar char="•"/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Épicas y criterios de aceptación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825054" y="3192621"/>
            <a:ext cx="11247120" cy="411480"/>
            <a:chOff x="0" y="0"/>
            <a:chExt cx="1499616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996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5825054" y="3192621"/>
            <a:ext cx="1606734" cy="411480"/>
            <a:chOff x="0" y="0"/>
            <a:chExt cx="2142312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42363" cy="548640"/>
            </a:xfrm>
            <a:custGeom>
              <a:avLst/>
              <a:gdLst/>
              <a:ahLst/>
              <a:cxnLst/>
              <a:rect r="r" b="b" t="t" l="l"/>
              <a:pathLst>
                <a:path h="548640" w="2142363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87499" y="0"/>
                  </a:lnTo>
                  <a:cubicBezTo>
                    <a:pt x="2117852" y="0"/>
                    <a:pt x="2142363" y="24511"/>
                    <a:pt x="2142363" y="54864"/>
                  </a:cubicBezTo>
                  <a:lnTo>
                    <a:pt x="2142363" y="493776"/>
                  </a:lnTo>
                  <a:cubicBezTo>
                    <a:pt x="2142363" y="524129"/>
                    <a:pt x="2117852" y="548640"/>
                    <a:pt x="2087499" y="548640"/>
                  </a:cubicBezTo>
                  <a:lnTo>
                    <a:pt x="54864" y="548640"/>
                  </a:lnTo>
                  <a:cubicBezTo>
                    <a:pt x="24511" y="548640"/>
                    <a:pt x="0" y="524129"/>
                    <a:pt x="0" y="493776"/>
                  </a:cubicBezTo>
                  <a:close/>
                </a:path>
              </a:pathLst>
            </a:custGeom>
            <a:solidFill>
              <a:srgbClr val="44C0C5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410501" y="3670494"/>
            <a:ext cx="5417820" cy="603504"/>
            <a:chOff x="0" y="0"/>
            <a:chExt cx="7223760" cy="80467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223760" cy="804672"/>
            </a:xfrm>
            <a:custGeom>
              <a:avLst/>
              <a:gdLst/>
              <a:ahLst/>
              <a:cxnLst/>
              <a:rect r="r" b="b" t="t" l="l"/>
              <a:pathLst>
                <a:path h="804672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922" r="0" b="-12492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7223760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7527" indent="-288763" lvl="1">
                <a:lnSpc>
                  <a:spcPts val="3209"/>
                </a:lnSpc>
                <a:buFont typeface="Arial"/>
                <a:buChar char="•"/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Poker Planning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825054" y="3796125"/>
            <a:ext cx="11247120" cy="411480"/>
            <a:chOff x="0" y="0"/>
            <a:chExt cx="14996160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996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431788" y="3796125"/>
            <a:ext cx="1606734" cy="411480"/>
            <a:chOff x="0" y="0"/>
            <a:chExt cx="2142312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42363" cy="548640"/>
            </a:xfrm>
            <a:custGeom>
              <a:avLst/>
              <a:gdLst/>
              <a:ahLst/>
              <a:cxnLst/>
              <a:rect r="r" b="b" t="t" l="l"/>
              <a:pathLst>
                <a:path h="548640" w="2142363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87499" y="0"/>
                  </a:lnTo>
                  <a:cubicBezTo>
                    <a:pt x="2117852" y="0"/>
                    <a:pt x="2142363" y="24511"/>
                    <a:pt x="2142363" y="54864"/>
                  </a:cubicBezTo>
                  <a:lnTo>
                    <a:pt x="2142363" y="493776"/>
                  </a:lnTo>
                  <a:cubicBezTo>
                    <a:pt x="2142363" y="524129"/>
                    <a:pt x="2117852" y="548640"/>
                    <a:pt x="2087499" y="548640"/>
                  </a:cubicBezTo>
                  <a:lnTo>
                    <a:pt x="54864" y="548640"/>
                  </a:lnTo>
                  <a:cubicBezTo>
                    <a:pt x="24511" y="548640"/>
                    <a:pt x="0" y="524129"/>
                    <a:pt x="0" y="493776"/>
                  </a:cubicBezTo>
                  <a:close/>
                </a:path>
              </a:pathLst>
            </a:custGeom>
            <a:solidFill>
              <a:srgbClr val="A4CD6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410501" y="4273998"/>
            <a:ext cx="5417820" cy="603504"/>
            <a:chOff x="0" y="0"/>
            <a:chExt cx="7223760" cy="80467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223760" cy="804672"/>
            </a:xfrm>
            <a:custGeom>
              <a:avLst/>
              <a:gdLst/>
              <a:ahLst/>
              <a:cxnLst/>
              <a:rect r="r" b="b" t="t" l="l"/>
              <a:pathLst>
                <a:path h="804672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922" r="0" b="-12492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7223760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7527" indent="-288763" lvl="1">
                <a:lnSpc>
                  <a:spcPts val="3209"/>
                </a:lnSpc>
                <a:buFont typeface="Arial"/>
                <a:buChar char="•"/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Activación / login / recuperación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825054" y="4399629"/>
            <a:ext cx="11247120" cy="411480"/>
            <a:chOff x="0" y="0"/>
            <a:chExt cx="14996160" cy="548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996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038513" y="4399629"/>
            <a:ext cx="2410101" cy="411480"/>
            <a:chOff x="0" y="0"/>
            <a:chExt cx="3213468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213481" cy="548640"/>
            </a:xfrm>
            <a:custGeom>
              <a:avLst/>
              <a:gdLst/>
              <a:ahLst/>
              <a:cxnLst/>
              <a:rect r="r" b="b" t="t" l="l"/>
              <a:pathLst>
                <a:path h="548640" w="3213481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3158617" y="0"/>
                  </a:lnTo>
                  <a:cubicBezTo>
                    <a:pt x="3188970" y="0"/>
                    <a:pt x="3213481" y="24511"/>
                    <a:pt x="3213481" y="54864"/>
                  </a:cubicBezTo>
                  <a:lnTo>
                    <a:pt x="3213481" y="493776"/>
                  </a:lnTo>
                  <a:cubicBezTo>
                    <a:pt x="3213481" y="524129"/>
                    <a:pt x="3188970" y="548640"/>
                    <a:pt x="3158617" y="548640"/>
                  </a:cubicBezTo>
                  <a:lnTo>
                    <a:pt x="54864" y="548640"/>
                  </a:lnTo>
                  <a:cubicBezTo>
                    <a:pt x="24511" y="548640"/>
                    <a:pt x="0" y="524129"/>
                    <a:pt x="0" y="493776"/>
                  </a:cubicBezTo>
                  <a:close/>
                </a:path>
              </a:pathLst>
            </a:custGeom>
            <a:solidFill>
              <a:srgbClr val="FFC16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410501" y="4877502"/>
            <a:ext cx="5417820" cy="603504"/>
            <a:chOff x="0" y="0"/>
            <a:chExt cx="7223760" cy="80467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223760" cy="804672"/>
            </a:xfrm>
            <a:custGeom>
              <a:avLst/>
              <a:gdLst/>
              <a:ahLst/>
              <a:cxnLst/>
              <a:rect r="r" b="b" t="t" l="l"/>
              <a:pathLst>
                <a:path h="804672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922" r="0" b="-12492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7223760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7527" indent="-288763" lvl="1">
                <a:lnSpc>
                  <a:spcPts val="3209"/>
                </a:lnSpc>
                <a:buFont typeface="Arial"/>
                <a:buChar char="•"/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Categorías y movimientos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825054" y="5003133"/>
            <a:ext cx="11247120" cy="411480"/>
            <a:chOff x="0" y="0"/>
            <a:chExt cx="14996160" cy="5486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4996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0645247" y="5003133"/>
            <a:ext cx="1606734" cy="411480"/>
            <a:chOff x="0" y="0"/>
            <a:chExt cx="2142312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142363" cy="548640"/>
            </a:xfrm>
            <a:custGeom>
              <a:avLst/>
              <a:gdLst/>
              <a:ahLst/>
              <a:cxnLst/>
              <a:rect r="r" b="b" t="t" l="l"/>
              <a:pathLst>
                <a:path h="548640" w="2142363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87499" y="0"/>
                  </a:lnTo>
                  <a:cubicBezTo>
                    <a:pt x="2117852" y="0"/>
                    <a:pt x="2142363" y="24511"/>
                    <a:pt x="2142363" y="54864"/>
                  </a:cubicBezTo>
                  <a:lnTo>
                    <a:pt x="2142363" y="493776"/>
                  </a:lnTo>
                  <a:cubicBezTo>
                    <a:pt x="2142363" y="524129"/>
                    <a:pt x="2117852" y="548640"/>
                    <a:pt x="2087499" y="548640"/>
                  </a:cubicBezTo>
                  <a:lnTo>
                    <a:pt x="54864" y="548640"/>
                  </a:lnTo>
                  <a:cubicBezTo>
                    <a:pt x="24511" y="548640"/>
                    <a:pt x="0" y="524129"/>
                    <a:pt x="0" y="493776"/>
                  </a:cubicBezTo>
                  <a:close/>
                </a:path>
              </a:pathLst>
            </a:custGeom>
            <a:solidFill>
              <a:srgbClr val="44C0C5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410501" y="5481006"/>
            <a:ext cx="5417820" cy="603504"/>
            <a:chOff x="0" y="0"/>
            <a:chExt cx="7223760" cy="80467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223760" cy="804672"/>
            </a:xfrm>
            <a:custGeom>
              <a:avLst/>
              <a:gdLst/>
              <a:ahLst/>
              <a:cxnLst/>
              <a:rect r="r" b="b" t="t" l="l"/>
              <a:pathLst>
                <a:path h="804672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922" r="0" b="-12492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7223760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7527" indent="-288763" lvl="1">
                <a:lnSpc>
                  <a:spcPts val="3209"/>
                </a:lnSpc>
                <a:buFont typeface="Arial"/>
                <a:buChar char="•"/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Listado y exportación Excel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5825054" y="5606637"/>
            <a:ext cx="11247120" cy="411480"/>
            <a:chOff x="0" y="0"/>
            <a:chExt cx="14996160" cy="5486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4996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1448614" y="5606637"/>
            <a:ext cx="1606734" cy="411480"/>
            <a:chOff x="0" y="0"/>
            <a:chExt cx="2142312" cy="5486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142363" cy="548640"/>
            </a:xfrm>
            <a:custGeom>
              <a:avLst/>
              <a:gdLst/>
              <a:ahLst/>
              <a:cxnLst/>
              <a:rect r="r" b="b" t="t" l="l"/>
              <a:pathLst>
                <a:path h="548640" w="2142363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87499" y="0"/>
                  </a:lnTo>
                  <a:cubicBezTo>
                    <a:pt x="2117852" y="0"/>
                    <a:pt x="2142363" y="24511"/>
                    <a:pt x="2142363" y="54864"/>
                  </a:cubicBezTo>
                  <a:lnTo>
                    <a:pt x="2142363" y="493776"/>
                  </a:lnTo>
                  <a:cubicBezTo>
                    <a:pt x="2142363" y="524129"/>
                    <a:pt x="2117852" y="548640"/>
                    <a:pt x="2087499" y="548640"/>
                  </a:cubicBezTo>
                  <a:lnTo>
                    <a:pt x="54864" y="548640"/>
                  </a:lnTo>
                  <a:cubicBezTo>
                    <a:pt x="24511" y="548640"/>
                    <a:pt x="0" y="524129"/>
                    <a:pt x="0" y="493776"/>
                  </a:cubicBezTo>
                  <a:close/>
                </a:path>
              </a:pathLst>
            </a:custGeom>
            <a:solidFill>
              <a:srgbClr val="A4CD6F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410501" y="6084510"/>
            <a:ext cx="5417820" cy="603504"/>
            <a:chOff x="0" y="0"/>
            <a:chExt cx="7223760" cy="80467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223760" cy="804672"/>
            </a:xfrm>
            <a:custGeom>
              <a:avLst/>
              <a:gdLst/>
              <a:ahLst/>
              <a:cxnLst/>
              <a:rect r="r" b="b" t="t" l="l"/>
              <a:pathLst>
                <a:path h="804672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922" r="0" b="-124922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7223760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7527" indent="-288763" lvl="1">
                <a:lnSpc>
                  <a:spcPts val="3209"/>
                </a:lnSpc>
                <a:buFont typeface="Arial"/>
                <a:buChar char="•"/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financiero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5825054" y="6210141"/>
            <a:ext cx="11247120" cy="411480"/>
            <a:chOff x="0" y="0"/>
            <a:chExt cx="14996160" cy="5486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4996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2251981" y="6210141"/>
            <a:ext cx="2410101" cy="411480"/>
            <a:chOff x="0" y="0"/>
            <a:chExt cx="3213468" cy="5486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213481" cy="548640"/>
            </a:xfrm>
            <a:custGeom>
              <a:avLst/>
              <a:gdLst/>
              <a:ahLst/>
              <a:cxnLst/>
              <a:rect r="r" b="b" t="t" l="l"/>
              <a:pathLst>
                <a:path h="548640" w="3213481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3158617" y="0"/>
                  </a:lnTo>
                  <a:cubicBezTo>
                    <a:pt x="3188970" y="0"/>
                    <a:pt x="3213481" y="24511"/>
                    <a:pt x="3213481" y="54864"/>
                  </a:cubicBezTo>
                  <a:lnTo>
                    <a:pt x="3213481" y="493776"/>
                  </a:lnTo>
                  <a:cubicBezTo>
                    <a:pt x="3213481" y="524129"/>
                    <a:pt x="3188970" y="548640"/>
                    <a:pt x="3158617" y="548640"/>
                  </a:cubicBezTo>
                  <a:lnTo>
                    <a:pt x="54864" y="548640"/>
                  </a:lnTo>
                  <a:cubicBezTo>
                    <a:pt x="24511" y="548640"/>
                    <a:pt x="0" y="524129"/>
                    <a:pt x="0" y="493776"/>
                  </a:cubicBezTo>
                  <a:close/>
                </a:path>
              </a:pathLst>
            </a:custGeom>
            <a:solidFill>
              <a:srgbClr val="FFC160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410501" y="6688014"/>
            <a:ext cx="5417820" cy="603504"/>
            <a:chOff x="0" y="0"/>
            <a:chExt cx="7223760" cy="80467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223760" cy="804672"/>
            </a:xfrm>
            <a:custGeom>
              <a:avLst/>
              <a:gdLst/>
              <a:ahLst/>
              <a:cxnLst/>
              <a:rect r="r" b="b" t="t" l="l"/>
              <a:pathLst>
                <a:path h="804672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922" r="0" b="-12492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57150"/>
              <a:ext cx="7223760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7527" indent="-288763" lvl="1">
                <a:lnSpc>
                  <a:spcPts val="3209"/>
                </a:lnSpc>
                <a:buFont typeface="Arial"/>
                <a:buChar char="•"/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Activación municipal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5825054" y="6813645"/>
            <a:ext cx="11247120" cy="411480"/>
            <a:chOff x="0" y="0"/>
            <a:chExt cx="14996160" cy="5486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4996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3055348" y="6813645"/>
            <a:ext cx="1606734" cy="411480"/>
            <a:chOff x="0" y="0"/>
            <a:chExt cx="2142312" cy="5486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142363" cy="548640"/>
            </a:xfrm>
            <a:custGeom>
              <a:avLst/>
              <a:gdLst/>
              <a:ahLst/>
              <a:cxnLst/>
              <a:rect r="r" b="b" t="t" l="l"/>
              <a:pathLst>
                <a:path h="548640" w="2142363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87499" y="0"/>
                  </a:lnTo>
                  <a:cubicBezTo>
                    <a:pt x="2117852" y="0"/>
                    <a:pt x="2142363" y="24511"/>
                    <a:pt x="2142363" y="54864"/>
                  </a:cubicBezTo>
                  <a:lnTo>
                    <a:pt x="2142363" y="493776"/>
                  </a:lnTo>
                  <a:cubicBezTo>
                    <a:pt x="2142363" y="524129"/>
                    <a:pt x="2117852" y="548640"/>
                    <a:pt x="2087499" y="548640"/>
                  </a:cubicBezTo>
                  <a:lnTo>
                    <a:pt x="54864" y="548640"/>
                  </a:lnTo>
                  <a:cubicBezTo>
                    <a:pt x="24511" y="548640"/>
                    <a:pt x="0" y="524129"/>
                    <a:pt x="0" y="493776"/>
                  </a:cubicBezTo>
                  <a:close/>
                </a:path>
              </a:pathLst>
            </a:custGeom>
            <a:solidFill>
              <a:srgbClr val="44C0C5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410501" y="7291518"/>
            <a:ext cx="5417820" cy="603504"/>
            <a:chOff x="0" y="0"/>
            <a:chExt cx="7223760" cy="80467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223760" cy="804672"/>
            </a:xfrm>
            <a:custGeom>
              <a:avLst/>
              <a:gdLst/>
              <a:ahLst/>
              <a:cxnLst/>
              <a:rect r="r" b="b" t="t" l="l"/>
              <a:pathLst>
                <a:path h="804672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922" r="0" b="-124922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57150"/>
              <a:ext cx="7223760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7527" indent="-288763" lvl="1">
                <a:lnSpc>
                  <a:spcPts val="3209"/>
                </a:lnSpc>
                <a:buFont typeface="Arial"/>
                <a:buChar char="•"/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Meta de venta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825054" y="7417149"/>
            <a:ext cx="11247120" cy="411480"/>
            <a:chOff x="0" y="0"/>
            <a:chExt cx="14996160" cy="54864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4996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3858715" y="7417149"/>
            <a:ext cx="1606734" cy="411480"/>
            <a:chOff x="0" y="0"/>
            <a:chExt cx="2142312" cy="5486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142363" cy="548640"/>
            </a:xfrm>
            <a:custGeom>
              <a:avLst/>
              <a:gdLst/>
              <a:ahLst/>
              <a:cxnLst/>
              <a:rect r="r" b="b" t="t" l="l"/>
              <a:pathLst>
                <a:path h="548640" w="2142363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87499" y="0"/>
                  </a:lnTo>
                  <a:cubicBezTo>
                    <a:pt x="2117852" y="0"/>
                    <a:pt x="2142363" y="24511"/>
                    <a:pt x="2142363" y="54864"/>
                  </a:cubicBezTo>
                  <a:lnTo>
                    <a:pt x="2142363" y="493776"/>
                  </a:lnTo>
                  <a:cubicBezTo>
                    <a:pt x="2142363" y="524129"/>
                    <a:pt x="2117852" y="548640"/>
                    <a:pt x="2087499" y="548640"/>
                  </a:cubicBezTo>
                  <a:lnTo>
                    <a:pt x="54864" y="548640"/>
                  </a:lnTo>
                  <a:cubicBezTo>
                    <a:pt x="24511" y="548640"/>
                    <a:pt x="0" y="524129"/>
                    <a:pt x="0" y="493776"/>
                  </a:cubicBezTo>
                  <a:close/>
                </a:path>
              </a:pathLst>
            </a:custGeom>
            <a:solidFill>
              <a:srgbClr val="A4CD6F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410501" y="7895022"/>
            <a:ext cx="5417820" cy="603504"/>
            <a:chOff x="0" y="0"/>
            <a:chExt cx="7223760" cy="80467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7223760" cy="804672"/>
            </a:xfrm>
            <a:custGeom>
              <a:avLst/>
              <a:gdLst/>
              <a:ahLst/>
              <a:cxnLst/>
              <a:rect r="r" b="b" t="t" l="l"/>
              <a:pathLst>
                <a:path h="804672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922" r="0" b="-124922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57150"/>
              <a:ext cx="7223760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7527" indent="-288763" lvl="1">
                <a:lnSpc>
                  <a:spcPts val="3209"/>
                </a:lnSpc>
                <a:buFont typeface="Arial"/>
                <a:buChar char="•"/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Recordatorios y pagos pendientes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5825054" y="8020653"/>
            <a:ext cx="11247120" cy="411480"/>
            <a:chOff x="0" y="0"/>
            <a:chExt cx="14996160" cy="5486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4996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4662073" y="8020653"/>
            <a:ext cx="1606734" cy="411480"/>
            <a:chOff x="0" y="0"/>
            <a:chExt cx="2142312" cy="5486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142363" cy="548640"/>
            </a:xfrm>
            <a:custGeom>
              <a:avLst/>
              <a:gdLst/>
              <a:ahLst/>
              <a:cxnLst/>
              <a:rect r="r" b="b" t="t" l="l"/>
              <a:pathLst>
                <a:path h="548640" w="2142363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87499" y="0"/>
                  </a:lnTo>
                  <a:cubicBezTo>
                    <a:pt x="2117852" y="0"/>
                    <a:pt x="2142363" y="24511"/>
                    <a:pt x="2142363" y="54864"/>
                  </a:cubicBezTo>
                  <a:lnTo>
                    <a:pt x="2142363" y="493776"/>
                  </a:lnTo>
                  <a:cubicBezTo>
                    <a:pt x="2142363" y="524129"/>
                    <a:pt x="2117852" y="548640"/>
                    <a:pt x="2087499" y="548640"/>
                  </a:cubicBezTo>
                  <a:lnTo>
                    <a:pt x="54864" y="548640"/>
                  </a:lnTo>
                  <a:cubicBezTo>
                    <a:pt x="24511" y="548640"/>
                    <a:pt x="0" y="524129"/>
                    <a:pt x="0" y="493776"/>
                  </a:cubicBezTo>
                  <a:close/>
                </a:path>
              </a:pathLst>
            </a:custGeom>
            <a:solidFill>
              <a:srgbClr val="FFC160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410501" y="8498526"/>
            <a:ext cx="5417820" cy="603504"/>
            <a:chOff x="0" y="0"/>
            <a:chExt cx="7223760" cy="80467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7223760" cy="804672"/>
            </a:xfrm>
            <a:custGeom>
              <a:avLst/>
              <a:gdLst/>
              <a:ahLst/>
              <a:cxnLst/>
              <a:rect r="r" b="b" t="t" l="l"/>
              <a:pathLst>
                <a:path h="804672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922" r="0" b="-124922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57150"/>
              <a:ext cx="7223760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7527" indent="-288763" lvl="1">
                <a:lnSpc>
                  <a:spcPts val="3209"/>
                </a:lnSpc>
                <a:buFont typeface="Arial"/>
                <a:buChar char="•"/>
              </a:pPr>
              <a:r>
                <a:rPr lang="en-US" sz="267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Pruebas y demo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5825054" y="8624157"/>
            <a:ext cx="11247120" cy="411480"/>
            <a:chOff x="0" y="0"/>
            <a:chExt cx="14996160" cy="54864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4996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5465440" y="8624157"/>
            <a:ext cx="1606734" cy="411480"/>
            <a:chOff x="0" y="0"/>
            <a:chExt cx="2142312" cy="54864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142363" cy="548640"/>
            </a:xfrm>
            <a:custGeom>
              <a:avLst/>
              <a:gdLst/>
              <a:ahLst/>
              <a:cxnLst/>
              <a:rect r="r" b="b" t="t" l="l"/>
              <a:pathLst>
                <a:path h="548640" w="2142363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87499" y="0"/>
                  </a:lnTo>
                  <a:cubicBezTo>
                    <a:pt x="2117852" y="0"/>
                    <a:pt x="2142363" y="24511"/>
                    <a:pt x="2142363" y="54864"/>
                  </a:cubicBezTo>
                  <a:lnTo>
                    <a:pt x="2142363" y="493776"/>
                  </a:lnTo>
                  <a:cubicBezTo>
                    <a:pt x="2142363" y="524129"/>
                    <a:pt x="2117852" y="548640"/>
                    <a:pt x="2087499" y="548640"/>
                  </a:cubicBezTo>
                  <a:lnTo>
                    <a:pt x="54864" y="548640"/>
                  </a:lnTo>
                  <a:cubicBezTo>
                    <a:pt x="24511" y="548640"/>
                    <a:pt x="0" y="524129"/>
                    <a:pt x="0" y="493776"/>
                  </a:cubicBezTo>
                  <a:close/>
                </a:path>
              </a:pathLst>
            </a:custGeom>
            <a:solidFill>
              <a:srgbClr val="44C0C5"/>
            </a:solidFill>
          </p:spPr>
        </p:sp>
      </p:grpSp>
      <p:sp>
        <p:nvSpPr>
          <p:cNvPr name="Freeform 123" id="123"/>
          <p:cNvSpPr/>
          <p:nvPr/>
        </p:nvSpPr>
        <p:spPr>
          <a:xfrm flipH="false" flipV="false" rot="0">
            <a:off x="719769" y="328154"/>
            <a:ext cx="1082583" cy="1104676"/>
          </a:xfrm>
          <a:custGeom>
            <a:avLst/>
            <a:gdLst/>
            <a:ahLst/>
            <a:cxnLst/>
            <a:rect r="r" b="b" t="t" l="l"/>
            <a:pathLst>
              <a:path h="1104676" w="1082583">
                <a:moveTo>
                  <a:pt x="0" y="0"/>
                </a:moveTo>
                <a:lnTo>
                  <a:pt x="1082582" y="0"/>
                </a:lnTo>
                <a:lnTo>
                  <a:pt x="1082582" y="1104676"/>
                </a:lnTo>
                <a:lnTo>
                  <a:pt x="0" y="11046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4" id="124"/>
          <p:cNvSpPr txBox="true"/>
          <p:nvPr/>
        </p:nvSpPr>
        <p:spPr>
          <a:xfrm rot="0">
            <a:off x="3692818" y="270435"/>
            <a:ext cx="10902364" cy="103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D7FFB8"/>
                </a:solidFill>
                <a:latin typeface="Bree Serif"/>
                <a:ea typeface="Bree Serif"/>
                <a:cs typeface="Bree Serif"/>
                <a:sym typeface="Bree Serif"/>
              </a:rPr>
              <a:t>PLAN</a:t>
            </a:r>
            <a:r>
              <a:rPr lang="en-US" sz="6099" strike="noStrike" u="none">
                <a:solidFill>
                  <a:srgbClr val="D7FFB8"/>
                </a:solidFill>
                <a:latin typeface="Bree Serif"/>
                <a:ea typeface="Bree Serif"/>
                <a:cs typeface="Bree Serif"/>
                <a:sym typeface="Bree Serif"/>
              </a:rPr>
              <a:t> DE TRABA</a:t>
            </a:r>
            <a:r>
              <a:rPr lang="en-US" sz="6099" strike="noStrike" u="none">
                <a:solidFill>
                  <a:srgbClr val="D7FFB8"/>
                </a:solidFill>
                <a:latin typeface="Bree Serif"/>
                <a:ea typeface="Bree Serif"/>
                <a:cs typeface="Bree Serif"/>
                <a:sym typeface="Bree Serif"/>
              </a:rPr>
              <a:t>JO</a:t>
            </a:r>
          </a:p>
        </p:txBody>
      </p:sp>
      <p:sp>
        <p:nvSpPr>
          <p:cNvPr name="AutoShape 125" id="125"/>
          <p:cNvSpPr/>
          <p:nvPr/>
        </p:nvSpPr>
        <p:spPr>
          <a:xfrm flipV="true">
            <a:off x="2249716" y="9886037"/>
            <a:ext cx="15158575" cy="0"/>
          </a:xfrm>
          <a:prstGeom prst="line">
            <a:avLst/>
          </a:prstGeom>
          <a:ln cap="flat" w="9525">
            <a:solidFill>
              <a:srgbClr val="D7FFB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6" id="126"/>
          <p:cNvGrpSpPr/>
          <p:nvPr/>
        </p:nvGrpSpPr>
        <p:grpSpPr>
          <a:xfrm rot="0">
            <a:off x="167377" y="9680297"/>
            <a:ext cx="1498752" cy="411480"/>
            <a:chOff x="0" y="0"/>
            <a:chExt cx="1998335" cy="5486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998335" cy="548640"/>
            </a:xfrm>
            <a:custGeom>
              <a:avLst/>
              <a:gdLst/>
              <a:ahLst/>
              <a:cxnLst/>
              <a:rect r="r" b="b" t="t" l="l"/>
              <a:pathLst>
                <a:path h="548640" w="1998335">
                  <a:moveTo>
                    <a:pt x="0" y="0"/>
                  </a:moveTo>
                  <a:lnTo>
                    <a:pt x="1998335" y="0"/>
                  </a:lnTo>
                  <a:lnTo>
                    <a:pt x="1998335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-449097" b="-33970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1998335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539918" y="9563548"/>
            <a:ext cx="709798" cy="575379"/>
            <a:chOff x="0" y="0"/>
            <a:chExt cx="946398" cy="767173"/>
          </a:xfrm>
        </p:grpSpPr>
        <p:sp>
          <p:nvSpPr>
            <p:cNvPr name="TextBox 130" id="130"/>
            <p:cNvSpPr txBox="true"/>
            <p:nvPr/>
          </p:nvSpPr>
          <p:spPr>
            <a:xfrm rot="0">
              <a:off x="0" y="129627"/>
              <a:ext cx="946398" cy="558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29"/>
                </a:lnSpc>
                <a:spcBef>
                  <a:spcPct val="0"/>
                </a:spcBef>
              </a:pPr>
              <a:r>
                <a:rPr lang="en-US" sz="2521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ally</a:t>
              </a:r>
            </a:p>
          </p:txBody>
        </p:sp>
        <p:sp>
          <p:nvSpPr>
            <p:cNvPr name="TextBox 131" id="131"/>
            <p:cNvSpPr txBox="true"/>
            <p:nvPr/>
          </p:nvSpPr>
          <p:spPr>
            <a:xfrm rot="0">
              <a:off x="46856" y="-66675"/>
              <a:ext cx="218347" cy="833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287"/>
                </a:lnSpc>
                <a:spcBef>
                  <a:spcPct val="0"/>
                </a:spcBef>
              </a:pPr>
              <a:r>
                <a:rPr lang="en-US" sz="3777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6801" y="1650737"/>
            <a:ext cx="17294397" cy="7773878"/>
            <a:chOff x="0" y="0"/>
            <a:chExt cx="23059196" cy="10365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59196" cy="10365170"/>
            </a:xfrm>
            <a:custGeom>
              <a:avLst/>
              <a:gdLst/>
              <a:ahLst/>
              <a:cxnLst/>
              <a:rect r="r" b="b" t="t" l="l"/>
              <a:pathLst>
                <a:path h="10365170" w="23059196">
                  <a:moveTo>
                    <a:pt x="123974" y="0"/>
                  </a:moveTo>
                  <a:lnTo>
                    <a:pt x="22935222" y="0"/>
                  </a:lnTo>
                  <a:cubicBezTo>
                    <a:pt x="23003690" y="0"/>
                    <a:pt x="23059196" y="464065"/>
                    <a:pt x="23059196" y="1036517"/>
                  </a:cubicBezTo>
                  <a:lnTo>
                    <a:pt x="23059196" y="9328654"/>
                  </a:lnTo>
                  <a:cubicBezTo>
                    <a:pt x="23059196" y="9901107"/>
                    <a:pt x="23003690" y="10365170"/>
                    <a:pt x="22935222" y="10365170"/>
                  </a:cubicBezTo>
                  <a:lnTo>
                    <a:pt x="123974" y="10365170"/>
                  </a:lnTo>
                  <a:cubicBezTo>
                    <a:pt x="55505" y="10365170"/>
                    <a:pt x="0" y="9901107"/>
                    <a:pt x="0" y="9328654"/>
                  </a:cubicBezTo>
                  <a:lnTo>
                    <a:pt x="0" y="1036517"/>
                  </a:lnTo>
                  <a:cubicBezTo>
                    <a:pt x="0" y="464065"/>
                    <a:pt x="55505" y="0"/>
                    <a:pt x="123974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059196" cy="1040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6801" y="353695"/>
            <a:ext cx="17294397" cy="1049392"/>
            <a:chOff x="0" y="0"/>
            <a:chExt cx="23059196" cy="13991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059196" cy="1399190"/>
            </a:xfrm>
            <a:custGeom>
              <a:avLst/>
              <a:gdLst/>
              <a:ahLst/>
              <a:cxnLst/>
              <a:rect r="r" b="b" t="t" l="l"/>
              <a:pathLst>
                <a:path h="1399190" w="23059196">
                  <a:moveTo>
                    <a:pt x="123974" y="0"/>
                  </a:moveTo>
                  <a:lnTo>
                    <a:pt x="22935222" y="0"/>
                  </a:lnTo>
                  <a:cubicBezTo>
                    <a:pt x="23003690" y="0"/>
                    <a:pt x="23059196" y="62644"/>
                    <a:pt x="23059196" y="139919"/>
                  </a:cubicBezTo>
                  <a:lnTo>
                    <a:pt x="23059196" y="1259271"/>
                  </a:lnTo>
                  <a:cubicBezTo>
                    <a:pt x="23059196" y="1336546"/>
                    <a:pt x="23003690" y="1399190"/>
                    <a:pt x="22935222" y="1399190"/>
                  </a:cubicBezTo>
                  <a:lnTo>
                    <a:pt x="123974" y="1399190"/>
                  </a:lnTo>
                  <a:cubicBezTo>
                    <a:pt x="55505" y="1399190"/>
                    <a:pt x="0" y="1336546"/>
                    <a:pt x="0" y="1259271"/>
                  </a:cubicBezTo>
                  <a:lnTo>
                    <a:pt x="0" y="139919"/>
                  </a:lnTo>
                  <a:cubicBezTo>
                    <a:pt x="0" y="62644"/>
                    <a:pt x="55505" y="0"/>
                    <a:pt x="123974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059196" cy="1437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887537"/>
            <a:ext cx="16637508" cy="558202"/>
            <a:chOff x="0" y="0"/>
            <a:chExt cx="22183344" cy="7442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3344" cy="744270"/>
            </a:xfrm>
            <a:custGeom>
              <a:avLst/>
              <a:gdLst/>
              <a:ahLst/>
              <a:cxnLst/>
              <a:rect r="r" b="b" t="t" l="l"/>
              <a:pathLst>
                <a:path h="74427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744270"/>
                  </a:lnTo>
                  <a:lnTo>
                    <a:pt x="0" y="7442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1618" r="0" b="-5299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183344" cy="7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49">
                  <a:solidFill>
                    <a:srgbClr val="D7FFB8"/>
                  </a:solidFill>
                  <a:latin typeface="Bree Serif"/>
                  <a:ea typeface="Bree Serif"/>
                  <a:cs typeface="Bree Serif"/>
                  <a:sym typeface="Bree Serif"/>
                </a:rPr>
                <a:t>Por qué Tally es viable dentro del semestre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606040"/>
            <a:ext cx="8161020" cy="6446520"/>
            <a:chOff x="0" y="0"/>
            <a:chExt cx="10881360" cy="859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81361" cy="8595361"/>
            </a:xfrm>
            <a:custGeom>
              <a:avLst/>
              <a:gdLst/>
              <a:ahLst/>
              <a:cxnLst/>
              <a:rect r="r" b="b" t="t" l="l"/>
              <a:pathLst>
                <a:path h="8595361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8375904"/>
                  </a:lnTo>
                  <a:cubicBezTo>
                    <a:pt x="10881361" y="8497062"/>
                    <a:pt x="10783062" y="8595361"/>
                    <a:pt x="10661904" y="8595361"/>
                  </a:cubicBezTo>
                  <a:lnTo>
                    <a:pt x="219456" y="8595361"/>
                  </a:lnTo>
                  <a:cubicBezTo>
                    <a:pt x="98298" y="8595360"/>
                    <a:pt x="0" y="8497062"/>
                    <a:pt x="0" y="8375904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71600" y="3017520"/>
            <a:ext cx="685800" cy="109728"/>
            <a:chOff x="0" y="0"/>
            <a:chExt cx="914400" cy="1463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146304"/>
            </a:xfrm>
            <a:custGeom>
              <a:avLst/>
              <a:gdLst/>
              <a:ahLst/>
              <a:cxnLst/>
              <a:rect r="r" b="b" t="t" l="l"/>
              <a:pathLst>
                <a:path h="14630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FA79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18578" y="2846060"/>
            <a:ext cx="7132320" cy="2391354"/>
            <a:chOff x="0" y="0"/>
            <a:chExt cx="9509760" cy="31884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09760" cy="3188472"/>
            </a:xfrm>
            <a:custGeom>
              <a:avLst/>
              <a:gdLst/>
              <a:ahLst/>
              <a:cxnLst/>
              <a:rect r="r" b="b" t="t" l="l"/>
              <a:pathLst>
                <a:path h="318847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188472"/>
                  </a:lnTo>
                  <a:lnTo>
                    <a:pt x="0" y="3188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75" r="0" b="2754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9509760" cy="3197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9"/>
                </a:lnSpc>
              </a:pPr>
              <a:r>
                <a:rPr lang="en-US" sz="324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Facilitadores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0160" y="4742063"/>
            <a:ext cx="137160" cy="137160"/>
            <a:chOff x="0" y="0"/>
            <a:chExt cx="182880" cy="182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FA79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3060" y="4663440"/>
            <a:ext cx="6858000" cy="960120"/>
            <a:chOff x="0" y="0"/>
            <a:chExt cx="9144000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91440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1"/>
                </a:lnSpc>
              </a:pPr>
              <a:r>
                <a:rPr lang="en-US" sz="2424">
                  <a:solidFill>
                    <a:srgbClr val="E8EC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Equipo con conocimientos previos en las tecnologías a usar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80160" y="6045083"/>
            <a:ext cx="137160" cy="137160"/>
            <a:chOff x="0" y="0"/>
            <a:chExt cx="182880" cy="182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FA79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23060" y="5866775"/>
            <a:ext cx="6858000" cy="960120"/>
            <a:chOff x="0" y="0"/>
            <a:chExt cx="914400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91440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1"/>
                </a:lnSpc>
              </a:pPr>
              <a:r>
                <a:rPr lang="en-US" sz="2424">
                  <a:solidFill>
                    <a:srgbClr val="E8EC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Herramientas gratuitas o de bajo costo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80160" y="7348103"/>
            <a:ext cx="137160" cy="137160"/>
            <a:chOff x="0" y="0"/>
            <a:chExt cx="182880" cy="182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FA79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23060" y="7169795"/>
            <a:ext cx="6858000" cy="960120"/>
            <a:chOff x="0" y="0"/>
            <a:chExt cx="9144000" cy="1280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0"/>
              <a:ext cx="91440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1"/>
                </a:lnSpc>
              </a:pPr>
              <a:r>
                <a:rPr lang="en-US" sz="2424">
                  <a:solidFill>
                    <a:srgbClr val="E8EC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Experiencia personal y familiar con emprendimiento informal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532620" y="2606040"/>
            <a:ext cx="8161020" cy="6446520"/>
            <a:chOff x="0" y="0"/>
            <a:chExt cx="10881360" cy="859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881361" cy="8595361"/>
            </a:xfrm>
            <a:custGeom>
              <a:avLst/>
              <a:gdLst/>
              <a:ahLst/>
              <a:cxnLst/>
              <a:rect r="r" b="b" t="t" l="l"/>
              <a:pathLst>
                <a:path h="8595361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8375904"/>
                  </a:lnTo>
                  <a:cubicBezTo>
                    <a:pt x="10881361" y="8497062"/>
                    <a:pt x="10783062" y="8595361"/>
                    <a:pt x="10661904" y="8595361"/>
                  </a:cubicBezTo>
                  <a:lnTo>
                    <a:pt x="219456" y="8595361"/>
                  </a:lnTo>
                  <a:cubicBezTo>
                    <a:pt x="98298" y="8595360"/>
                    <a:pt x="0" y="8497062"/>
                    <a:pt x="0" y="8375904"/>
                  </a:cubicBezTo>
                  <a:close/>
                </a:path>
              </a:pathLst>
            </a:custGeom>
            <a:solidFill>
              <a:srgbClr val="302551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081260" y="3017520"/>
            <a:ext cx="685800" cy="109728"/>
            <a:chOff x="0" y="0"/>
            <a:chExt cx="914400" cy="1463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4400" cy="146304"/>
            </a:xfrm>
            <a:custGeom>
              <a:avLst/>
              <a:gdLst/>
              <a:ahLst/>
              <a:cxnLst/>
              <a:rect r="r" b="b" t="t" l="l"/>
              <a:pathLst>
                <a:path h="14630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264140" y="2767139"/>
            <a:ext cx="7132320" cy="2376361"/>
            <a:chOff x="0" y="0"/>
            <a:chExt cx="9509760" cy="316848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509760" cy="3168481"/>
            </a:xfrm>
            <a:custGeom>
              <a:avLst/>
              <a:gdLst/>
              <a:ahLst/>
              <a:cxnLst/>
              <a:rect r="r" b="b" t="t" l="l"/>
              <a:pathLst>
                <a:path h="3168481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168481"/>
                  </a:lnTo>
                  <a:lnTo>
                    <a:pt x="0" y="31684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052" r="0" b="2708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9509760" cy="3178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9"/>
                </a:lnSpc>
              </a:pPr>
              <a:r>
                <a:rPr lang="en-US" sz="324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Riesgos y mitigación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989820" y="4742063"/>
            <a:ext cx="137160" cy="137160"/>
            <a:chOff x="0" y="0"/>
            <a:chExt cx="182880" cy="1828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264140" y="4333170"/>
            <a:ext cx="6858000" cy="960120"/>
            <a:chOff x="0" y="0"/>
            <a:chExt cx="9144000" cy="1280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0"/>
              <a:ext cx="91440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1"/>
                </a:lnSpc>
              </a:pPr>
              <a:r>
                <a:rPr lang="en-US" sz="2424">
                  <a:solidFill>
                    <a:srgbClr val="E8EC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Coordinación de horarios entre integrantes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989820" y="6045083"/>
            <a:ext cx="137160" cy="137160"/>
            <a:chOff x="0" y="0"/>
            <a:chExt cx="182880" cy="1828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332720" y="5633603"/>
            <a:ext cx="6858000" cy="960120"/>
            <a:chOff x="0" y="0"/>
            <a:chExt cx="9144000" cy="12801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0"/>
              <a:ext cx="91440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1"/>
                </a:lnSpc>
              </a:pPr>
              <a:r>
                <a:rPr lang="en-US" sz="2424">
                  <a:solidFill>
                    <a:srgbClr val="E8EC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Mitigación: reuniones semanales fijas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989820" y="7348103"/>
            <a:ext cx="137160" cy="137160"/>
            <a:chOff x="0" y="0"/>
            <a:chExt cx="182880" cy="1828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332720" y="6936623"/>
            <a:ext cx="6858000" cy="960120"/>
            <a:chOff x="0" y="0"/>
            <a:chExt cx="9144000" cy="12801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0"/>
              <a:ext cx="91440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91"/>
                </a:lnSpc>
              </a:pPr>
              <a:r>
                <a:rPr lang="en-US" sz="2424">
                  <a:solidFill>
                    <a:srgbClr val="E8EC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División clara de responsabilidades por especialidad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809409" y="448230"/>
            <a:ext cx="941501" cy="870889"/>
          </a:xfrm>
          <a:custGeom>
            <a:avLst/>
            <a:gdLst/>
            <a:ahLst/>
            <a:cxnLst/>
            <a:rect r="r" b="b" t="t" l="l"/>
            <a:pathLst>
              <a:path h="870889" w="941501">
                <a:moveTo>
                  <a:pt x="0" y="0"/>
                </a:moveTo>
                <a:lnTo>
                  <a:pt x="941502" y="0"/>
                </a:lnTo>
                <a:lnTo>
                  <a:pt x="941502" y="870889"/>
                </a:lnTo>
                <a:lnTo>
                  <a:pt x="0" y="870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2190307" y="323363"/>
            <a:ext cx="13907385" cy="99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D7FFB8"/>
                </a:solidFill>
                <a:latin typeface="Bree Serif"/>
                <a:ea typeface="Bree Serif"/>
                <a:cs typeface="Bree Serif"/>
                <a:sym typeface="Bree Serif"/>
              </a:rPr>
              <a:t>FACTIBILIDAD</a:t>
            </a:r>
            <a:r>
              <a:rPr lang="en-US" sz="5799" strike="noStrike" u="none">
                <a:solidFill>
                  <a:srgbClr val="D7FFB8"/>
                </a:solidFill>
                <a:latin typeface="Bree Serif"/>
                <a:ea typeface="Bree Serif"/>
                <a:cs typeface="Bree Serif"/>
                <a:sym typeface="Bree Serif"/>
              </a:rPr>
              <a:t> DEL PROYECTO</a:t>
            </a:r>
          </a:p>
        </p:txBody>
      </p:sp>
      <p:sp>
        <p:nvSpPr>
          <p:cNvPr name="AutoShape 57" id="57"/>
          <p:cNvSpPr/>
          <p:nvPr/>
        </p:nvSpPr>
        <p:spPr>
          <a:xfrm flipV="true">
            <a:off x="2249716" y="9886037"/>
            <a:ext cx="15158575" cy="0"/>
          </a:xfrm>
          <a:prstGeom prst="line">
            <a:avLst/>
          </a:prstGeom>
          <a:ln cap="flat" w="9525">
            <a:solidFill>
              <a:srgbClr val="D7FFB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8" id="58"/>
          <p:cNvGrpSpPr/>
          <p:nvPr/>
        </p:nvGrpSpPr>
        <p:grpSpPr>
          <a:xfrm rot="0">
            <a:off x="167377" y="9680297"/>
            <a:ext cx="1498752" cy="411480"/>
            <a:chOff x="0" y="0"/>
            <a:chExt cx="1998335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998335" cy="548640"/>
            </a:xfrm>
            <a:custGeom>
              <a:avLst/>
              <a:gdLst/>
              <a:ahLst/>
              <a:cxnLst/>
              <a:rect r="r" b="b" t="t" l="l"/>
              <a:pathLst>
                <a:path h="548640" w="1998335">
                  <a:moveTo>
                    <a:pt x="0" y="0"/>
                  </a:moveTo>
                  <a:lnTo>
                    <a:pt x="1998335" y="0"/>
                  </a:lnTo>
                  <a:lnTo>
                    <a:pt x="1998335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-449097" b="-33970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998335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539918" y="9563548"/>
            <a:ext cx="709798" cy="575379"/>
            <a:chOff x="0" y="0"/>
            <a:chExt cx="946398" cy="767173"/>
          </a:xfrm>
        </p:grpSpPr>
        <p:sp>
          <p:nvSpPr>
            <p:cNvPr name="TextBox 62" id="62"/>
            <p:cNvSpPr txBox="true"/>
            <p:nvPr/>
          </p:nvSpPr>
          <p:spPr>
            <a:xfrm rot="0">
              <a:off x="0" y="129627"/>
              <a:ext cx="946398" cy="558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29"/>
                </a:lnSpc>
                <a:spcBef>
                  <a:spcPct val="0"/>
                </a:spcBef>
              </a:pPr>
              <a:r>
                <a:rPr lang="en-US" sz="2521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ally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46856" y="-66675"/>
              <a:ext cx="218347" cy="833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287"/>
                </a:lnSpc>
                <a:spcBef>
                  <a:spcPct val="0"/>
                </a:spcBef>
              </a:pPr>
              <a:r>
                <a:rPr lang="en-US" sz="3777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t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150" y="1979302"/>
            <a:ext cx="16921162" cy="7592126"/>
            <a:chOff x="0" y="0"/>
            <a:chExt cx="22561550" cy="101228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61550" cy="10122835"/>
            </a:xfrm>
            <a:custGeom>
              <a:avLst/>
              <a:gdLst/>
              <a:ahLst/>
              <a:cxnLst/>
              <a:rect r="r" b="b" t="t" l="l"/>
              <a:pathLst>
                <a:path h="10122835" w="22561550">
                  <a:moveTo>
                    <a:pt x="121299" y="0"/>
                  </a:moveTo>
                  <a:lnTo>
                    <a:pt x="22440252" y="0"/>
                  </a:lnTo>
                  <a:cubicBezTo>
                    <a:pt x="22507243" y="0"/>
                    <a:pt x="22561550" y="453215"/>
                    <a:pt x="22561550" y="1012284"/>
                  </a:cubicBezTo>
                  <a:lnTo>
                    <a:pt x="22561550" y="9110552"/>
                  </a:lnTo>
                  <a:cubicBezTo>
                    <a:pt x="22561550" y="9669621"/>
                    <a:pt x="22507243" y="10122835"/>
                    <a:pt x="22440252" y="10122835"/>
                  </a:cubicBezTo>
                  <a:lnTo>
                    <a:pt x="121299" y="10122835"/>
                  </a:lnTo>
                  <a:cubicBezTo>
                    <a:pt x="54307" y="10122835"/>
                    <a:pt x="0" y="9669621"/>
                    <a:pt x="0" y="9110552"/>
                  </a:cubicBezTo>
                  <a:lnTo>
                    <a:pt x="0" y="1012284"/>
                  </a:lnTo>
                  <a:cubicBezTo>
                    <a:pt x="0" y="453215"/>
                    <a:pt x="54307" y="0"/>
                    <a:pt x="121299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561550" cy="10160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9150" y="352425"/>
            <a:ext cx="16921162" cy="1407802"/>
            <a:chOff x="0" y="0"/>
            <a:chExt cx="22561550" cy="18770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61550" cy="1877070"/>
            </a:xfrm>
            <a:custGeom>
              <a:avLst/>
              <a:gdLst/>
              <a:ahLst/>
              <a:cxnLst/>
              <a:rect r="r" b="b" t="t" l="l"/>
              <a:pathLst>
                <a:path h="1877070" w="22561550">
                  <a:moveTo>
                    <a:pt x="140746" y="0"/>
                  </a:moveTo>
                  <a:lnTo>
                    <a:pt x="22420804" y="0"/>
                  </a:lnTo>
                  <a:cubicBezTo>
                    <a:pt x="22498535" y="0"/>
                    <a:pt x="22561550" y="84039"/>
                    <a:pt x="22561550" y="187707"/>
                  </a:cubicBezTo>
                  <a:lnTo>
                    <a:pt x="22561550" y="1689363"/>
                  </a:lnTo>
                  <a:cubicBezTo>
                    <a:pt x="22561550" y="1793030"/>
                    <a:pt x="22498535" y="1877070"/>
                    <a:pt x="22420804" y="1877070"/>
                  </a:cubicBezTo>
                  <a:lnTo>
                    <a:pt x="140746" y="1877070"/>
                  </a:lnTo>
                  <a:cubicBezTo>
                    <a:pt x="63014" y="1877070"/>
                    <a:pt x="0" y="1793030"/>
                    <a:pt x="0" y="1689363"/>
                  </a:cubicBezTo>
                  <a:lnTo>
                    <a:pt x="0" y="187707"/>
                  </a:lnTo>
                  <a:cubicBezTo>
                    <a:pt x="0" y="84039"/>
                    <a:pt x="63014" y="0"/>
                    <a:pt x="140746" y="0"/>
                  </a:cubicBezTo>
                  <a:close/>
                </a:path>
              </a:pathLst>
            </a:custGeom>
            <a:solidFill>
              <a:srgbClr val="392D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561550" cy="1915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4801189" y="4207203"/>
            <a:ext cx="2575114" cy="5184793"/>
            <a:chOff x="0" y="0"/>
            <a:chExt cx="9461500" cy="190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00304" y="312801"/>
              <a:ext cx="8650859" cy="18424398"/>
            </a:xfrm>
            <a:custGeom>
              <a:avLst/>
              <a:gdLst/>
              <a:ahLst/>
              <a:cxnLst/>
              <a:rect r="r" b="b" t="t" l="l"/>
              <a:pathLst>
                <a:path h="18424398" w="8650859">
                  <a:moveTo>
                    <a:pt x="7532370" y="18424398"/>
                  </a:moveTo>
                  <a:lnTo>
                    <a:pt x="1118489" y="18424398"/>
                  </a:lnTo>
                  <a:cubicBezTo>
                    <a:pt x="500761" y="18424398"/>
                    <a:pt x="0" y="17923636"/>
                    <a:pt x="0" y="17305910"/>
                  </a:cubicBezTo>
                  <a:lnTo>
                    <a:pt x="0" y="1118489"/>
                  </a:lnTo>
                  <a:cubicBezTo>
                    <a:pt x="0" y="500761"/>
                    <a:pt x="500761" y="0"/>
                    <a:pt x="1118489" y="0"/>
                  </a:cubicBezTo>
                  <a:lnTo>
                    <a:pt x="7532370" y="0"/>
                  </a:lnTo>
                  <a:cubicBezTo>
                    <a:pt x="8150098" y="0"/>
                    <a:pt x="8650859" y="500761"/>
                    <a:pt x="8650859" y="1118489"/>
                  </a:cubicBezTo>
                  <a:lnTo>
                    <a:pt x="8650859" y="17305910"/>
                  </a:lnTo>
                  <a:cubicBezTo>
                    <a:pt x="8650732" y="17923636"/>
                    <a:pt x="8150098" y="18424398"/>
                    <a:pt x="7532370" y="18424398"/>
                  </a:cubicBezTo>
                  <a:close/>
                </a:path>
              </a:pathLst>
            </a:custGeom>
            <a:blipFill>
              <a:blip r:embed="rId2"/>
              <a:stretch>
                <a:fillRect l="-2241" t="0" r="-217225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615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9461500">
                  <a:moveTo>
                    <a:pt x="94615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461500" y="0"/>
                  </a:lnTo>
                  <a:lnTo>
                    <a:pt x="9461500" y="19050000"/>
                  </a:lnTo>
                  <a:close/>
                </a:path>
              </a:pathLst>
            </a:custGeom>
            <a:blipFill>
              <a:blip r:embed="rId3"/>
              <a:stretch>
                <a:fillRect l="-83" t="0" r="-83" b="0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7861206" y="4207203"/>
            <a:ext cx="2575114" cy="5184793"/>
            <a:chOff x="0" y="0"/>
            <a:chExt cx="9461500" cy="190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00304" y="312801"/>
              <a:ext cx="8650859" cy="18424398"/>
            </a:xfrm>
            <a:custGeom>
              <a:avLst/>
              <a:gdLst/>
              <a:ahLst/>
              <a:cxnLst/>
              <a:rect r="r" b="b" t="t" l="l"/>
              <a:pathLst>
                <a:path h="18424398" w="8650859">
                  <a:moveTo>
                    <a:pt x="7532370" y="18424398"/>
                  </a:moveTo>
                  <a:lnTo>
                    <a:pt x="1118489" y="18424398"/>
                  </a:lnTo>
                  <a:cubicBezTo>
                    <a:pt x="500761" y="18424398"/>
                    <a:pt x="0" y="17923636"/>
                    <a:pt x="0" y="17305910"/>
                  </a:cubicBezTo>
                  <a:lnTo>
                    <a:pt x="0" y="1118489"/>
                  </a:lnTo>
                  <a:cubicBezTo>
                    <a:pt x="0" y="500761"/>
                    <a:pt x="500761" y="0"/>
                    <a:pt x="1118489" y="0"/>
                  </a:cubicBezTo>
                  <a:lnTo>
                    <a:pt x="7532370" y="0"/>
                  </a:lnTo>
                  <a:cubicBezTo>
                    <a:pt x="8150098" y="0"/>
                    <a:pt x="8650859" y="500761"/>
                    <a:pt x="8650859" y="1118489"/>
                  </a:cubicBezTo>
                  <a:lnTo>
                    <a:pt x="8650859" y="17305910"/>
                  </a:lnTo>
                  <a:cubicBezTo>
                    <a:pt x="8650732" y="17923636"/>
                    <a:pt x="8150098" y="18424398"/>
                    <a:pt x="7532370" y="18424398"/>
                  </a:cubicBezTo>
                  <a:close/>
                </a:path>
              </a:pathLst>
            </a:custGeom>
            <a:blipFill>
              <a:blip r:embed="rId2"/>
              <a:stretch>
                <a:fillRect l="-107043" t="0" r="-112422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615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9461500">
                  <a:moveTo>
                    <a:pt x="94615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461500" y="0"/>
                  </a:lnTo>
                  <a:lnTo>
                    <a:pt x="9461500" y="19050000"/>
                  </a:lnTo>
                  <a:close/>
                </a:path>
              </a:pathLst>
            </a:custGeom>
            <a:blipFill>
              <a:blip r:embed="rId3"/>
              <a:stretch>
                <a:fillRect l="-83" t="0" r="-83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0921222" y="4207203"/>
            <a:ext cx="2575114" cy="5184793"/>
            <a:chOff x="0" y="0"/>
            <a:chExt cx="9461500" cy="190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00304" y="312801"/>
              <a:ext cx="8650859" cy="18424398"/>
            </a:xfrm>
            <a:custGeom>
              <a:avLst/>
              <a:gdLst/>
              <a:ahLst/>
              <a:cxnLst/>
              <a:rect r="r" b="b" t="t" l="l"/>
              <a:pathLst>
                <a:path h="18424398" w="8650859">
                  <a:moveTo>
                    <a:pt x="7532370" y="18424398"/>
                  </a:moveTo>
                  <a:lnTo>
                    <a:pt x="1118489" y="18424398"/>
                  </a:lnTo>
                  <a:cubicBezTo>
                    <a:pt x="500761" y="18424398"/>
                    <a:pt x="0" y="17923636"/>
                    <a:pt x="0" y="17305910"/>
                  </a:cubicBezTo>
                  <a:lnTo>
                    <a:pt x="0" y="1118489"/>
                  </a:lnTo>
                  <a:cubicBezTo>
                    <a:pt x="0" y="500761"/>
                    <a:pt x="500761" y="0"/>
                    <a:pt x="1118489" y="0"/>
                  </a:cubicBezTo>
                  <a:lnTo>
                    <a:pt x="7532370" y="0"/>
                  </a:lnTo>
                  <a:cubicBezTo>
                    <a:pt x="8150098" y="0"/>
                    <a:pt x="8650859" y="500761"/>
                    <a:pt x="8650859" y="1118489"/>
                  </a:cubicBezTo>
                  <a:lnTo>
                    <a:pt x="8650859" y="17305910"/>
                  </a:lnTo>
                  <a:cubicBezTo>
                    <a:pt x="8650732" y="17923636"/>
                    <a:pt x="8150098" y="18424398"/>
                    <a:pt x="7532370" y="18424398"/>
                  </a:cubicBezTo>
                  <a:close/>
                </a:path>
              </a:pathLst>
            </a:custGeom>
            <a:blipFill>
              <a:blip r:embed="rId2"/>
              <a:stretch>
                <a:fillRect l="-213723" t="0" r="-5742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615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9461500">
                  <a:moveTo>
                    <a:pt x="94615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461500" y="0"/>
                  </a:lnTo>
                  <a:lnTo>
                    <a:pt x="9461500" y="19050000"/>
                  </a:lnTo>
                  <a:close/>
                </a:path>
              </a:pathLst>
            </a:custGeom>
            <a:blipFill>
              <a:blip r:embed="rId3"/>
              <a:stretch>
                <a:fillRect l="-83" t="0" r="-83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302863" y="455148"/>
            <a:ext cx="1118190" cy="1202355"/>
          </a:xfrm>
          <a:custGeom>
            <a:avLst/>
            <a:gdLst/>
            <a:ahLst/>
            <a:cxnLst/>
            <a:rect r="r" b="b" t="t" l="l"/>
            <a:pathLst>
              <a:path h="1202355" w="1118190">
                <a:moveTo>
                  <a:pt x="0" y="0"/>
                </a:moveTo>
                <a:lnTo>
                  <a:pt x="1118190" y="0"/>
                </a:lnTo>
                <a:lnTo>
                  <a:pt x="1118190" y="1202356"/>
                </a:lnTo>
                <a:lnTo>
                  <a:pt x="0" y="12023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695700" y="14014"/>
            <a:ext cx="10906125" cy="169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sz="9999" strike="noStrike" u="none">
                <a:solidFill>
                  <a:srgbClr val="D7FFB8"/>
                </a:solidFill>
                <a:latin typeface="Bree Serif"/>
                <a:ea typeface="Bree Serif"/>
                <a:cs typeface="Bree Serif"/>
                <a:sym typeface="Bree Serif"/>
              </a:rPr>
              <a:t>Conclusiones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19359" y="3054822"/>
            <a:ext cx="1936938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b="true" sz="2300">
                <a:solidFill>
                  <a:srgbClr val="B2E1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Arquitectura Cloud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35804" y="3209166"/>
            <a:ext cx="246855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b="true" sz="2300">
                <a:solidFill>
                  <a:srgbClr val="FFA2E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Desarrollo Full-Stack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21053" y="4009549"/>
            <a:ext cx="226083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B81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Metodologías Ágiles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0636" y="5264944"/>
            <a:ext cx="226083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B2E1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Modelado de Bases de Datos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0636" y="8254692"/>
            <a:ext cx="226083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FD0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Escalabilidad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83538" y="2214148"/>
            <a:ext cx="178572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A1F9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de Negocio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05672" y="3397722"/>
            <a:ext cx="1785721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FD0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84491" y="2385598"/>
            <a:ext cx="1785721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FA2E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658168" y="3226272"/>
            <a:ext cx="242981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B81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Arquitectura Cliente-Servidor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23145" y="2327706"/>
            <a:ext cx="30497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A1F9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UI (Interfaz de Usuario)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81236" y="6946556"/>
            <a:ext cx="232011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FA2E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UX (Experiencia de Usuario)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2523366"/>
            <a:ext cx="30497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FA2E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UI (Interfaz de Usuario)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780348" y="4352449"/>
            <a:ext cx="304971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FD0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Mockups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33340" y="5343905"/>
            <a:ext cx="304971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FA2E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Scrum / Sprints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848000" y="7693581"/>
            <a:ext cx="304971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B2E1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KP</a:t>
            </a:r>
            <a:r>
              <a:rPr lang="en-US" b="true" sz="2299">
                <a:solidFill>
                  <a:srgbClr val="B2E1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Is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33340" y="8352651"/>
            <a:ext cx="30497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FD0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</a:t>
            </a:r>
            <a:r>
              <a:rPr lang="en-US" b="true" sz="2299">
                <a:solidFill>
                  <a:srgbClr val="FFD0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ransformación Digital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650682" y="6222731"/>
            <a:ext cx="1883236" cy="68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A1F9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Lógica de negocio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690637" y="7131606"/>
            <a:ext cx="188323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>
                <a:solidFill>
                  <a:srgbClr val="FB81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Carta Gantt</a:t>
            </a:r>
          </a:p>
        </p:txBody>
      </p:sp>
      <p:sp>
        <p:nvSpPr>
          <p:cNvPr name="AutoShape 37" id="37"/>
          <p:cNvSpPr/>
          <p:nvPr/>
        </p:nvSpPr>
        <p:spPr>
          <a:xfrm flipV="true">
            <a:off x="2201571" y="9989167"/>
            <a:ext cx="15158575" cy="0"/>
          </a:xfrm>
          <a:prstGeom prst="line">
            <a:avLst/>
          </a:prstGeom>
          <a:ln cap="flat" w="9525">
            <a:solidFill>
              <a:srgbClr val="D7FFB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119232" y="9783427"/>
            <a:ext cx="1498752" cy="411480"/>
            <a:chOff x="0" y="0"/>
            <a:chExt cx="1998335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98335" cy="548640"/>
            </a:xfrm>
            <a:custGeom>
              <a:avLst/>
              <a:gdLst/>
              <a:ahLst/>
              <a:cxnLst/>
              <a:rect r="r" b="b" t="t" l="l"/>
              <a:pathLst>
                <a:path h="548640" w="1998335">
                  <a:moveTo>
                    <a:pt x="0" y="0"/>
                  </a:moveTo>
                  <a:lnTo>
                    <a:pt x="1998335" y="0"/>
                  </a:lnTo>
                  <a:lnTo>
                    <a:pt x="1998335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9700" r="-449097" b="-33970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998335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91773" y="9666679"/>
            <a:ext cx="709798" cy="575379"/>
            <a:chOff x="0" y="0"/>
            <a:chExt cx="946398" cy="767173"/>
          </a:xfrm>
        </p:grpSpPr>
        <p:sp>
          <p:nvSpPr>
            <p:cNvPr name="TextBox 42" id="42"/>
            <p:cNvSpPr txBox="true"/>
            <p:nvPr/>
          </p:nvSpPr>
          <p:spPr>
            <a:xfrm rot="0">
              <a:off x="0" y="129627"/>
              <a:ext cx="946398" cy="558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29"/>
                </a:lnSpc>
                <a:spcBef>
                  <a:spcPct val="0"/>
                </a:spcBef>
              </a:pPr>
              <a:r>
                <a:rPr lang="en-US" sz="2521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ally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46856" y="-66675"/>
              <a:ext cx="218347" cy="833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287"/>
                </a:lnSpc>
                <a:spcBef>
                  <a:spcPct val="0"/>
                </a:spcBef>
              </a:pPr>
              <a:r>
                <a:rPr lang="en-US" sz="3777">
                  <a:solidFill>
                    <a:srgbClr val="FFA2E3"/>
                  </a:solidFill>
                  <a:latin typeface="Grand Hotel"/>
                  <a:ea typeface="Grand Hotel"/>
                  <a:cs typeface="Grand Hotel"/>
                  <a:sym typeface="Grand Hotel"/>
                </a:rPr>
                <a:t>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DAHOKv_B3yw</dc:identifier>
  <dcterms:modified xsi:type="dcterms:W3CDTF">2011-08-01T06:04:30Z</dcterms:modified>
  <cp:revision>1</cp:revision>
  <dc:title>Tally</dc:title>
</cp:coreProperties>
</file>