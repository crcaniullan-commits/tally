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Nunito" charset="1" panose="00000000000000000000"/>
      <p:regular r:id="rId18"/>
    </p:embeddedFont>
    <p:embeddedFont>
      <p:font typeface="Nunito Bold" charset="1" panose="00000000000000000000"/>
      <p:regular r:id="rId19"/>
    </p:embeddedFont>
    <p:embeddedFont>
      <p:font typeface="Montaser Arabic" charset="1" panose="00000500000000000000"/>
      <p:regular r:id="rId20"/>
    </p:embeddedFont>
    <p:embeddedFont>
      <p:font typeface="Calibri (MS)" charset="1" panose="020F0502020204030204"/>
      <p:regular r:id="rId21"/>
    </p:embeddedFont>
    <p:embeddedFont>
      <p:font typeface="Montaser Arabic Bold" charset="1" panose="00000800000000000000"/>
      <p:regular r:id="rId22"/>
    </p:embeddedFont>
    <p:embeddedFont>
      <p:font typeface="Calibri (MS) Bold" charset="1" panose="020F0702030404030204"/>
      <p:regular r:id="rId23"/>
    </p:embeddedFont>
    <p:embeddedFont>
      <p:font typeface="Cambria Bold" charset="1" panose="02040803050406030204"/>
      <p:regular r:id="rId24"/>
    </p:embeddedFont>
    <p:embeddedFont>
      <p:font typeface="Open Sans Bold" charset="1" panose="00000000000000000000"/>
      <p:regular r:id="rId25"/>
    </p:embeddedFont>
    <p:embeddedFont>
      <p:font typeface="Open San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16348" y="4081768"/>
            <a:ext cx="12382500" cy="3207586"/>
            <a:chOff x="0" y="0"/>
            <a:chExt cx="16510000" cy="42767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10000" cy="4276781"/>
            </a:xfrm>
            <a:custGeom>
              <a:avLst/>
              <a:gdLst/>
              <a:ahLst/>
              <a:cxnLst/>
              <a:rect r="r" b="b" t="t" l="l"/>
              <a:pathLst>
                <a:path h="4276781" w="16510000">
                  <a:moveTo>
                    <a:pt x="432405" y="0"/>
                  </a:moveTo>
                  <a:lnTo>
                    <a:pt x="16077595" y="0"/>
                  </a:lnTo>
                  <a:cubicBezTo>
                    <a:pt x="16316406" y="0"/>
                    <a:pt x="16510000" y="191478"/>
                    <a:pt x="16510000" y="427678"/>
                  </a:cubicBezTo>
                  <a:lnTo>
                    <a:pt x="16510000" y="3849103"/>
                  </a:lnTo>
                  <a:cubicBezTo>
                    <a:pt x="16510000" y="4085303"/>
                    <a:pt x="16316406" y="4276781"/>
                    <a:pt x="16077595" y="4276781"/>
                  </a:cubicBezTo>
                  <a:lnTo>
                    <a:pt x="432405" y="4276781"/>
                  </a:lnTo>
                  <a:cubicBezTo>
                    <a:pt x="193594" y="4276781"/>
                    <a:pt x="0" y="4085303"/>
                    <a:pt x="0" y="3849103"/>
                  </a:cubicBezTo>
                  <a:lnTo>
                    <a:pt x="0" y="427678"/>
                  </a:lnTo>
                  <a:cubicBezTo>
                    <a:pt x="0" y="191478"/>
                    <a:pt x="193594" y="0"/>
                    <a:pt x="432405" y="0"/>
                  </a:cubicBezTo>
                  <a:close/>
                </a:path>
              </a:pathLst>
            </a:custGeom>
            <a:solidFill>
              <a:srgbClr val="302551">
                <a:alpha val="58824"/>
              </a:srgbClr>
            </a:solidFill>
            <a:ln w="19050" cap="sq">
              <a:solidFill>
                <a:srgbClr val="2A2045">
                  <a:alpha val="5882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510000" cy="4324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7778848" y="5373799"/>
            <a:ext cx="2857500" cy="0"/>
          </a:xfrm>
          <a:prstGeom prst="line">
            <a:avLst/>
          </a:prstGeom>
          <a:ln cap="flat" w="19050">
            <a:solidFill>
              <a:srgbClr val="FFC1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7778848" y="6516799"/>
            <a:ext cx="2857500" cy="0"/>
          </a:xfrm>
          <a:prstGeom prst="line">
            <a:avLst/>
          </a:prstGeom>
          <a:ln cap="flat" w="19050">
            <a:solidFill>
              <a:srgbClr val="FFC1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502879" y="8676884"/>
            <a:ext cx="4381500" cy="904875"/>
            <a:chOff x="0" y="0"/>
            <a:chExt cx="6120363" cy="12639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20363" cy="1263988"/>
            </a:xfrm>
            <a:custGeom>
              <a:avLst/>
              <a:gdLst/>
              <a:ahLst/>
              <a:cxnLst/>
              <a:rect r="r" b="b" t="t" l="l"/>
              <a:pathLst>
                <a:path h="1263988" w="6120363">
                  <a:moveTo>
                    <a:pt x="160295" y="0"/>
                  </a:moveTo>
                  <a:lnTo>
                    <a:pt x="5960068" y="0"/>
                  </a:lnTo>
                  <a:cubicBezTo>
                    <a:pt x="6048597" y="0"/>
                    <a:pt x="6120363" y="56591"/>
                    <a:pt x="6120363" y="126399"/>
                  </a:cubicBezTo>
                  <a:lnTo>
                    <a:pt x="6120363" y="1137589"/>
                  </a:lnTo>
                  <a:cubicBezTo>
                    <a:pt x="6120363" y="1207397"/>
                    <a:pt x="6048597" y="1263988"/>
                    <a:pt x="5960068" y="1263988"/>
                  </a:cubicBezTo>
                  <a:lnTo>
                    <a:pt x="160295" y="1263988"/>
                  </a:lnTo>
                  <a:cubicBezTo>
                    <a:pt x="71767" y="1263988"/>
                    <a:pt x="0" y="1207397"/>
                    <a:pt x="0" y="1137589"/>
                  </a:cubicBezTo>
                  <a:lnTo>
                    <a:pt x="0" y="126399"/>
                  </a:lnTo>
                  <a:cubicBezTo>
                    <a:pt x="0" y="56591"/>
                    <a:pt x="71767" y="0"/>
                    <a:pt x="160295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AE56E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120363" cy="1311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60604" y="8676884"/>
            <a:ext cx="4381500" cy="904875"/>
            <a:chOff x="0" y="0"/>
            <a:chExt cx="6177729" cy="12758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77729" cy="1275835"/>
            </a:xfrm>
            <a:custGeom>
              <a:avLst/>
              <a:gdLst/>
              <a:ahLst/>
              <a:cxnLst/>
              <a:rect r="r" b="b" t="t" l="l"/>
              <a:pathLst>
                <a:path h="1275835" w="6177729">
                  <a:moveTo>
                    <a:pt x="178829" y="0"/>
                  </a:moveTo>
                  <a:lnTo>
                    <a:pt x="5998900" y="0"/>
                  </a:lnTo>
                  <a:cubicBezTo>
                    <a:pt x="6097665" y="0"/>
                    <a:pt x="6177729" y="57121"/>
                    <a:pt x="6177729" y="127584"/>
                  </a:cubicBezTo>
                  <a:lnTo>
                    <a:pt x="6177729" y="1148252"/>
                  </a:lnTo>
                  <a:cubicBezTo>
                    <a:pt x="6177729" y="1218714"/>
                    <a:pt x="6097665" y="1275835"/>
                    <a:pt x="5998900" y="1275835"/>
                  </a:cubicBezTo>
                  <a:lnTo>
                    <a:pt x="178829" y="1275835"/>
                  </a:lnTo>
                  <a:cubicBezTo>
                    <a:pt x="80064" y="1275835"/>
                    <a:pt x="0" y="1218714"/>
                    <a:pt x="0" y="1148252"/>
                  </a:cubicBezTo>
                  <a:lnTo>
                    <a:pt x="0" y="127584"/>
                  </a:lnTo>
                  <a:cubicBezTo>
                    <a:pt x="0" y="57121"/>
                    <a:pt x="80064" y="0"/>
                    <a:pt x="178829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B2E18E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177729" cy="132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819150" y="9915525"/>
            <a:ext cx="16621125" cy="0"/>
          </a:xfrm>
          <a:prstGeom prst="line">
            <a:avLst/>
          </a:prstGeom>
          <a:ln cap="flat" w="9525">
            <a:solidFill>
              <a:srgbClr val="FFC1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305365" y="315580"/>
            <a:ext cx="3500764" cy="861516"/>
          </a:xfrm>
          <a:custGeom>
            <a:avLst/>
            <a:gdLst/>
            <a:ahLst/>
            <a:cxnLst/>
            <a:rect r="r" b="b" t="t" l="l"/>
            <a:pathLst>
              <a:path h="861516" w="3500764">
                <a:moveTo>
                  <a:pt x="0" y="0"/>
                </a:moveTo>
                <a:lnTo>
                  <a:pt x="3500763" y="0"/>
                </a:lnTo>
                <a:lnTo>
                  <a:pt x="3500763" y="861516"/>
                </a:lnTo>
                <a:lnTo>
                  <a:pt x="0" y="861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571147" y="904857"/>
            <a:ext cx="12244964" cy="2967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42"/>
              </a:lnSpc>
              <a:spcBef>
                <a:spcPct val="0"/>
              </a:spcBef>
            </a:pPr>
            <a:r>
              <a:rPr lang="en-US" b="true" sz="164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Tally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92598" y="5530236"/>
            <a:ext cx="11430000" cy="53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22"/>
              </a:lnSpc>
              <a:spcBef>
                <a:spcPct val="0"/>
              </a:spcBef>
            </a:pPr>
            <a:r>
              <a:rPr lang="en-US" sz="3158">
                <a:solidFill>
                  <a:srgbClr val="53D0D9"/>
                </a:solidFill>
                <a:latin typeface="Nunito"/>
                <a:ea typeface="Nunito"/>
                <a:cs typeface="Nunito"/>
                <a:sym typeface="Nunito"/>
              </a:rPr>
              <a:t>APP Para emprendedores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72133" y="8042738"/>
            <a:ext cx="9525000" cy="42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2"/>
              </a:lnSpc>
              <a:spcBef>
                <a:spcPct val="0"/>
              </a:spcBef>
            </a:pPr>
            <a:r>
              <a:rPr lang="en-US" b="true" sz="2408" strike="noStrike" u="none">
                <a:solidFill>
                  <a:srgbClr val="FF78D6"/>
                </a:solidFill>
                <a:latin typeface="Poppins Bold"/>
                <a:ea typeface="Poppins Bold"/>
                <a:cs typeface="Poppins Bold"/>
                <a:sym typeface="Poppins Bold"/>
              </a:rPr>
              <a:t>Equipo de Proyecto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02879" y="8753084"/>
            <a:ext cx="4381500" cy="34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7"/>
              </a:lnSpc>
              <a:spcBef>
                <a:spcPct val="0"/>
              </a:spcBef>
            </a:pPr>
            <a:r>
              <a:rPr lang="en-US" b="true" sz="2033" strike="noStrike" u="non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Cristopher Caniullan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02879" y="9115025"/>
            <a:ext cx="4381500" cy="286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2"/>
              </a:lnSpc>
              <a:spcBef>
                <a:spcPct val="0"/>
              </a:spcBef>
            </a:pPr>
            <a:r>
              <a:rPr lang="en-US" sz="1658">
                <a:solidFill>
                  <a:srgbClr val="AE56EA"/>
                </a:solidFill>
                <a:latin typeface="Nunito"/>
                <a:ea typeface="Nunito"/>
                <a:cs typeface="Nunito"/>
                <a:sym typeface="Nunito"/>
              </a:rPr>
              <a:t>Backend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60604" y="8753084"/>
            <a:ext cx="4381500" cy="346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7"/>
              </a:lnSpc>
              <a:spcBef>
                <a:spcPct val="0"/>
              </a:spcBef>
            </a:pPr>
            <a:r>
              <a:rPr lang="en-US" b="true" sz="2033" strike="noStrike" u="non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Thiare Hernández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60604" y="9115025"/>
            <a:ext cx="4381500" cy="2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2"/>
              </a:lnSpc>
              <a:spcBef>
                <a:spcPct val="0"/>
              </a:spcBef>
            </a:pPr>
            <a:r>
              <a:rPr lang="en-US" sz="1658">
                <a:solidFill>
                  <a:srgbClr val="B2E18E"/>
                </a:solidFill>
                <a:latin typeface="Nunito"/>
                <a:ea typeface="Nunito"/>
                <a:cs typeface="Nunito"/>
                <a:sym typeface="Nunito"/>
              </a:rPr>
              <a:t>Frontend/UI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845610" y="8676884"/>
            <a:ext cx="4381500" cy="904875"/>
            <a:chOff x="0" y="0"/>
            <a:chExt cx="6177729" cy="12758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77729" cy="1275835"/>
            </a:xfrm>
            <a:custGeom>
              <a:avLst/>
              <a:gdLst/>
              <a:ahLst/>
              <a:cxnLst/>
              <a:rect r="r" b="b" t="t" l="l"/>
              <a:pathLst>
                <a:path h="1275835" w="6177729">
                  <a:moveTo>
                    <a:pt x="178829" y="0"/>
                  </a:moveTo>
                  <a:lnTo>
                    <a:pt x="5998900" y="0"/>
                  </a:lnTo>
                  <a:cubicBezTo>
                    <a:pt x="6097665" y="0"/>
                    <a:pt x="6177729" y="57121"/>
                    <a:pt x="6177729" y="127584"/>
                  </a:cubicBezTo>
                  <a:lnTo>
                    <a:pt x="6177729" y="1148252"/>
                  </a:lnTo>
                  <a:cubicBezTo>
                    <a:pt x="6177729" y="1218714"/>
                    <a:pt x="6097665" y="1275835"/>
                    <a:pt x="5998900" y="1275835"/>
                  </a:cubicBezTo>
                  <a:lnTo>
                    <a:pt x="178829" y="1275835"/>
                  </a:lnTo>
                  <a:cubicBezTo>
                    <a:pt x="80064" y="1275835"/>
                    <a:pt x="0" y="1218714"/>
                    <a:pt x="0" y="1148252"/>
                  </a:cubicBezTo>
                  <a:lnTo>
                    <a:pt x="0" y="127584"/>
                  </a:lnTo>
                  <a:cubicBezTo>
                    <a:pt x="0" y="57121"/>
                    <a:pt x="80064" y="0"/>
                    <a:pt x="178829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FB5AC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177729" cy="132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845610" y="8753084"/>
            <a:ext cx="4381500" cy="346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7"/>
              </a:lnSpc>
              <a:spcBef>
                <a:spcPct val="0"/>
              </a:spcBef>
            </a:pPr>
            <a:r>
              <a:rPr lang="en-US" b="true" sz="2033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Lucas Marchant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45610" y="9115025"/>
            <a:ext cx="4381500" cy="2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2"/>
              </a:lnSpc>
              <a:spcBef>
                <a:spcPct val="0"/>
              </a:spcBef>
            </a:pPr>
            <a:r>
              <a:rPr lang="en-US" sz="1658">
                <a:solidFill>
                  <a:srgbClr val="FFB5AC"/>
                </a:solidFill>
                <a:latin typeface="Nunito"/>
                <a:ea typeface="Nunito"/>
                <a:cs typeface="Nunito"/>
                <a:sym typeface="Nunito"/>
              </a:rPr>
              <a:t>Líder de proyecto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2450" y="2113871"/>
            <a:ext cx="17183100" cy="7402526"/>
            <a:chOff x="0" y="0"/>
            <a:chExt cx="22910800" cy="9870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10800" cy="9870035"/>
            </a:xfrm>
            <a:custGeom>
              <a:avLst/>
              <a:gdLst/>
              <a:ahLst/>
              <a:cxnLst/>
              <a:rect r="r" b="b" t="t" l="l"/>
              <a:pathLst>
                <a:path h="9870035" w="22910800">
                  <a:moveTo>
                    <a:pt x="123176" y="0"/>
                  </a:moveTo>
                  <a:lnTo>
                    <a:pt x="22787623" y="0"/>
                  </a:lnTo>
                  <a:cubicBezTo>
                    <a:pt x="22855651" y="0"/>
                    <a:pt x="22910800" y="441896"/>
                    <a:pt x="22910800" y="987004"/>
                  </a:cubicBezTo>
                  <a:lnTo>
                    <a:pt x="22910800" y="8883031"/>
                  </a:lnTo>
                  <a:cubicBezTo>
                    <a:pt x="22910800" y="9428138"/>
                    <a:pt x="22855651" y="9870035"/>
                    <a:pt x="22787623" y="9870035"/>
                  </a:cubicBezTo>
                  <a:lnTo>
                    <a:pt x="123176" y="9870035"/>
                  </a:lnTo>
                  <a:cubicBezTo>
                    <a:pt x="55148" y="9870035"/>
                    <a:pt x="0" y="9428138"/>
                    <a:pt x="0" y="8883031"/>
                  </a:cubicBezTo>
                  <a:lnTo>
                    <a:pt x="0" y="987004"/>
                  </a:lnTo>
                  <a:cubicBezTo>
                    <a:pt x="0" y="441896"/>
                    <a:pt x="55148" y="0"/>
                    <a:pt x="123176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10800" cy="9908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4479" y="2587757"/>
            <a:ext cx="4572820" cy="3141344"/>
            <a:chOff x="0" y="0"/>
            <a:chExt cx="2903684" cy="1994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53D0D9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1694" y="361578"/>
            <a:ext cx="17004612" cy="952500"/>
            <a:chOff x="0" y="0"/>
            <a:chExt cx="22672816" cy="127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2816" cy="1270000"/>
            </a:xfrm>
            <a:custGeom>
              <a:avLst/>
              <a:gdLst/>
              <a:ahLst/>
              <a:cxnLst/>
              <a:rect r="r" b="b" t="t" l="l"/>
              <a:pathLst>
                <a:path h="1270000" w="22672816">
                  <a:moveTo>
                    <a:pt x="121897" y="0"/>
                  </a:moveTo>
                  <a:lnTo>
                    <a:pt x="22550918" y="0"/>
                  </a:lnTo>
                  <a:cubicBezTo>
                    <a:pt x="22618240" y="0"/>
                    <a:pt x="22672816" y="56860"/>
                    <a:pt x="22672816" y="127000"/>
                  </a:cubicBezTo>
                  <a:lnTo>
                    <a:pt x="22672816" y="1143000"/>
                  </a:lnTo>
                  <a:cubicBezTo>
                    <a:pt x="22672816" y="1213140"/>
                    <a:pt x="22618240" y="1270000"/>
                    <a:pt x="22550918" y="1270000"/>
                  </a:cubicBezTo>
                  <a:lnTo>
                    <a:pt x="121897" y="1270000"/>
                  </a:lnTo>
                  <a:cubicBezTo>
                    <a:pt x="54575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4575" y="0"/>
                    <a:pt x="121897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2816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87314" y="3455815"/>
            <a:ext cx="3853142" cy="2052061"/>
            <a:chOff x="0" y="0"/>
            <a:chExt cx="5237043" cy="27890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37043" cy="2789083"/>
            </a:xfrm>
            <a:custGeom>
              <a:avLst/>
              <a:gdLst/>
              <a:ahLst/>
              <a:cxnLst/>
              <a:rect r="r" b="b" t="t" l="l"/>
              <a:pathLst>
                <a:path h="2789083" w="5237043">
                  <a:moveTo>
                    <a:pt x="0" y="0"/>
                  </a:moveTo>
                  <a:lnTo>
                    <a:pt x="5237043" y="0"/>
                  </a:lnTo>
                  <a:lnTo>
                    <a:pt x="5237043" y="2789083"/>
                  </a:lnTo>
                  <a:lnTo>
                    <a:pt x="0" y="27890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53" r="-130475" b="-4989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237043" cy="2827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0"/>
                </a:lnSpc>
              </a:pPr>
              <a:r>
                <a:rPr lang="en-US" sz="2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N</a:t>
              </a:r>
              <a:r>
                <a:rPr lang="en-US" sz="2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o llevan un registro ordenado de sus ingresos y egresos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16756" y="2587757"/>
            <a:ext cx="4572820" cy="3141344"/>
            <a:chOff x="0" y="0"/>
            <a:chExt cx="2903684" cy="19947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F78D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011456" y="3455815"/>
            <a:ext cx="3853142" cy="2052061"/>
            <a:chOff x="0" y="0"/>
            <a:chExt cx="5237043" cy="27890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37043" cy="2789083"/>
            </a:xfrm>
            <a:custGeom>
              <a:avLst/>
              <a:gdLst/>
              <a:ahLst/>
              <a:cxnLst/>
              <a:rect r="r" b="b" t="t" l="l"/>
              <a:pathLst>
                <a:path h="2789083" w="5237043">
                  <a:moveTo>
                    <a:pt x="0" y="0"/>
                  </a:moveTo>
                  <a:lnTo>
                    <a:pt x="5237043" y="0"/>
                  </a:lnTo>
                  <a:lnTo>
                    <a:pt x="5237043" y="2789083"/>
                  </a:lnTo>
                  <a:lnTo>
                    <a:pt x="0" y="27890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53" r="-130475" b="-4989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237043" cy="2827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0"/>
                </a:lnSpc>
              </a:pPr>
              <a:r>
                <a:rPr lang="en-US" sz="2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U</a:t>
              </a:r>
              <a:r>
                <a:rPr lang="en-US" sz="2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san cuadernos o planillas Excel poco prácticas, lo que les impide saber cuánto realmente venden o invierten.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59034" y="2587757"/>
            <a:ext cx="4572820" cy="3141344"/>
            <a:chOff x="0" y="0"/>
            <a:chExt cx="2903684" cy="19947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FC16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153734" y="3455815"/>
            <a:ext cx="3853142" cy="2052061"/>
            <a:chOff x="0" y="0"/>
            <a:chExt cx="5237043" cy="27890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37043" cy="2789083"/>
            </a:xfrm>
            <a:custGeom>
              <a:avLst/>
              <a:gdLst/>
              <a:ahLst/>
              <a:cxnLst/>
              <a:rect r="r" b="b" t="t" l="l"/>
              <a:pathLst>
                <a:path h="2789083" w="5237043">
                  <a:moveTo>
                    <a:pt x="0" y="0"/>
                  </a:moveTo>
                  <a:lnTo>
                    <a:pt x="5237043" y="0"/>
                  </a:lnTo>
                  <a:lnTo>
                    <a:pt x="5237043" y="2789083"/>
                  </a:lnTo>
                  <a:lnTo>
                    <a:pt x="0" y="27890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53" r="-130475" b="-4989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237043" cy="2827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0"/>
                </a:lnSpc>
              </a:pPr>
              <a:r>
                <a:rPr lang="en-US" sz="2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E</a:t>
              </a:r>
              <a:r>
                <a:rPr lang="en-US" sz="2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ste grupo representa una parte importante de la economía local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945617" y="6038158"/>
            <a:ext cx="4572820" cy="3141344"/>
            <a:chOff x="0" y="0"/>
            <a:chExt cx="2903684" cy="19947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B2E18E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305457" y="6906215"/>
            <a:ext cx="3853142" cy="2052061"/>
            <a:chOff x="0" y="0"/>
            <a:chExt cx="5237043" cy="27890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37043" cy="2789083"/>
            </a:xfrm>
            <a:custGeom>
              <a:avLst/>
              <a:gdLst/>
              <a:ahLst/>
              <a:cxnLst/>
              <a:rect r="r" b="b" t="t" l="l"/>
              <a:pathLst>
                <a:path h="2789083" w="5237043">
                  <a:moveTo>
                    <a:pt x="0" y="0"/>
                  </a:moveTo>
                  <a:lnTo>
                    <a:pt x="5237043" y="0"/>
                  </a:lnTo>
                  <a:lnTo>
                    <a:pt x="5237043" y="2789083"/>
                  </a:lnTo>
                  <a:lnTo>
                    <a:pt x="0" y="27890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53" r="-130475" b="-4989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237043" cy="2827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0"/>
                </a:lnSpc>
              </a:pPr>
              <a:r>
                <a:rPr lang="en-US" sz="2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qu</a:t>
              </a:r>
              <a:r>
                <a:rPr lang="en-US" sz="2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eda fuera de las soluciones tecnológicas pensadas para empresas formales o muy grandes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087895" y="6038158"/>
            <a:ext cx="4572820" cy="3141344"/>
            <a:chOff x="0" y="0"/>
            <a:chExt cx="2903684" cy="199471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AE56EA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82595" y="6906215"/>
            <a:ext cx="3853142" cy="2052061"/>
            <a:chOff x="0" y="0"/>
            <a:chExt cx="5237043" cy="278908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37043" cy="2789083"/>
            </a:xfrm>
            <a:custGeom>
              <a:avLst/>
              <a:gdLst/>
              <a:ahLst/>
              <a:cxnLst/>
              <a:rect r="r" b="b" t="t" l="l"/>
              <a:pathLst>
                <a:path h="2789083" w="5237043">
                  <a:moveTo>
                    <a:pt x="0" y="0"/>
                  </a:moveTo>
                  <a:lnTo>
                    <a:pt x="5237043" y="0"/>
                  </a:lnTo>
                  <a:lnTo>
                    <a:pt x="5237043" y="2789083"/>
                  </a:lnTo>
                  <a:lnTo>
                    <a:pt x="0" y="27890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53" r="-130475" b="-4989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237043" cy="2827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0"/>
                </a:lnSpc>
              </a:pPr>
              <a:r>
                <a:rPr lang="en-US" sz="2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Los sistemas que se encuentran actualmente son demasiado complejos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flipV="true">
            <a:off x="2281700" y="9915525"/>
            <a:ext cx="15158575" cy="0"/>
          </a:xfrm>
          <a:prstGeom prst="line">
            <a:avLst/>
          </a:prstGeom>
          <a:ln cap="flat" w="9525">
            <a:solidFill>
              <a:srgbClr val="FFC1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90034" y="9709785"/>
            <a:ext cx="8229600" cy="411480"/>
            <a:chOff x="0" y="0"/>
            <a:chExt cx="1097280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Tally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2026234" y="2967462"/>
            <a:ext cx="3269309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A1F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REGISTRO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476500" y="419091"/>
            <a:ext cx="13335000" cy="74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FA2E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PROBLEMA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168512" y="2967462"/>
            <a:ext cx="3613439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78D6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EXCEL/CUADERNO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310789" y="2967462"/>
            <a:ext cx="3269309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C16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POBLACION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597373" y="6417863"/>
            <a:ext cx="3269309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B2E18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RECURSOS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739650" y="6417863"/>
            <a:ext cx="3269309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AE56E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2450" y="2113871"/>
            <a:ext cx="17183100" cy="7402526"/>
            <a:chOff x="0" y="0"/>
            <a:chExt cx="22910800" cy="9870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10800" cy="9870035"/>
            </a:xfrm>
            <a:custGeom>
              <a:avLst/>
              <a:gdLst/>
              <a:ahLst/>
              <a:cxnLst/>
              <a:rect r="r" b="b" t="t" l="l"/>
              <a:pathLst>
                <a:path h="9870035" w="22910800">
                  <a:moveTo>
                    <a:pt x="123176" y="0"/>
                  </a:moveTo>
                  <a:lnTo>
                    <a:pt x="22787623" y="0"/>
                  </a:lnTo>
                  <a:cubicBezTo>
                    <a:pt x="22855651" y="0"/>
                    <a:pt x="22910800" y="441896"/>
                    <a:pt x="22910800" y="987004"/>
                  </a:cubicBezTo>
                  <a:lnTo>
                    <a:pt x="22910800" y="8883031"/>
                  </a:lnTo>
                  <a:cubicBezTo>
                    <a:pt x="22910800" y="9428138"/>
                    <a:pt x="22855651" y="9870035"/>
                    <a:pt x="22787623" y="9870035"/>
                  </a:cubicBezTo>
                  <a:lnTo>
                    <a:pt x="123176" y="9870035"/>
                  </a:lnTo>
                  <a:cubicBezTo>
                    <a:pt x="55148" y="9870035"/>
                    <a:pt x="0" y="9428138"/>
                    <a:pt x="0" y="8883031"/>
                  </a:cubicBezTo>
                  <a:lnTo>
                    <a:pt x="0" y="987004"/>
                  </a:lnTo>
                  <a:cubicBezTo>
                    <a:pt x="0" y="441896"/>
                    <a:pt x="55148" y="0"/>
                    <a:pt x="123176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10800" cy="9908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4479" y="2587757"/>
            <a:ext cx="4572820" cy="3141344"/>
            <a:chOff x="0" y="0"/>
            <a:chExt cx="2903684" cy="1994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53D0D9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06774" y="2747098"/>
            <a:ext cx="3614222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A1F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APP DE FINANZAS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41694" y="361578"/>
            <a:ext cx="17004612" cy="952500"/>
            <a:chOff x="0" y="0"/>
            <a:chExt cx="22672816" cy="127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672816" cy="1270000"/>
            </a:xfrm>
            <a:custGeom>
              <a:avLst/>
              <a:gdLst/>
              <a:ahLst/>
              <a:cxnLst/>
              <a:rect r="r" b="b" t="t" l="l"/>
              <a:pathLst>
                <a:path h="1270000" w="22672816">
                  <a:moveTo>
                    <a:pt x="121897" y="0"/>
                  </a:moveTo>
                  <a:lnTo>
                    <a:pt x="22550918" y="0"/>
                  </a:lnTo>
                  <a:cubicBezTo>
                    <a:pt x="22618240" y="0"/>
                    <a:pt x="22672816" y="56860"/>
                    <a:pt x="22672816" y="127000"/>
                  </a:cubicBezTo>
                  <a:lnTo>
                    <a:pt x="22672816" y="1143000"/>
                  </a:lnTo>
                  <a:cubicBezTo>
                    <a:pt x="22672816" y="1213140"/>
                    <a:pt x="22618240" y="1270000"/>
                    <a:pt x="22550918" y="1270000"/>
                  </a:cubicBezTo>
                  <a:lnTo>
                    <a:pt x="121897" y="1270000"/>
                  </a:lnTo>
                  <a:cubicBezTo>
                    <a:pt x="54575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4575" y="0"/>
                    <a:pt x="121897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672816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76500" y="348288"/>
            <a:ext cx="13335000" cy="87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A2E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TALLY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34318" y="3455815"/>
            <a:ext cx="3853142" cy="2052061"/>
            <a:chOff x="0" y="0"/>
            <a:chExt cx="5237043" cy="27890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37043" cy="2789083"/>
            </a:xfrm>
            <a:custGeom>
              <a:avLst/>
              <a:gdLst/>
              <a:ahLst/>
              <a:cxnLst/>
              <a:rect r="r" b="b" t="t" l="l"/>
              <a:pathLst>
                <a:path h="2789083" w="5237043">
                  <a:moveTo>
                    <a:pt x="0" y="0"/>
                  </a:moveTo>
                  <a:lnTo>
                    <a:pt x="5237043" y="0"/>
                  </a:lnTo>
                  <a:lnTo>
                    <a:pt x="5237043" y="2789083"/>
                  </a:lnTo>
                  <a:lnTo>
                    <a:pt x="0" y="27890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53" r="-130475" b="-4989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237043" cy="2827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0"/>
                </a:lnSpc>
              </a:pPr>
              <a:r>
                <a:rPr lang="en-US" sz="2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Tally es una aplicación de finanzas simples orientada a emprendedores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16756" y="2587757"/>
            <a:ext cx="4572820" cy="3141344"/>
            <a:chOff x="0" y="0"/>
            <a:chExt cx="2903684" cy="1994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F78D6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168512" y="2967462"/>
            <a:ext cx="3613439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78D6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CATEGORIZACIÓN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928809" y="3455815"/>
            <a:ext cx="3853142" cy="2052061"/>
            <a:chOff x="0" y="0"/>
            <a:chExt cx="5237043" cy="27890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37043" cy="2789083"/>
            </a:xfrm>
            <a:custGeom>
              <a:avLst/>
              <a:gdLst/>
              <a:ahLst/>
              <a:cxnLst/>
              <a:rect r="r" b="b" t="t" l="l"/>
              <a:pathLst>
                <a:path h="2789083" w="5237043">
                  <a:moveTo>
                    <a:pt x="0" y="0"/>
                  </a:moveTo>
                  <a:lnTo>
                    <a:pt x="5237043" y="0"/>
                  </a:lnTo>
                  <a:lnTo>
                    <a:pt x="5237043" y="2789083"/>
                  </a:lnTo>
                  <a:lnTo>
                    <a:pt x="0" y="27890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53" r="-130475" b="-4989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37043" cy="2827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0"/>
                </a:lnSpc>
              </a:pPr>
              <a:r>
                <a:rPr lang="en-US" sz="2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 Ingresos y egresos con categorías personalizables.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659034" y="2587757"/>
            <a:ext cx="4572820" cy="3141344"/>
            <a:chOff x="0" y="0"/>
            <a:chExt cx="2903684" cy="19947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FC16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310789" y="2967462"/>
            <a:ext cx="3269309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C16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DASHBOARD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070651" y="3455815"/>
            <a:ext cx="3853142" cy="2052061"/>
            <a:chOff x="0" y="0"/>
            <a:chExt cx="5237043" cy="278908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37043" cy="2789083"/>
            </a:xfrm>
            <a:custGeom>
              <a:avLst/>
              <a:gdLst/>
              <a:ahLst/>
              <a:cxnLst/>
              <a:rect r="r" b="b" t="t" l="l"/>
              <a:pathLst>
                <a:path h="2789083" w="5237043">
                  <a:moveTo>
                    <a:pt x="0" y="0"/>
                  </a:moveTo>
                  <a:lnTo>
                    <a:pt x="5237043" y="0"/>
                  </a:lnTo>
                  <a:lnTo>
                    <a:pt x="5237043" y="2789083"/>
                  </a:lnTo>
                  <a:lnTo>
                    <a:pt x="0" y="27890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53" r="-130475" b="-4989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237043" cy="2827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0"/>
                </a:lnSpc>
              </a:pPr>
              <a:r>
                <a:rPr lang="en-US" sz="2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 Visualización gráfica de datos por semana, mes y año.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4479" y="5947936"/>
            <a:ext cx="4572820" cy="3141344"/>
            <a:chOff x="0" y="0"/>
            <a:chExt cx="2903684" cy="199471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B2E18E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026234" y="6327640"/>
            <a:ext cx="3269309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B2E18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NOTIFICACIONES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734318" y="6815993"/>
            <a:ext cx="3853142" cy="2052061"/>
            <a:chOff x="0" y="0"/>
            <a:chExt cx="5237043" cy="27890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37043" cy="2789083"/>
            </a:xfrm>
            <a:custGeom>
              <a:avLst/>
              <a:gdLst/>
              <a:ahLst/>
              <a:cxnLst/>
              <a:rect r="r" b="b" t="t" l="l"/>
              <a:pathLst>
                <a:path h="2789083" w="5237043">
                  <a:moveTo>
                    <a:pt x="0" y="0"/>
                  </a:moveTo>
                  <a:lnTo>
                    <a:pt x="5237043" y="0"/>
                  </a:lnTo>
                  <a:lnTo>
                    <a:pt x="5237043" y="2789083"/>
                  </a:lnTo>
                  <a:lnTo>
                    <a:pt x="0" y="27890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53" r="-130475" b="-4989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237043" cy="2827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0"/>
                </a:lnSpc>
              </a:pPr>
              <a:r>
                <a:rPr lang="en-US" sz="2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Definición de metas de venta y notificaciones de pagos pendientes.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516756" y="5947936"/>
            <a:ext cx="4572820" cy="3141344"/>
            <a:chOff x="0" y="0"/>
            <a:chExt cx="2903684" cy="199471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AE56EA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7168512" y="6327640"/>
            <a:ext cx="3490536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AE56E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FACIL USO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876595" y="6815993"/>
            <a:ext cx="3853142" cy="2052061"/>
            <a:chOff x="0" y="0"/>
            <a:chExt cx="5237043" cy="278908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237043" cy="2789083"/>
            </a:xfrm>
            <a:custGeom>
              <a:avLst/>
              <a:gdLst/>
              <a:ahLst/>
              <a:cxnLst/>
              <a:rect r="r" b="b" t="t" l="l"/>
              <a:pathLst>
                <a:path h="2789083" w="5237043">
                  <a:moveTo>
                    <a:pt x="0" y="0"/>
                  </a:moveTo>
                  <a:lnTo>
                    <a:pt x="5237043" y="0"/>
                  </a:lnTo>
                  <a:lnTo>
                    <a:pt x="5237043" y="2789083"/>
                  </a:lnTo>
                  <a:lnTo>
                    <a:pt x="0" y="27890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53" r="-130475" b="-4989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237043" cy="2827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0"/>
                </a:lnSpc>
              </a:pPr>
              <a:r>
                <a:rPr lang="en-US" sz="2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app de fácil uso, con funciones especificas a registrar movimientos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659034" y="5947936"/>
            <a:ext cx="4572820" cy="3141344"/>
            <a:chOff x="0" y="0"/>
            <a:chExt cx="2903684" cy="199471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96D5C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2310789" y="6241608"/>
            <a:ext cx="3490536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96D5C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MODELO B2G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129486" y="6815993"/>
            <a:ext cx="3853142" cy="2052061"/>
            <a:chOff x="0" y="0"/>
            <a:chExt cx="5237043" cy="278908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237043" cy="2789083"/>
            </a:xfrm>
            <a:custGeom>
              <a:avLst/>
              <a:gdLst/>
              <a:ahLst/>
              <a:cxnLst/>
              <a:rect r="r" b="b" t="t" l="l"/>
              <a:pathLst>
                <a:path h="2789083" w="5237043">
                  <a:moveTo>
                    <a:pt x="0" y="0"/>
                  </a:moveTo>
                  <a:lnTo>
                    <a:pt x="5237043" y="0"/>
                  </a:lnTo>
                  <a:lnTo>
                    <a:pt x="5237043" y="2789083"/>
                  </a:lnTo>
                  <a:lnTo>
                    <a:pt x="0" y="27890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53" r="-130475" b="-4989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5237043" cy="2827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0"/>
                </a:lnSpc>
              </a:pPr>
              <a:r>
                <a:rPr lang="en-US" sz="2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 Las municipalidades adquieren el plan y activan el acceso seguro para sus vecinos mediante correo y clave.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flipV="true">
            <a:off x="2281700" y="9915525"/>
            <a:ext cx="15158575" cy="0"/>
          </a:xfrm>
          <a:prstGeom prst="line">
            <a:avLst/>
          </a:prstGeom>
          <a:ln cap="flat" w="9525">
            <a:solidFill>
              <a:srgbClr val="FFC1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90034" y="9709785"/>
            <a:ext cx="8229600" cy="411480"/>
            <a:chOff x="0" y="0"/>
            <a:chExt cx="109728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Tally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2450" y="2113871"/>
            <a:ext cx="17183100" cy="7402526"/>
            <a:chOff x="0" y="0"/>
            <a:chExt cx="22910800" cy="9870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10800" cy="9870035"/>
            </a:xfrm>
            <a:custGeom>
              <a:avLst/>
              <a:gdLst/>
              <a:ahLst/>
              <a:cxnLst/>
              <a:rect r="r" b="b" t="t" l="l"/>
              <a:pathLst>
                <a:path h="9870035" w="22910800">
                  <a:moveTo>
                    <a:pt x="123176" y="0"/>
                  </a:moveTo>
                  <a:lnTo>
                    <a:pt x="22787623" y="0"/>
                  </a:lnTo>
                  <a:cubicBezTo>
                    <a:pt x="22855651" y="0"/>
                    <a:pt x="22910800" y="441896"/>
                    <a:pt x="22910800" y="987004"/>
                  </a:cubicBezTo>
                  <a:lnTo>
                    <a:pt x="22910800" y="8883031"/>
                  </a:lnTo>
                  <a:cubicBezTo>
                    <a:pt x="22910800" y="9428138"/>
                    <a:pt x="22855651" y="9870035"/>
                    <a:pt x="22787623" y="9870035"/>
                  </a:cubicBezTo>
                  <a:lnTo>
                    <a:pt x="123176" y="9870035"/>
                  </a:lnTo>
                  <a:cubicBezTo>
                    <a:pt x="55148" y="9870035"/>
                    <a:pt x="0" y="9428138"/>
                    <a:pt x="0" y="8883031"/>
                  </a:cubicBezTo>
                  <a:lnTo>
                    <a:pt x="0" y="987004"/>
                  </a:lnTo>
                  <a:cubicBezTo>
                    <a:pt x="0" y="441896"/>
                    <a:pt x="55148" y="0"/>
                    <a:pt x="123176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10800" cy="9908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694" y="361578"/>
            <a:ext cx="17004612" cy="952500"/>
            <a:chOff x="0" y="0"/>
            <a:chExt cx="22672816" cy="127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2816" cy="1270000"/>
            </a:xfrm>
            <a:custGeom>
              <a:avLst/>
              <a:gdLst/>
              <a:ahLst/>
              <a:cxnLst/>
              <a:rect r="r" b="b" t="t" l="l"/>
              <a:pathLst>
                <a:path h="1270000" w="22672816">
                  <a:moveTo>
                    <a:pt x="121897" y="0"/>
                  </a:moveTo>
                  <a:lnTo>
                    <a:pt x="22550918" y="0"/>
                  </a:lnTo>
                  <a:cubicBezTo>
                    <a:pt x="22618240" y="0"/>
                    <a:pt x="22672816" y="56860"/>
                    <a:pt x="22672816" y="127000"/>
                  </a:cubicBezTo>
                  <a:lnTo>
                    <a:pt x="22672816" y="1143000"/>
                  </a:lnTo>
                  <a:cubicBezTo>
                    <a:pt x="22672816" y="1213140"/>
                    <a:pt x="22618240" y="1270000"/>
                    <a:pt x="22550918" y="1270000"/>
                  </a:cubicBezTo>
                  <a:lnTo>
                    <a:pt x="121897" y="1270000"/>
                  </a:lnTo>
                  <a:cubicBezTo>
                    <a:pt x="54575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4575" y="0"/>
                    <a:pt x="121897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2816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6352" y="2404966"/>
            <a:ext cx="7183282" cy="3295484"/>
            <a:chOff x="0" y="0"/>
            <a:chExt cx="2903684" cy="13321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03684" cy="1332127"/>
            </a:xfrm>
            <a:custGeom>
              <a:avLst/>
              <a:gdLst/>
              <a:ahLst/>
              <a:cxnLst/>
              <a:rect r="r" b="b" t="t" l="l"/>
              <a:pathLst>
                <a:path h="1332127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59641"/>
                    <a:pt x="2903684" y="133213"/>
                  </a:cubicBezTo>
                  <a:lnTo>
                    <a:pt x="2903684" y="1198914"/>
                  </a:lnTo>
                  <a:cubicBezTo>
                    <a:pt x="2903684" y="1272486"/>
                    <a:pt x="2862320" y="1332127"/>
                    <a:pt x="2811294" y="1332127"/>
                  </a:cubicBezTo>
                  <a:lnTo>
                    <a:pt x="92390" y="1332127"/>
                  </a:lnTo>
                  <a:cubicBezTo>
                    <a:pt x="41364" y="1332127"/>
                    <a:pt x="0" y="1272486"/>
                    <a:pt x="0" y="1198914"/>
                  </a:cubicBezTo>
                  <a:lnTo>
                    <a:pt x="0" y="133213"/>
                  </a:lnTo>
                  <a:cubicBezTo>
                    <a:pt x="0" y="59641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B2E18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903684" cy="1370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25176" y="2689305"/>
            <a:ext cx="6805635" cy="2878249"/>
            <a:chOff x="0" y="0"/>
            <a:chExt cx="6165392" cy="26074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65393" cy="2607477"/>
            </a:xfrm>
            <a:custGeom>
              <a:avLst/>
              <a:gdLst/>
              <a:ahLst/>
              <a:cxnLst/>
              <a:rect r="r" b="b" t="t" l="l"/>
              <a:pathLst>
                <a:path h="2607477" w="6165393">
                  <a:moveTo>
                    <a:pt x="0" y="0"/>
                  </a:moveTo>
                  <a:lnTo>
                    <a:pt x="6165393" y="0"/>
                  </a:lnTo>
                  <a:lnTo>
                    <a:pt x="6165393" y="2607477"/>
                  </a:lnTo>
                  <a:lnTo>
                    <a:pt x="0" y="26074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9" r="-95771" b="-6033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165392" cy="2655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499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El proyecto Tally genera un impacto dual positivo en la comunidad.</a:t>
              </a:r>
            </a:p>
            <a:p>
              <a:pPr algn="ctr">
                <a:lnSpc>
                  <a:spcPts val="3599"/>
                </a:lnSpc>
              </a:pPr>
            </a:p>
            <a:p>
              <a:pPr algn="ctr">
                <a:lnSpc>
                  <a:spcPts val="3599"/>
                </a:lnSpc>
              </a:pPr>
              <a:r>
                <a:rPr lang="en-US" sz="2499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Permite a los emprendedores tomar mejores decisiones financieras y mantener sus negocios ordenados.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6352" y="5951564"/>
            <a:ext cx="7183282" cy="3273738"/>
            <a:chOff x="0" y="0"/>
            <a:chExt cx="3442322" cy="15688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42322" cy="1568818"/>
            </a:xfrm>
            <a:custGeom>
              <a:avLst/>
              <a:gdLst/>
              <a:ahLst/>
              <a:cxnLst/>
              <a:rect r="r" b="b" t="t" l="l"/>
              <a:pathLst>
                <a:path h="1568818" w="3442322">
                  <a:moveTo>
                    <a:pt x="109528" y="0"/>
                  </a:moveTo>
                  <a:lnTo>
                    <a:pt x="3332794" y="0"/>
                  </a:lnTo>
                  <a:cubicBezTo>
                    <a:pt x="3393285" y="0"/>
                    <a:pt x="3442322" y="70238"/>
                    <a:pt x="3442322" y="156882"/>
                  </a:cubicBezTo>
                  <a:lnTo>
                    <a:pt x="3442322" y="1411936"/>
                  </a:lnTo>
                  <a:cubicBezTo>
                    <a:pt x="3442322" y="1498579"/>
                    <a:pt x="3393285" y="1568818"/>
                    <a:pt x="3332794" y="1568818"/>
                  </a:cubicBezTo>
                  <a:lnTo>
                    <a:pt x="109528" y="1568818"/>
                  </a:lnTo>
                  <a:cubicBezTo>
                    <a:pt x="49038" y="1568818"/>
                    <a:pt x="0" y="1498579"/>
                    <a:pt x="0" y="1411936"/>
                  </a:cubicBezTo>
                  <a:lnTo>
                    <a:pt x="0" y="156882"/>
                  </a:lnTo>
                  <a:cubicBezTo>
                    <a:pt x="0" y="70238"/>
                    <a:pt x="49038" y="0"/>
                    <a:pt x="109528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B817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442322" cy="1616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8808" y="5859232"/>
            <a:ext cx="6918371" cy="3366071"/>
            <a:chOff x="0" y="0"/>
            <a:chExt cx="7353546" cy="35778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53546" cy="3577801"/>
            </a:xfrm>
            <a:custGeom>
              <a:avLst/>
              <a:gdLst/>
              <a:ahLst/>
              <a:cxnLst/>
              <a:rect r="r" b="b" t="t" l="l"/>
              <a:pathLst>
                <a:path h="3577801" w="7353546">
                  <a:moveTo>
                    <a:pt x="0" y="0"/>
                  </a:moveTo>
                  <a:lnTo>
                    <a:pt x="7353546" y="0"/>
                  </a:lnTo>
                  <a:lnTo>
                    <a:pt x="7353546" y="3577801"/>
                  </a:lnTo>
                  <a:lnTo>
                    <a:pt x="0" y="35778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19" r="-64139" b="-1684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353546" cy="36254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56"/>
                </a:lnSpc>
              </a:pPr>
              <a:r>
                <a:rPr lang="en-US" sz="24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Brinda a las municipalidades una herramienta concreta para fortalecer el apoyo a sus vecinos emprendedores, fomentando la organización y el desarrollo económico.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2281700" y="9915525"/>
            <a:ext cx="15158575" cy="0"/>
          </a:xfrm>
          <a:prstGeom prst="line">
            <a:avLst/>
          </a:prstGeom>
          <a:ln cap="flat" w="9525">
            <a:solidFill>
              <a:srgbClr val="FFC1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90034" y="9709785"/>
            <a:ext cx="8229600" cy="411480"/>
            <a:chOff x="0" y="0"/>
            <a:chExt cx="109728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Tally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724066" y="3149663"/>
            <a:ext cx="8535234" cy="5547902"/>
          </a:xfrm>
          <a:custGeom>
            <a:avLst/>
            <a:gdLst/>
            <a:ahLst/>
            <a:cxnLst/>
            <a:rect r="r" b="b" t="t" l="l"/>
            <a:pathLst>
              <a:path h="5547902" w="8535234">
                <a:moveTo>
                  <a:pt x="0" y="0"/>
                </a:moveTo>
                <a:lnTo>
                  <a:pt x="8535234" y="0"/>
                </a:lnTo>
                <a:lnTo>
                  <a:pt x="8535234" y="5547902"/>
                </a:lnTo>
                <a:lnTo>
                  <a:pt x="0" y="554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476500" y="419091"/>
            <a:ext cx="13335000" cy="74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FA2E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IMPACTO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9976" y="1721540"/>
            <a:ext cx="17788049" cy="7773878"/>
            <a:chOff x="0" y="0"/>
            <a:chExt cx="23717398" cy="10365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7399" cy="10365170"/>
            </a:xfrm>
            <a:custGeom>
              <a:avLst/>
              <a:gdLst/>
              <a:ahLst/>
              <a:cxnLst/>
              <a:rect r="r" b="b" t="t" l="l"/>
              <a:pathLst>
                <a:path h="10365170" w="23717399">
                  <a:moveTo>
                    <a:pt x="127513" y="0"/>
                  </a:moveTo>
                  <a:lnTo>
                    <a:pt x="23589886" y="0"/>
                  </a:lnTo>
                  <a:cubicBezTo>
                    <a:pt x="23660309" y="0"/>
                    <a:pt x="23717399" y="464065"/>
                    <a:pt x="23717399" y="1036517"/>
                  </a:cubicBezTo>
                  <a:lnTo>
                    <a:pt x="23717399" y="9328654"/>
                  </a:lnTo>
                  <a:cubicBezTo>
                    <a:pt x="23717399" y="9901107"/>
                    <a:pt x="23660309" y="10365170"/>
                    <a:pt x="23589886" y="10365170"/>
                  </a:cubicBezTo>
                  <a:lnTo>
                    <a:pt x="127513" y="10365170"/>
                  </a:lnTo>
                  <a:cubicBezTo>
                    <a:pt x="57089" y="10365170"/>
                    <a:pt x="0" y="9901107"/>
                    <a:pt x="0" y="9328654"/>
                  </a:cubicBezTo>
                  <a:lnTo>
                    <a:pt x="0" y="1036517"/>
                  </a:lnTo>
                  <a:cubicBezTo>
                    <a:pt x="0" y="464065"/>
                    <a:pt x="57089" y="0"/>
                    <a:pt x="127513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717398" cy="1040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0018" y="353695"/>
            <a:ext cx="15267964" cy="952500"/>
            <a:chOff x="0" y="0"/>
            <a:chExt cx="20357285" cy="127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57286" cy="1270000"/>
            </a:xfrm>
            <a:custGeom>
              <a:avLst/>
              <a:gdLst/>
              <a:ahLst/>
              <a:cxnLst/>
              <a:rect r="r" b="b" t="t" l="l"/>
              <a:pathLst>
                <a:path h="1270000" w="20357286">
                  <a:moveTo>
                    <a:pt x="109448" y="0"/>
                  </a:moveTo>
                  <a:lnTo>
                    <a:pt x="20247837" y="0"/>
                  </a:lnTo>
                  <a:cubicBezTo>
                    <a:pt x="20308284" y="0"/>
                    <a:pt x="20357286" y="56860"/>
                    <a:pt x="20357286" y="127000"/>
                  </a:cubicBezTo>
                  <a:lnTo>
                    <a:pt x="20357286" y="1143000"/>
                  </a:lnTo>
                  <a:cubicBezTo>
                    <a:pt x="20357286" y="1213140"/>
                    <a:pt x="20308284" y="1270000"/>
                    <a:pt x="20247837" y="1270000"/>
                  </a:cubicBezTo>
                  <a:lnTo>
                    <a:pt x="109448" y="1270000"/>
                  </a:lnTo>
                  <a:cubicBezTo>
                    <a:pt x="49001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49001" y="0"/>
                    <a:pt x="109448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57285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16596360" cy="1940098"/>
            <a:chOff x="0" y="0"/>
            <a:chExt cx="22128480" cy="2586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2586797"/>
            </a:xfrm>
            <a:custGeom>
              <a:avLst/>
              <a:gdLst/>
              <a:ahLst/>
              <a:cxnLst/>
              <a:rect r="r" b="b" t="t" l="l"/>
              <a:pathLst>
                <a:path h="2586797" w="22128480">
                  <a:moveTo>
                    <a:pt x="0" y="246362"/>
                  </a:moveTo>
                  <a:cubicBezTo>
                    <a:pt x="0" y="110349"/>
                    <a:pt x="81915" y="0"/>
                    <a:pt x="182880" y="0"/>
                  </a:cubicBezTo>
                  <a:lnTo>
                    <a:pt x="21945600" y="0"/>
                  </a:lnTo>
                  <a:cubicBezTo>
                    <a:pt x="22046564" y="0"/>
                    <a:pt x="22128480" y="110349"/>
                    <a:pt x="22128480" y="246362"/>
                  </a:cubicBezTo>
                  <a:lnTo>
                    <a:pt x="22128480" y="2340435"/>
                  </a:lnTo>
                  <a:cubicBezTo>
                    <a:pt x="22128480" y="2476447"/>
                    <a:pt x="22046564" y="2586797"/>
                    <a:pt x="21945600" y="2586797"/>
                  </a:cubicBezTo>
                  <a:lnTo>
                    <a:pt x="182880" y="2586797"/>
                  </a:lnTo>
                  <a:cubicBezTo>
                    <a:pt x="81915" y="2586797"/>
                    <a:pt x="0" y="2476447"/>
                    <a:pt x="0" y="2340435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2514361"/>
            <a:ext cx="4114800" cy="557174"/>
            <a:chOff x="0" y="0"/>
            <a:chExt cx="5486400" cy="7428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742899"/>
            </a:xfrm>
            <a:custGeom>
              <a:avLst/>
              <a:gdLst/>
              <a:ahLst/>
              <a:cxnLst/>
              <a:rect r="r" b="b" t="t" l="l"/>
              <a:pathLst>
                <a:path h="742899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42899"/>
                  </a:lnTo>
                  <a:lnTo>
                    <a:pt x="0" y="7428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819" r="0" b="-8697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5486400" cy="8095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233">
                  <a:solidFill>
                    <a:srgbClr val="A1F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GENERAL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43724" y="3061219"/>
            <a:ext cx="15773400" cy="1045505"/>
            <a:chOff x="0" y="0"/>
            <a:chExt cx="21031200" cy="13940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1394007"/>
            </a:xfrm>
            <a:custGeom>
              <a:avLst/>
              <a:gdLst/>
              <a:ahLst/>
              <a:cxnLst/>
              <a:rect r="r" b="b" t="t" l="l"/>
              <a:pathLst>
                <a:path h="139400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94007"/>
                  </a:lnTo>
                  <a:lnTo>
                    <a:pt x="0" y="13940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4611" r="0" b="-2333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14300"/>
              <a:ext cx="21031200" cy="1508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63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una aplicación de finanzas simples para emprendedores informales que permita registrar y visualizar sus ingresos y egresos, bajo un modelo de venta B2G a municipalidades.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4547910"/>
            <a:ext cx="6858000" cy="595590"/>
            <a:chOff x="0" y="0"/>
            <a:chExt cx="9144000" cy="794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0" cy="794120"/>
            </a:xfrm>
            <a:custGeom>
              <a:avLst/>
              <a:gdLst/>
              <a:ahLst/>
              <a:cxnLst/>
              <a:rect r="r" b="b" t="t" l="l"/>
              <a:pathLst>
                <a:path h="7941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94120"/>
                  </a:lnTo>
                  <a:lnTo>
                    <a:pt x="0" y="794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061" r="0" b="-16466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9144000" cy="851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b="true" sz="2999" spc="249">
                  <a:solidFill>
                    <a:srgbClr val="B2E18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OBJETIVOS ESPECÍFICOS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5107368"/>
            <a:ext cx="15636240" cy="754380"/>
            <a:chOff x="0" y="0"/>
            <a:chExt cx="2084832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84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611" r="0" b="-122161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08483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1966" indent="-250983" lvl="1">
                <a:lnSpc>
                  <a:spcPts val="2789"/>
                </a:lnSpc>
                <a:buFont typeface="Arial"/>
                <a:buChar char="•"/>
              </a:pPr>
              <a:r>
                <a:rPr lang="en-US" sz="23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Diseñar la base de datos y arquitectura del sistema para el registro y almacenamiento seguro de movimientos financieros.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5861748"/>
            <a:ext cx="15636240" cy="754380"/>
            <a:chOff x="0" y="0"/>
            <a:chExt cx="2084832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84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3871" r="0" b="-35387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08483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1966" indent="-250983" lvl="1">
                <a:lnSpc>
                  <a:spcPts val="2789"/>
                </a:lnSpc>
                <a:buFont typeface="Arial"/>
                <a:buChar char="•"/>
              </a:pPr>
              <a:r>
                <a:rPr lang="en-US" sz="23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Implementar el registro de ingresos y egresos con categorías personalizables y exportación a Excel.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6616128"/>
            <a:ext cx="15636240" cy="754380"/>
            <a:chOff x="0" y="0"/>
            <a:chExt cx="2084832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84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3871" r="0" b="-35387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08483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1966" indent="-250983" lvl="1">
                <a:lnSpc>
                  <a:spcPts val="2789"/>
                </a:lnSpc>
                <a:buFont typeface="Arial"/>
                <a:buChar char="•"/>
              </a:pPr>
              <a:r>
                <a:rPr lang="en-US" sz="23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Construir el dashboard con visualización gráfica de datos por semana, mes y año.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8700" y="7436040"/>
            <a:ext cx="15636240" cy="754380"/>
            <a:chOff x="0" y="0"/>
            <a:chExt cx="2084832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84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3871" r="0" b="-35387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08483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1966" indent="-250983" lvl="1">
                <a:lnSpc>
                  <a:spcPts val="2789"/>
                </a:lnSpc>
                <a:buFont typeface="Arial"/>
                <a:buChar char="•"/>
              </a:pPr>
              <a:r>
                <a:rPr lang="en-US" sz="23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metas de venta, recordatorios diarios y notificación de pagos pendientes.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8700" y="8285670"/>
            <a:ext cx="15636240" cy="754380"/>
            <a:chOff x="0" y="0"/>
            <a:chExt cx="2084832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84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3871" r="0" b="-35387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08483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1966" indent="-250983" lvl="1">
                <a:lnSpc>
                  <a:spcPts val="2789"/>
                </a:lnSpc>
                <a:buFont typeface="Arial"/>
                <a:buChar char="•"/>
              </a:pPr>
              <a:r>
                <a:rPr lang="en-US" sz="23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Implementar el mecanismo de activación municipal (clave y correo) para cada emprendedor.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flipV="true">
            <a:off x="2281700" y="9915525"/>
            <a:ext cx="15158575" cy="0"/>
          </a:xfrm>
          <a:prstGeom prst="line">
            <a:avLst/>
          </a:prstGeom>
          <a:ln cap="flat" w="9525">
            <a:solidFill>
              <a:srgbClr val="FFC1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90034" y="9709785"/>
            <a:ext cx="8229600" cy="411480"/>
            <a:chOff x="0" y="0"/>
            <a:chExt cx="1097280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Tally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881055" y="363201"/>
            <a:ext cx="12898739" cy="80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FB8172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5521" y="1667267"/>
            <a:ext cx="17596958" cy="7773878"/>
            <a:chOff x="0" y="0"/>
            <a:chExt cx="23462610" cy="10365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62610" cy="10365170"/>
            </a:xfrm>
            <a:custGeom>
              <a:avLst/>
              <a:gdLst/>
              <a:ahLst/>
              <a:cxnLst/>
              <a:rect r="r" b="b" t="t" l="l"/>
              <a:pathLst>
                <a:path h="10365170" w="23462610">
                  <a:moveTo>
                    <a:pt x="126143" y="0"/>
                  </a:moveTo>
                  <a:lnTo>
                    <a:pt x="23336467" y="0"/>
                  </a:lnTo>
                  <a:cubicBezTo>
                    <a:pt x="23406134" y="0"/>
                    <a:pt x="23462610" y="464065"/>
                    <a:pt x="23462610" y="1036517"/>
                  </a:cubicBezTo>
                  <a:lnTo>
                    <a:pt x="23462610" y="9328654"/>
                  </a:lnTo>
                  <a:cubicBezTo>
                    <a:pt x="23462610" y="9901107"/>
                    <a:pt x="23406134" y="10365170"/>
                    <a:pt x="23336467" y="10365170"/>
                  </a:cubicBezTo>
                  <a:lnTo>
                    <a:pt x="126143" y="10365170"/>
                  </a:lnTo>
                  <a:cubicBezTo>
                    <a:pt x="56476" y="10365170"/>
                    <a:pt x="0" y="9901107"/>
                    <a:pt x="0" y="9328654"/>
                  </a:cubicBezTo>
                  <a:lnTo>
                    <a:pt x="0" y="1036517"/>
                  </a:lnTo>
                  <a:cubicBezTo>
                    <a:pt x="0" y="464065"/>
                    <a:pt x="56476" y="0"/>
                    <a:pt x="126143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462610" cy="1040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2281700" y="9915525"/>
            <a:ext cx="15158575" cy="0"/>
          </a:xfrm>
          <a:prstGeom prst="line">
            <a:avLst/>
          </a:prstGeom>
          <a:ln cap="flat" w="9525">
            <a:solidFill>
              <a:srgbClr val="FFC1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510018" y="353695"/>
            <a:ext cx="15267964" cy="952500"/>
            <a:chOff x="0" y="0"/>
            <a:chExt cx="20357285" cy="127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57286" cy="1270000"/>
            </a:xfrm>
            <a:custGeom>
              <a:avLst/>
              <a:gdLst/>
              <a:ahLst/>
              <a:cxnLst/>
              <a:rect r="r" b="b" t="t" l="l"/>
              <a:pathLst>
                <a:path h="1270000" w="20357286">
                  <a:moveTo>
                    <a:pt x="109448" y="0"/>
                  </a:moveTo>
                  <a:lnTo>
                    <a:pt x="20247837" y="0"/>
                  </a:lnTo>
                  <a:cubicBezTo>
                    <a:pt x="20308284" y="0"/>
                    <a:pt x="20357286" y="56860"/>
                    <a:pt x="20357286" y="127000"/>
                  </a:cubicBezTo>
                  <a:lnTo>
                    <a:pt x="20357286" y="1143000"/>
                  </a:lnTo>
                  <a:cubicBezTo>
                    <a:pt x="20357286" y="1213140"/>
                    <a:pt x="20308284" y="1270000"/>
                    <a:pt x="20247837" y="1270000"/>
                  </a:cubicBezTo>
                  <a:lnTo>
                    <a:pt x="109448" y="1270000"/>
                  </a:lnTo>
                  <a:cubicBezTo>
                    <a:pt x="49001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49001" y="0"/>
                    <a:pt x="109448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357285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084263" y="371466"/>
            <a:ext cx="10902364" cy="79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B8172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METODOLOGÍAS Y ROLES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61806" y="2468880"/>
            <a:ext cx="16584070" cy="1596796"/>
            <a:chOff x="0" y="0"/>
            <a:chExt cx="22112093" cy="21290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12094" cy="2129062"/>
            </a:xfrm>
            <a:custGeom>
              <a:avLst/>
              <a:gdLst/>
              <a:ahLst/>
              <a:cxnLst/>
              <a:rect r="r" b="b" t="t" l="l"/>
              <a:pathLst>
                <a:path h="2129062" w="22112094">
                  <a:moveTo>
                    <a:pt x="0" y="0"/>
                  </a:moveTo>
                  <a:lnTo>
                    <a:pt x="22112094" y="0"/>
                  </a:lnTo>
                  <a:lnTo>
                    <a:pt x="22112094" y="2129062"/>
                  </a:lnTo>
                  <a:lnTo>
                    <a:pt x="0" y="21290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275" r="-74" b="-1497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22112093" cy="2252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03"/>
                </a:lnSpc>
              </a:pPr>
              <a:r>
                <a:rPr lang="en-US" sz="28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proyecto se desarrolla bajo una metodología ágil, organizando el trabajo en sprints con entregas incrementales alineadas a las fases de Portafolio de Título. Cada sprint contempla planificación, desarrollo y revisión de avances con retroalimentación docente.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9218" y="4320540"/>
            <a:ext cx="5417820" cy="4800600"/>
            <a:chOff x="0" y="0"/>
            <a:chExt cx="7223760" cy="640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23761" cy="6400800"/>
            </a:xfrm>
            <a:custGeom>
              <a:avLst/>
              <a:gdLst/>
              <a:ahLst/>
              <a:cxnLst/>
              <a:rect r="r" b="b" t="t" l="l"/>
              <a:pathLst>
                <a:path h="6400800" w="72237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004304" y="0"/>
                  </a:lnTo>
                  <a:cubicBezTo>
                    <a:pt x="7125462" y="0"/>
                    <a:pt x="7223761" y="98298"/>
                    <a:pt x="7223761" y="219456"/>
                  </a:cubicBezTo>
                  <a:lnTo>
                    <a:pt x="7223761" y="6181344"/>
                  </a:lnTo>
                  <a:cubicBezTo>
                    <a:pt x="7223761" y="6302502"/>
                    <a:pt x="7125462" y="6400800"/>
                    <a:pt x="7004304" y="6400800"/>
                  </a:cubicBezTo>
                  <a:lnTo>
                    <a:pt x="219456" y="6400800"/>
                  </a:lnTo>
                  <a:cubicBezTo>
                    <a:pt x="98298" y="6400800"/>
                    <a:pt x="0" y="6302502"/>
                    <a:pt x="0" y="6181344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4662666"/>
            <a:ext cx="891540" cy="891540"/>
            <a:chOff x="0" y="0"/>
            <a:chExt cx="1188720" cy="1188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A4CD6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88362" y="4862506"/>
            <a:ext cx="4705530" cy="2546645"/>
            <a:chOff x="0" y="0"/>
            <a:chExt cx="3984931" cy="21566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4931" cy="2156654"/>
            </a:xfrm>
            <a:custGeom>
              <a:avLst/>
              <a:gdLst/>
              <a:ahLst/>
              <a:cxnLst/>
              <a:rect r="r" b="b" t="t" l="l"/>
              <a:pathLst>
                <a:path h="2156654" w="3984931">
                  <a:moveTo>
                    <a:pt x="0" y="0"/>
                  </a:moveTo>
                  <a:lnTo>
                    <a:pt x="3984931" y="0"/>
                  </a:lnTo>
                  <a:lnTo>
                    <a:pt x="3984931" y="2156654"/>
                  </a:lnTo>
                  <a:lnTo>
                    <a:pt x="0" y="21566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218" r="-56035" b="268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3984931" cy="2166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4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Lucas Marchant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8362" y="6502944"/>
            <a:ext cx="4705530" cy="647851"/>
            <a:chOff x="0" y="0"/>
            <a:chExt cx="3984931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84931" cy="548640"/>
            </a:xfrm>
            <a:custGeom>
              <a:avLst/>
              <a:gdLst/>
              <a:ahLst/>
              <a:cxnLst/>
              <a:rect r="r" b="b" t="t" l="l"/>
              <a:pathLst>
                <a:path h="548640" w="3984931">
                  <a:moveTo>
                    <a:pt x="0" y="0"/>
                  </a:moveTo>
                  <a:lnTo>
                    <a:pt x="3984931" y="0"/>
                  </a:lnTo>
                  <a:lnTo>
                    <a:pt x="398493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-56035" b="-1708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984931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b="true" sz="2174" spc="207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LÍDER DE PROYECTO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53465" y="6748272"/>
            <a:ext cx="4663440" cy="2057400"/>
            <a:chOff x="0" y="0"/>
            <a:chExt cx="6217920" cy="2743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17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4" t="0" r="-660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33350"/>
              <a:ext cx="6217920" cy="287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12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Planificación, coordinación y gestión de riesgos del proyecto.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83680" y="4320540"/>
            <a:ext cx="5417820" cy="4800600"/>
            <a:chOff x="0" y="0"/>
            <a:chExt cx="7223760" cy="6400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23761" cy="6400800"/>
            </a:xfrm>
            <a:custGeom>
              <a:avLst/>
              <a:gdLst/>
              <a:ahLst/>
              <a:cxnLst/>
              <a:rect r="r" b="b" t="t" l="l"/>
              <a:pathLst>
                <a:path h="6400800" w="72237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004304" y="0"/>
                  </a:lnTo>
                  <a:cubicBezTo>
                    <a:pt x="7125462" y="0"/>
                    <a:pt x="7223761" y="98298"/>
                    <a:pt x="7223761" y="219456"/>
                  </a:cubicBezTo>
                  <a:lnTo>
                    <a:pt x="7223761" y="6181344"/>
                  </a:lnTo>
                  <a:cubicBezTo>
                    <a:pt x="7223761" y="6302502"/>
                    <a:pt x="7125462" y="6400800"/>
                    <a:pt x="7004304" y="6400800"/>
                  </a:cubicBezTo>
                  <a:lnTo>
                    <a:pt x="219456" y="6400800"/>
                  </a:lnTo>
                  <a:cubicBezTo>
                    <a:pt x="98298" y="6400800"/>
                    <a:pt x="0" y="6302502"/>
                    <a:pt x="0" y="6181344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901076" y="4862506"/>
            <a:ext cx="4705530" cy="2546645"/>
            <a:chOff x="0" y="0"/>
            <a:chExt cx="3984931" cy="215665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84931" cy="2156654"/>
            </a:xfrm>
            <a:custGeom>
              <a:avLst/>
              <a:gdLst/>
              <a:ahLst/>
              <a:cxnLst/>
              <a:rect r="r" b="b" t="t" l="l"/>
              <a:pathLst>
                <a:path h="2156654" w="3984931">
                  <a:moveTo>
                    <a:pt x="0" y="0"/>
                  </a:moveTo>
                  <a:lnTo>
                    <a:pt x="3984931" y="0"/>
                  </a:lnTo>
                  <a:lnTo>
                    <a:pt x="3984931" y="2156654"/>
                  </a:lnTo>
                  <a:lnTo>
                    <a:pt x="0" y="21566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218" r="-56035" b="2686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984931" cy="2166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4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Cristopher Caniullan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01076" y="6502944"/>
            <a:ext cx="4705530" cy="647851"/>
            <a:chOff x="0" y="0"/>
            <a:chExt cx="3984931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984931" cy="548640"/>
            </a:xfrm>
            <a:custGeom>
              <a:avLst/>
              <a:gdLst/>
              <a:ahLst/>
              <a:cxnLst/>
              <a:rect r="r" b="b" t="t" l="l"/>
              <a:pathLst>
                <a:path h="548640" w="3984931">
                  <a:moveTo>
                    <a:pt x="0" y="0"/>
                  </a:moveTo>
                  <a:lnTo>
                    <a:pt x="3984931" y="0"/>
                  </a:lnTo>
                  <a:lnTo>
                    <a:pt x="398493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-56035" b="-17083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3984931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b="true" sz="2174" spc="207">
                  <a:solidFill>
                    <a:srgbClr val="F96D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&amp; DATOS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12280" y="6826687"/>
            <a:ext cx="4663440" cy="2057400"/>
            <a:chOff x="0" y="0"/>
            <a:chExt cx="6217920" cy="2743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17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4" t="0" r="-6604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33350"/>
              <a:ext cx="6217920" cy="287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12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 de datos, lógica de negocio y API del sistema.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344400" y="4320540"/>
            <a:ext cx="5417820" cy="4800600"/>
            <a:chOff x="0" y="0"/>
            <a:chExt cx="7223760" cy="6400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23761" cy="6400800"/>
            </a:xfrm>
            <a:custGeom>
              <a:avLst/>
              <a:gdLst/>
              <a:ahLst/>
              <a:cxnLst/>
              <a:rect r="r" b="b" t="t" l="l"/>
              <a:pathLst>
                <a:path h="6400800" w="72237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004304" y="0"/>
                  </a:lnTo>
                  <a:cubicBezTo>
                    <a:pt x="7125462" y="0"/>
                    <a:pt x="7223761" y="98298"/>
                    <a:pt x="7223761" y="219456"/>
                  </a:cubicBezTo>
                  <a:lnTo>
                    <a:pt x="7223761" y="6181344"/>
                  </a:lnTo>
                  <a:cubicBezTo>
                    <a:pt x="7223761" y="6302502"/>
                    <a:pt x="7125462" y="6400800"/>
                    <a:pt x="7004304" y="6400800"/>
                  </a:cubicBezTo>
                  <a:lnTo>
                    <a:pt x="219456" y="6400800"/>
                  </a:lnTo>
                  <a:cubicBezTo>
                    <a:pt x="98298" y="6400800"/>
                    <a:pt x="0" y="6302502"/>
                    <a:pt x="0" y="6181344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713790" y="4862506"/>
            <a:ext cx="4705530" cy="2546645"/>
            <a:chOff x="0" y="0"/>
            <a:chExt cx="3984931" cy="215665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84931" cy="2156654"/>
            </a:xfrm>
            <a:custGeom>
              <a:avLst/>
              <a:gdLst/>
              <a:ahLst/>
              <a:cxnLst/>
              <a:rect r="r" b="b" t="t" l="l"/>
              <a:pathLst>
                <a:path h="2156654" w="3984931">
                  <a:moveTo>
                    <a:pt x="0" y="0"/>
                  </a:moveTo>
                  <a:lnTo>
                    <a:pt x="3984931" y="0"/>
                  </a:lnTo>
                  <a:lnTo>
                    <a:pt x="3984931" y="2156654"/>
                  </a:lnTo>
                  <a:lnTo>
                    <a:pt x="0" y="21566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218" r="-56035" b="2686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3984931" cy="2166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4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Thiare Hernández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713790" y="6502944"/>
            <a:ext cx="4705530" cy="647851"/>
            <a:chOff x="0" y="0"/>
            <a:chExt cx="3984931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984931" cy="548640"/>
            </a:xfrm>
            <a:custGeom>
              <a:avLst/>
              <a:gdLst/>
              <a:ahLst/>
              <a:cxnLst/>
              <a:rect r="r" b="b" t="t" l="l"/>
              <a:pathLst>
                <a:path h="548640" w="3984931">
                  <a:moveTo>
                    <a:pt x="0" y="0"/>
                  </a:moveTo>
                  <a:lnTo>
                    <a:pt x="3984931" y="0"/>
                  </a:lnTo>
                  <a:lnTo>
                    <a:pt x="398493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-56035" b="-17083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3984931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b="true" sz="2174" spc="207">
                  <a:solidFill>
                    <a:srgbClr val="FF78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&amp; UI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595860" y="6826687"/>
            <a:ext cx="4663440" cy="2057400"/>
            <a:chOff x="0" y="0"/>
            <a:chExt cx="6217920" cy="2743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217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4" t="0" r="-6604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33350"/>
              <a:ext cx="6217920" cy="287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12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Interfaz de usuario, experiencia de usuario y conexión con backend.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90034" y="9709785"/>
            <a:ext cx="8229600" cy="411480"/>
            <a:chOff x="0" y="0"/>
            <a:chExt cx="109728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Tally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E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909435" y="4662666"/>
            <a:ext cx="891540" cy="891540"/>
            <a:chOff x="0" y="0"/>
            <a:chExt cx="1188720" cy="1188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F96D5C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744450" y="4662666"/>
            <a:ext cx="891540" cy="891540"/>
            <a:chOff x="0" y="0"/>
            <a:chExt cx="1188720" cy="11887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FFA2E3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469033" y="4862506"/>
            <a:ext cx="485497" cy="491860"/>
            <a:chOff x="0" y="0"/>
            <a:chExt cx="647329" cy="65581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47329" cy="655814"/>
            </a:xfrm>
            <a:custGeom>
              <a:avLst/>
              <a:gdLst/>
              <a:ahLst/>
              <a:cxnLst/>
              <a:rect r="r" b="b" t="t" l="l"/>
              <a:pathLst>
                <a:path h="655814" w="647329">
                  <a:moveTo>
                    <a:pt x="0" y="0"/>
                  </a:moveTo>
                  <a:lnTo>
                    <a:pt x="647329" y="0"/>
                  </a:lnTo>
                  <a:lnTo>
                    <a:pt x="647329" y="655814"/>
                  </a:lnTo>
                  <a:lnTo>
                    <a:pt x="0" y="6558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4091" r="-3318427" b="-71083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04775"/>
              <a:ext cx="647329" cy="760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3"/>
                </a:lnSpc>
              </a:pPr>
              <a:r>
                <a:rPr lang="en-US" b="true" sz="2349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LM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192467" y="4897570"/>
            <a:ext cx="485497" cy="491860"/>
            <a:chOff x="0" y="0"/>
            <a:chExt cx="647329" cy="65581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47329" cy="655814"/>
            </a:xfrm>
            <a:custGeom>
              <a:avLst/>
              <a:gdLst/>
              <a:ahLst/>
              <a:cxnLst/>
              <a:rect r="r" b="b" t="t" l="l"/>
              <a:pathLst>
                <a:path h="655814" w="647329">
                  <a:moveTo>
                    <a:pt x="0" y="0"/>
                  </a:moveTo>
                  <a:lnTo>
                    <a:pt x="647329" y="0"/>
                  </a:lnTo>
                  <a:lnTo>
                    <a:pt x="647329" y="655814"/>
                  </a:lnTo>
                  <a:lnTo>
                    <a:pt x="0" y="6558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4091" r="-3318427" b="-71083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04775"/>
              <a:ext cx="647329" cy="760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3"/>
                </a:lnSpc>
              </a:pPr>
              <a:r>
                <a:rPr lang="en-US" sz="2349" b="true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CC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947472" y="4897570"/>
            <a:ext cx="485497" cy="491860"/>
            <a:chOff x="0" y="0"/>
            <a:chExt cx="647329" cy="65581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47329" cy="655814"/>
            </a:xfrm>
            <a:custGeom>
              <a:avLst/>
              <a:gdLst/>
              <a:ahLst/>
              <a:cxnLst/>
              <a:rect r="r" b="b" t="t" l="l"/>
              <a:pathLst>
                <a:path h="655814" w="647329">
                  <a:moveTo>
                    <a:pt x="0" y="0"/>
                  </a:moveTo>
                  <a:lnTo>
                    <a:pt x="647329" y="0"/>
                  </a:lnTo>
                  <a:lnTo>
                    <a:pt x="647329" y="655814"/>
                  </a:lnTo>
                  <a:lnTo>
                    <a:pt x="0" y="6558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4091" r="-3318427" b="-71083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04775"/>
              <a:ext cx="647329" cy="760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3"/>
                </a:lnSpc>
              </a:pPr>
              <a:r>
                <a:rPr lang="en-US" sz="2349" b="true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2450" y="1834213"/>
            <a:ext cx="17183100" cy="7773878"/>
            <a:chOff x="0" y="0"/>
            <a:chExt cx="22910800" cy="10365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10800" cy="10365170"/>
            </a:xfrm>
            <a:custGeom>
              <a:avLst/>
              <a:gdLst/>
              <a:ahLst/>
              <a:cxnLst/>
              <a:rect r="r" b="b" t="t" l="l"/>
              <a:pathLst>
                <a:path h="10365170" w="22910800">
                  <a:moveTo>
                    <a:pt x="123176" y="0"/>
                  </a:moveTo>
                  <a:lnTo>
                    <a:pt x="22787623" y="0"/>
                  </a:lnTo>
                  <a:cubicBezTo>
                    <a:pt x="22855651" y="0"/>
                    <a:pt x="22910800" y="464065"/>
                    <a:pt x="22910800" y="1036517"/>
                  </a:cubicBezTo>
                  <a:lnTo>
                    <a:pt x="22910800" y="9328654"/>
                  </a:lnTo>
                  <a:cubicBezTo>
                    <a:pt x="22910800" y="9901107"/>
                    <a:pt x="22855651" y="10365170"/>
                    <a:pt x="22787623" y="10365170"/>
                  </a:cubicBezTo>
                  <a:lnTo>
                    <a:pt x="123176" y="10365170"/>
                  </a:lnTo>
                  <a:cubicBezTo>
                    <a:pt x="55148" y="10365170"/>
                    <a:pt x="0" y="9901107"/>
                    <a:pt x="0" y="9328654"/>
                  </a:cubicBezTo>
                  <a:lnTo>
                    <a:pt x="0" y="1036517"/>
                  </a:lnTo>
                  <a:cubicBezTo>
                    <a:pt x="0" y="464065"/>
                    <a:pt x="55148" y="0"/>
                    <a:pt x="123176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10800" cy="1040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0018" y="353695"/>
            <a:ext cx="15267964" cy="952500"/>
            <a:chOff x="0" y="0"/>
            <a:chExt cx="20357285" cy="127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57286" cy="1270000"/>
            </a:xfrm>
            <a:custGeom>
              <a:avLst/>
              <a:gdLst/>
              <a:ahLst/>
              <a:cxnLst/>
              <a:rect r="r" b="b" t="t" l="l"/>
              <a:pathLst>
                <a:path h="1270000" w="20357286">
                  <a:moveTo>
                    <a:pt x="109448" y="0"/>
                  </a:moveTo>
                  <a:lnTo>
                    <a:pt x="20247837" y="0"/>
                  </a:lnTo>
                  <a:cubicBezTo>
                    <a:pt x="20308284" y="0"/>
                    <a:pt x="20357286" y="56860"/>
                    <a:pt x="20357286" y="127000"/>
                  </a:cubicBezTo>
                  <a:lnTo>
                    <a:pt x="20357286" y="1143000"/>
                  </a:lnTo>
                  <a:cubicBezTo>
                    <a:pt x="20357286" y="1213140"/>
                    <a:pt x="20308284" y="1270000"/>
                    <a:pt x="20247837" y="1270000"/>
                  </a:cubicBezTo>
                  <a:lnTo>
                    <a:pt x="109448" y="1270000"/>
                  </a:lnTo>
                  <a:cubicBezTo>
                    <a:pt x="49001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49001" y="0"/>
                    <a:pt x="109448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57285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79243" y="371466"/>
            <a:ext cx="10902364" cy="79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B8172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242460" y="5376708"/>
            <a:ext cx="3106534" cy="1017288"/>
            <a:chOff x="0" y="0"/>
            <a:chExt cx="818182" cy="2679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8182" cy="267928"/>
            </a:xfrm>
            <a:custGeom>
              <a:avLst/>
              <a:gdLst/>
              <a:ahLst/>
              <a:cxnLst/>
              <a:rect r="r" b="b" t="t" l="l"/>
              <a:pathLst>
                <a:path h="267928" w="818182">
                  <a:moveTo>
                    <a:pt x="0" y="0"/>
                  </a:moveTo>
                  <a:lnTo>
                    <a:pt x="818182" y="0"/>
                  </a:lnTo>
                  <a:lnTo>
                    <a:pt x="818182" y="267928"/>
                  </a:lnTo>
                  <a:lnTo>
                    <a:pt x="0" y="267928"/>
                  </a:lnTo>
                  <a:close/>
                </a:path>
              </a:pathLst>
            </a:custGeom>
            <a:solidFill>
              <a:srgbClr val="E0FFF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818182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8791892" y="1901289"/>
            <a:ext cx="4901136" cy="4901136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1438518" y="5376708"/>
            <a:ext cx="9803941" cy="1017288"/>
            <a:chOff x="0" y="0"/>
            <a:chExt cx="2582108" cy="2679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82108" cy="267928"/>
            </a:xfrm>
            <a:custGeom>
              <a:avLst/>
              <a:gdLst/>
              <a:ahLst/>
              <a:cxnLst/>
              <a:rect r="r" b="b" t="t" l="l"/>
              <a:pathLst>
                <a:path h="267928" w="2582108">
                  <a:moveTo>
                    <a:pt x="0" y="0"/>
                  </a:moveTo>
                  <a:lnTo>
                    <a:pt x="2582108" y="0"/>
                  </a:lnTo>
                  <a:lnTo>
                    <a:pt x="2582108" y="267928"/>
                  </a:lnTo>
                  <a:lnTo>
                    <a:pt x="0" y="267928"/>
                  </a:lnTo>
                  <a:close/>
                </a:path>
              </a:pathLst>
            </a:custGeom>
            <a:solidFill>
              <a:srgbClr val="44C0C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582108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28526" y="4351857"/>
            <a:ext cx="1470026" cy="553882"/>
            <a:chOff x="0" y="0"/>
            <a:chExt cx="600197" cy="2261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0197" cy="226144"/>
            </a:xfrm>
            <a:custGeom>
              <a:avLst/>
              <a:gdLst/>
              <a:ahLst/>
              <a:cxnLst/>
              <a:rect r="r" b="b" t="t" l="l"/>
              <a:pathLst>
                <a:path h="226144" w="600197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rgbClr val="44C0C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93781" y="-12422"/>
              <a:ext cx="412636" cy="1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74441" y="5432442"/>
            <a:ext cx="2381250" cy="867953"/>
            <a:chOff x="0" y="0"/>
            <a:chExt cx="627160" cy="2285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7161" cy="228597"/>
            </a:xfrm>
            <a:custGeom>
              <a:avLst/>
              <a:gdLst/>
              <a:ahLst/>
              <a:cxnLst/>
              <a:rect r="r" b="b" t="t" l="l"/>
              <a:pathLst>
                <a:path h="228597" w="627161">
                  <a:moveTo>
                    <a:pt x="114298" y="0"/>
                  </a:moveTo>
                  <a:lnTo>
                    <a:pt x="512862" y="0"/>
                  </a:lnTo>
                  <a:cubicBezTo>
                    <a:pt x="575987" y="0"/>
                    <a:pt x="627161" y="51173"/>
                    <a:pt x="627161" y="114298"/>
                  </a:cubicBezTo>
                  <a:lnTo>
                    <a:pt x="627161" y="114298"/>
                  </a:lnTo>
                  <a:cubicBezTo>
                    <a:pt x="627161" y="177424"/>
                    <a:pt x="575987" y="228597"/>
                    <a:pt x="512862" y="228597"/>
                  </a:cubicBezTo>
                  <a:lnTo>
                    <a:pt x="114298" y="228597"/>
                  </a:lnTo>
                  <a:cubicBezTo>
                    <a:pt x="51173" y="228597"/>
                    <a:pt x="0" y="177424"/>
                    <a:pt x="0" y="114298"/>
                  </a:cubicBezTo>
                  <a:lnTo>
                    <a:pt x="0" y="114298"/>
                  </a:lnTo>
                  <a:cubicBezTo>
                    <a:pt x="0" y="51173"/>
                    <a:pt x="51173" y="0"/>
                    <a:pt x="114298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627160" cy="257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558500" y="5432442"/>
            <a:ext cx="2304973" cy="867953"/>
            <a:chOff x="0" y="0"/>
            <a:chExt cx="607071" cy="2285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7071" cy="228597"/>
            </a:xfrm>
            <a:custGeom>
              <a:avLst/>
              <a:gdLst/>
              <a:ahLst/>
              <a:cxnLst/>
              <a:rect r="r" b="b" t="t" l="l"/>
              <a:pathLst>
                <a:path h="228597" w="607071">
                  <a:moveTo>
                    <a:pt x="114298" y="0"/>
                  </a:moveTo>
                  <a:lnTo>
                    <a:pt x="492773" y="0"/>
                  </a:lnTo>
                  <a:cubicBezTo>
                    <a:pt x="555898" y="0"/>
                    <a:pt x="607071" y="51173"/>
                    <a:pt x="607071" y="114298"/>
                  </a:cubicBezTo>
                  <a:lnTo>
                    <a:pt x="607071" y="114298"/>
                  </a:lnTo>
                  <a:cubicBezTo>
                    <a:pt x="607071" y="177424"/>
                    <a:pt x="555898" y="228597"/>
                    <a:pt x="492773" y="228597"/>
                  </a:cubicBezTo>
                  <a:lnTo>
                    <a:pt x="114298" y="228597"/>
                  </a:lnTo>
                  <a:cubicBezTo>
                    <a:pt x="51173" y="228597"/>
                    <a:pt x="0" y="177424"/>
                    <a:pt x="0" y="114298"/>
                  </a:cubicBezTo>
                  <a:lnTo>
                    <a:pt x="0" y="114298"/>
                  </a:lnTo>
                  <a:cubicBezTo>
                    <a:pt x="0" y="51173"/>
                    <a:pt x="51173" y="0"/>
                    <a:pt x="114298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607071" cy="257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196848" y="5432442"/>
            <a:ext cx="2233036" cy="852933"/>
            <a:chOff x="0" y="0"/>
            <a:chExt cx="588125" cy="22464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8125" cy="224641"/>
            </a:xfrm>
            <a:custGeom>
              <a:avLst/>
              <a:gdLst/>
              <a:ahLst/>
              <a:cxnLst/>
              <a:rect r="r" b="b" t="t" l="l"/>
              <a:pathLst>
                <a:path h="224641" w="588125">
                  <a:moveTo>
                    <a:pt x="112320" y="0"/>
                  </a:moveTo>
                  <a:lnTo>
                    <a:pt x="475804" y="0"/>
                  </a:lnTo>
                  <a:cubicBezTo>
                    <a:pt x="537837" y="0"/>
                    <a:pt x="588125" y="50288"/>
                    <a:pt x="588125" y="112320"/>
                  </a:cubicBezTo>
                  <a:lnTo>
                    <a:pt x="588125" y="112320"/>
                  </a:lnTo>
                  <a:cubicBezTo>
                    <a:pt x="588125" y="174353"/>
                    <a:pt x="537837" y="224641"/>
                    <a:pt x="475804" y="224641"/>
                  </a:cubicBezTo>
                  <a:lnTo>
                    <a:pt x="112320" y="224641"/>
                  </a:lnTo>
                  <a:cubicBezTo>
                    <a:pt x="50288" y="224641"/>
                    <a:pt x="0" y="174353"/>
                    <a:pt x="0" y="112320"/>
                  </a:cubicBezTo>
                  <a:lnTo>
                    <a:pt x="0" y="112320"/>
                  </a:lnTo>
                  <a:cubicBezTo>
                    <a:pt x="0" y="50288"/>
                    <a:pt x="50288" y="0"/>
                    <a:pt x="112320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588125" cy="253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182741" y="5376708"/>
            <a:ext cx="2088505" cy="1017288"/>
            <a:chOff x="0" y="0"/>
            <a:chExt cx="550059" cy="2679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0059" cy="267928"/>
            </a:xfrm>
            <a:custGeom>
              <a:avLst/>
              <a:gdLst/>
              <a:ahLst/>
              <a:cxnLst/>
              <a:rect r="r" b="b" t="t" l="l"/>
              <a:pathLst>
                <a:path h="267928" w="550059">
                  <a:moveTo>
                    <a:pt x="133964" y="0"/>
                  </a:moveTo>
                  <a:lnTo>
                    <a:pt x="416095" y="0"/>
                  </a:lnTo>
                  <a:cubicBezTo>
                    <a:pt x="451625" y="0"/>
                    <a:pt x="485699" y="14114"/>
                    <a:pt x="510822" y="39237"/>
                  </a:cubicBezTo>
                  <a:cubicBezTo>
                    <a:pt x="535945" y="64360"/>
                    <a:pt x="550059" y="98434"/>
                    <a:pt x="550059" y="133964"/>
                  </a:cubicBezTo>
                  <a:lnTo>
                    <a:pt x="550059" y="133964"/>
                  </a:lnTo>
                  <a:cubicBezTo>
                    <a:pt x="550059" y="207950"/>
                    <a:pt x="490081" y="267928"/>
                    <a:pt x="416095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F7D36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550059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5400000">
            <a:off x="13837412" y="5608412"/>
            <a:ext cx="1470026" cy="553882"/>
            <a:chOff x="0" y="0"/>
            <a:chExt cx="600197" cy="2261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0197" cy="226144"/>
            </a:xfrm>
            <a:custGeom>
              <a:avLst/>
              <a:gdLst/>
              <a:ahLst/>
              <a:cxnLst/>
              <a:rect r="r" b="b" t="t" l="l"/>
              <a:pathLst>
                <a:path h="226144" w="600197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rgbClr val="E0FFF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93781" y="-12422"/>
              <a:ext cx="412636" cy="1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0368" y="2117961"/>
            <a:ext cx="1333500" cy="133350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D479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422582" y="6899797"/>
            <a:ext cx="1333500" cy="133350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FFFB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438518" y="2556111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5855121" y="7299847"/>
            <a:ext cx="468422" cy="533400"/>
          </a:xfrm>
          <a:custGeom>
            <a:avLst/>
            <a:gdLst/>
            <a:ahLst/>
            <a:cxnLst/>
            <a:rect r="r" b="b" t="t" l="l"/>
            <a:pathLst>
              <a:path h="533400" w="468422">
                <a:moveTo>
                  <a:pt x="0" y="0"/>
                </a:moveTo>
                <a:lnTo>
                  <a:pt x="468422" y="0"/>
                </a:lnTo>
                <a:lnTo>
                  <a:pt x="468422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108897" y="5475740"/>
            <a:ext cx="1473278" cy="79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BACKLOG DEL PRODUCTO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72790" y="6728762"/>
            <a:ext cx="2670470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750" indent="-205375" lvl="1">
              <a:lnSpc>
                <a:spcPts val="2283"/>
              </a:lnSpc>
              <a:buFont typeface="Arial"/>
              <a:buChar char="•"/>
            </a:pPr>
            <a:r>
              <a:rPr lang="en-US" sz="19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Gestionado por el líder del proyecto</a:t>
            </a:r>
          </a:p>
          <a:p>
            <a:pPr algn="l" marL="410750" indent="-205375" lvl="1">
              <a:lnSpc>
                <a:spcPts val="2283"/>
              </a:lnSpc>
              <a:buFont typeface="Arial"/>
              <a:buChar char="•"/>
            </a:pPr>
            <a:r>
              <a:rPr lang="en-US" sz="19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Pendientes del proyecto </a:t>
            </a:r>
          </a:p>
          <a:p>
            <a:pPr algn="l" marL="410750" indent="-205375" lvl="1">
              <a:lnSpc>
                <a:spcPts val="2283"/>
              </a:lnSpc>
              <a:buFont typeface="Arial"/>
              <a:buChar char="•"/>
            </a:pPr>
            <a:r>
              <a:rPr lang="en-US" sz="19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Requerimientos</a:t>
            </a:r>
          </a:p>
          <a:p>
            <a:pPr algn="l" marL="410750" indent="-205375" lvl="1">
              <a:lnSpc>
                <a:spcPts val="2283"/>
              </a:lnSpc>
              <a:buFont typeface="Arial"/>
              <a:buChar char="•"/>
            </a:pPr>
            <a:r>
              <a:rPr lang="en-US" sz="19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Orden de desarrollo</a:t>
            </a:r>
          </a:p>
          <a:p>
            <a:pPr algn="l" marL="410750" indent="-205375" lvl="1">
              <a:lnSpc>
                <a:spcPts val="2283"/>
              </a:lnSpc>
              <a:buFont typeface="Arial"/>
              <a:buChar char="•"/>
            </a:pPr>
            <a:r>
              <a:rPr lang="en-US" sz="19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Bugs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558500" y="6728762"/>
            <a:ext cx="2932502" cy="188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172" indent="-229086" lvl="1">
              <a:lnSpc>
                <a:spcPts val="2546"/>
              </a:lnSpc>
              <a:buFont typeface="Arial"/>
              <a:buChar char="•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Asignación de metas</a:t>
            </a:r>
          </a:p>
          <a:p>
            <a:pPr algn="l" marL="458172" indent="-229086" lvl="1">
              <a:lnSpc>
                <a:spcPts val="2546"/>
              </a:lnSpc>
              <a:buFont typeface="Arial"/>
              <a:buChar char="•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Definición de entregables</a:t>
            </a:r>
          </a:p>
          <a:p>
            <a:pPr algn="l" marL="458172" indent="-229086" lvl="1">
              <a:lnSpc>
                <a:spcPts val="2546"/>
              </a:lnSpc>
              <a:buFont typeface="Arial"/>
              <a:buChar char="•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Duración en semanas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766876" y="5609081"/>
            <a:ext cx="1888221" cy="52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 DEL SPRINT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724810" y="5468411"/>
            <a:ext cx="1177111" cy="79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BACKLOG DEL SPRINT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637589" y="5609262"/>
            <a:ext cx="1238078" cy="52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Trabajo terminado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653904" y="4104922"/>
            <a:ext cx="1177111" cy="52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1-4 Weeks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435670" y="6562162"/>
            <a:ext cx="2932502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172" indent="-229086" lvl="1">
              <a:lnSpc>
                <a:spcPts val="2546"/>
              </a:lnSpc>
              <a:buFont typeface="Arial"/>
              <a:buChar char="•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</a:t>
            </a: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onado por el equipo de de</a:t>
            </a: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sarrollo</a:t>
            </a:r>
          </a:p>
          <a:p>
            <a:pPr algn="l" marL="458172" indent="-229086" lvl="1">
              <a:lnSpc>
                <a:spcPts val="2546"/>
              </a:lnSpc>
              <a:buFont typeface="Arial"/>
              <a:buChar char="•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Prioridades del sprint</a:t>
            </a:r>
          </a:p>
          <a:p>
            <a:pPr algn="l" marL="458172" indent="-229086" lvl="1">
              <a:lnSpc>
                <a:spcPts val="2546"/>
              </a:lnSpc>
              <a:buFont typeface="Arial"/>
              <a:buChar char="•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Metas</a:t>
            </a:r>
          </a:p>
          <a:p>
            <a:pPr algn="l" marL="458172" indent="-229086" lvl="1">
              <a:lnSpc>
                <a:spcPts val="2546"/>
              </a:lnSpc>
              <a:buFont typeface="Arial"/>
              <a:buChar char="•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Entregables</a:t>
            </a:r>
          </a:p>
          <a:p>
            <a:pPr algn="l">
              <a:lnSpc>
                <a:spcPts val="2546"/>
              </a:lnSpc>
            </a:pPr>
          </a:p>
        </p:txBody>
      </p:sp>
      <p:sp>
        <p:nvSpPr>
          <p:cNvPr name="TextBox 50" id="50"/>
          <p:cNvSpPr txBox="true"/>
          <p:nvPr/>
        </p:nvSpPr>
        <p:spPr>
          <a:xfrm rot="0">
            <a:off x="690988" y="3694304"/>
            <a:ext cx="1944481" cy="10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Lucas Marchant</a:t>
            </a:r>
          </a:p>
          <a:p>
            <a:pPr algn="l" marL="777237" indent="-259079" lvl="2">
              <a:lnSpc>
                <a:spcPts val="2159"/>
              </a:lnSpc>
              <a:buFont typeface="Arial"/>
              <a:buChar char="⚬"/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Líder de proyecto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922306" y="8469688"/>
            <a:ext cx="2517969" cy="78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b="true" sz="179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Revisión y retroalimentación del sprint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5867078" y="2117961"/>
            <a:ext cx="1333500" cy="1333500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2E3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6305228" y="2556111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5353215" y="3827645"/>
            <a:ext cx="2470902" cy="79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Thiare Hernández</a:t>
            </a:r>
          </a:p>
          <a:p>
            <a:pPr algn="l" marL="777237" indent="-259079" lvl="2">
              <a:lnSpc>
                <a:spcPts val="2159"/>
              </a:lnSpc>
              <a:buFont typeface="Arial"/>
              <a:buChar char="⚬"/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desarrolladora frontend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3419230" y="2117961"/>
            <a:ext cx="1333500" cy="1333500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566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3857380" y="254380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2949671" y="3757342"/>
            <a:ext cx="2547137" cy="10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Cristopher Caniullan</a:t>
            </a:r>
          </a:p>
          <a:p>
            <a:pPr algn="l" marL="777237" indent="-259079" lvl="2">
              <a:lnSpc>
                <a:spcPts val="2159"/>
              </a:lnSpc>
              <a:buFont typeface="Arial"/>
              <a:buChar char="⚬"/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Desarrollador backend</a:t>
            </a:r>
          </a:p>
        </p:txBody>
      </p:sp>
      <p:sp>
        <p:nvSpPr>
          <p:cNvPr name="AutoShape 62" id="62"/>
          <p:cNvSpPr/>
          <p:nvPr/>
        </p:nvSpPr>
        <p:spPr>
          <a:xfrm flipV="true">
            <a:off x="2281700" y="9915525"/>
            <a:ext cx="15158575" cy="0"/>
          </a:xfrm>
          <a:prstGeom prst="line">
            <a:avLst/>
          </a:prstGeom>
          <a:ln cap="flat" w="9525">
            <a:solidFill>
              <a:srgbClr val="FFC1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190034" y="9709785"/>
            <a:ext cx="8229600" cy="411480"/>
            <a:chOff x="0" y="0"/>
            <a:chExt cx="1097280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Tally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2450" y="2199903"/>
            <a:ext cx="17183100" cy="7058397"/>
            <a:chOff x="0" y="0"/>
            <a:chExt cx="22910800" cy="9411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10800" cy="9411195"/>
            </a:xfrm>
            <a:custGeom>
              <a:avLst/>
              <a:gdLst/>
              <a:ahLst/>
              <a:cxnLst/>
              <a:rect r="r" b="b" t="t" l="l"/>
              <a:pathLst>
                <a:path h="9411195" w="22910800">
                  <a:moveTo>
                    <a:pt x="123176" y="0"/>
                  </a:moveTo>
                  <a:lnTo>
                    <a:pt x="22787623" y="0"/>
                  </a:lnTo>
                  <a:cubicBezTo>
                    <a:pt x="22855651" y="0"/>
                    <a:pt x="22910800" y="421354"/>
                    <a:pt x="22910800" y="941120"/>
                  </a:cubicBezTo>
                  <a:lnTo>
                    <a:pt x="22910800" y="8470076"/>
                  </a:lnTo>
                  <a:cubicBezTo>
                    <a:pt x="22910800" y="8989842"/>
                    <a:pt x="22855651" y="9411195"/>
                    <a:pt x="22787623" y="9411195"/>
                  </a:cubicBezTo>
                  <a:lnTo>
                    <a:pt x="123176" y="9411195"/>
                  </a:lnTo>
                  <a:cubicBezTo>
                    <a:pt x="55148" y="9411195"/>
                    <a:pt x="0" y="8989842"/>
                    <a:pt x="0" y="8470076"/>
                  </a:cubicBezTo>
                  <a:lnTo>
                    <a:pt x="0" y="941120"/>
                  </a:lnTo>
                  <a:cubicBezTo>
                    <a:pt x="0" y="421354"/>
                    <a:pt x="55148" y="0"/>
                    <a:pt x="123176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10800" cy="9449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694" y="361578"/>
            <a:ext cx="17004612" cy="1181100"/>
            <a:chOff x="0" y="0"/>
            <a:chExt cx="22672816" cy="1574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2816" cy="1574800"/>
            </a:xfrm>
            <a:custGeom>
              <a:avLst/>
              <a:gdLst/>
              <a:ahLst/>
              <a:cxnLst/>
              <a:rect r="r" b="b" t="t" l="l"/>
              <a:pathLst>
                <a:path h="1574800" w="22672816">
                  <a:moveTo>
                    <a:pt x="121897" y="0"/>
                  </a:moveTo>
                  <a:lnTo>
                    <a:pt x="22550918" y="0"/>
                  </a:lnTo>
                  <a:cubicBezTo>
                    <a:pt x="22618240" y="0"/>
                    <a:pt x="22672816" y="70506"/>
                    <a:pt x="22672816" y="157480"/>
                  </a:cubicBezTo>
                  <a:lnTo>
                    <a:pt x="22672816" y="1417320"/>
                  </a:lnTo>
                  <a:cubicBezTo>
                    <a:pt x="22672816" y="1504294"/>
                    <a:pt x="22618240" y="1574800"/>
                    <a:pt x="22550918" y="1574800"/>
                  </a:cubicBezTo>
                  <a:lnTo>
                    <a:pt x="121897" y="1574800"/>
                  </a:lnTo>
                  <a:cubicBezTo>
                    <a:pt x="54575" y="1574800"/>
                    <a:pt x="0" y="1504294"/>
                    <a:pt x="0" y="1417320"/>
                  </a:cubicBezTo>
                  <a:lnTo>
                    <a:pt x="0" y="157480"/>
                  </a:lnTo>
                  <a:cubicBezTo>
                    <a:pt x="0" y="70506"/>
                    <a:pt x="54575" y="0"/>
                    <a:pt x="121897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2816" cy="161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476500" y="493649"/>
            <a:ext cx="13335000" cy="79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B2E18E"/>
                </a:solidFill>
                <a:latin typeface="Poppins Bold"/>
                <a:ea typeface="Poppins Bold"/>
                <a:cs typeface="Poppins Bold"/>
                <a:sym typeface="Poppins Bold"/>
              </a:rPr>
              <a:t>EVIDENCIAS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2281700" y="9915525"/>
            <a:ext cx="15158575" cy="0"/>
          </a:xfrm>
          <a:prstGeom prst="line">
            <a:avLst/>
          </a:prstGeom>
          <a:ln cap="flat" w="9525">
            <a:solidFill>
              <a:srgbClr val="FFC1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90034" y="9709785"/>
            <a:ext cx="8229600" cy="411480"/>
            <a:chOff x="0" y="0"/>
            <a:chExt cx="109728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Tally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85043" y="2960824"/>
            <a:ext cx="7301757" cy="685800"/>
            <a:chOff x="0" y="0"/>
            <a:chExt cx="9735676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35676" cy="914400"/>
            </a:xfrm>
            <a:custGeom>
              <a:avLst/>
              <a:gdLst/>
              <a:ahLst/>
              <a:cxnLst/>
              <a:rect r="r" b="b" t="t" l="l"/>
              <a:pathLst>
                <a:path h="914400" w="9735676">
                  <a:moveTo>
                    <a:pt x="0" y="0"/>
                  </a:moveTo>
                  <a:lnTo>
                    <a:pt x="9735676" y="0"/>
                  </a:lnTo>
                  <a:lnTo>
                    <a:pt x="9735676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ACD47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978588" y="2960824"/>
            <a:ext cx="6177074" cy="685800"/>
            <a:chOff x="0" y="0"/>
            <a:chExt cx="8236099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36100" cy="914400"/>
            </a:xfrm>
            <a:custGeom>
              <a:avLst/>
              <a:gdLst/>
              <a:ahLst/>
              <a:cxnLst/>
              <a:rect r="r" b="b" t="t" l="l"/>
              <a:pathLst>
                <a:path h="914400" w="8236100">
                  <a:moveTo>
                    <a:pt x="0" y="0"/>
                  </a:moveTo>
                  <a:lnTo>
                    <a:pt x="8236100" y="0"/>
                  </a:lnTo>
                  <a:lnTo>
                    <a:pt x="82361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974" r="-29897" b="-17797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236099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79"/>
                </a:lnSpc>
              </a:pPr>
              <a:r>
                <a:rPr lang="en-US" b="true" sz="2649" spc="203">
                  <a:solidFill>
                    <a:srgbClr val="392D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EVIDENCIAS DE AVANCE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18760" y="2960824"/>
            <a:ext cx="7635035" cy="685800"/>
            <a:chOff x="0" y="0"/>
            <a:chExt cx="10180047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80048" cy="914400"/>
            </a:xfrm>
            <a:custGeom>
              <a:avLst/>
              <a:gdLst/>
              <a:ahLst/>
              <a:cxnLst/>
              <a:rect r="r" b="b" t="t" l="l"/>
              <a:pathLst>
                <a:path h="914400" w="10180048">
                  <a:moveTo>
                    <a:pt x="0" y="0"/>
                  </a:moveTo>
                  <a:lnTo>
                    <a:pt x="10180048" y="0"/>
                  </a:lnTo>
                  <a:lnTo>
                    <a:pt x="10180048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C16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14272" y="2960824"/>
            <a:ext cx="6644010" cy="685800"/>
            <a:chOff x="0" y="0"/>
            <a:chExt cx="885868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858680" cy="914400"/>
            </a:xfrm>
            <a:custGeom>
              <a:avLst/>
              <a:gdLst/>
              <a:ahLst/>
              <a:cxnLst/>
              <a:rect r="r" b="b" t="t" l="l"/>
              <a:pathLst>
                <a:path h="914400" w="8858680">
                  <a:moveTo>
                    <a:pt x="0" y="0"/>
                  </a:moveTo>
                  <a:lnTo>
                    <a:pt x="8858680" y="0"/>
                  </a:lnTo>
                  <a:lnTo>
                    <a:pt x="8858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974" r="-20768" b="-17797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8586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79"/>
                </a:lnSpc>
              </a:pPr>
              <a:r>
                <a:rPr lang="en-US" b="true" sz="2649" spc="203">
                  <a:solidFill>
                    <a:srgbClr val="0F2E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EVIDENCIAS FINALES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85043" y="3989524"/>
            <a:ext cx="7301757" cy="1165860"/>
            <a:chOff x="0" y="0"/>
            <a:chExt cx="9735676" cy="1554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35676" cy="1554480"/>
            </a:xfrm>
            <a:custGeom>
              <a:avLst/>
              <a:gdLst/>
              <a:ahLst/>
              <a:cxnLst/>
              <a:rect r="r" b="b" t="t" l="l"/>
              <a:pathLst>
                <a:path h="1554480" w="9735676">
                  <a:moveTo>
                    <a:pt x="0" y="182880"/>
                  </a:moveTo>
                  <a:cubicBezTo>
                    <a:pt x="0" y="81915"/>
                    <a:pt x="74543" y="0"/>
                    <a:pt x="166422" y="0"/>
                  </a:cubicBezTo>
                  <a:lnTo>
                    <a:pt x="9569254" y="0"/>
                  </a:lnTo>
                  <a:cubicBezTo>
                    <a:pt x="9661133" y="0"/>
                    <a:pt x="9735676" y="81915"/>
                    <a:pt x="9735676" y="182880"/>
                  </a:cubicBezTo>
                  <a:lnTo>
                    <a:pt x="9735676" y="1371600"/>
                  </a:lnTo>
                  <a:cubicBezTo>
                    <a:pt x="9735676" y="1472565"/>
                    <a:pt x="9661133" y="1554480"/>
                    <a:pt x="9569254" y="1554480"/>
                  </a:cubicBezTo>
                  <a:lnTo>
                    <a:pt x="166422" y="1554480"/>
                  </a:lnTo>
                  <a:cubicBezTo>
                    <a:pt x="74543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97084" y="3989524"/>
            <a:ext cx="6740083" cy="1165860"/>
            <a:chOff x="0" y="0"/>
            <a:chExt cx="8986778" cy="1554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986777" cy="1554480"/>
            </a:xfrm>
            <a:custGeom>
              <a:avLst/>
              <a:gdLst/>
              <a:ahLst/>
              <a:cxnLst/>
              <a:rect r="r" b="b" t="t" l="l"/>
              <a:pathLst>
                <a:path h="1554480" w="8986777">
                  <a:moveTo>
                    <a:pt x="0" y="0"/>
                  </a:moveTo>
                  <a:lnTo>
                    <a:pt x="8986777" y="0"/>
                  </a:lnTo>
                  <a:lnTo>
                    <a:pt x="8986777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87" r="-9889" b="-7378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8986778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2131" indent="-286066" lvl="1">
                <a:lnSpc>
                  <a:spcPts val="3179"/>
                </a:lnSpc>
                <a:buFont typeface="Arial"/>
                <a:buChar char="•"/>
              </a:pPr>
              <a:r>
                <a:rPr lang="en-US" sz="26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Documento de épicas (12) y criterios de aceptación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85043" y="5429704"/>
            <a:ext cx="7301757" cy="1165860"/>
            <a:chOff x="0" y="0"/>
            <a:chExt cx="9735676" cy="1554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35676" cy="1554480"/>
            </a:xfrm>
            <a:custGeom>
              <a:avLst/>
              <a:gdLst/>
              <a:ahLst/>
              <a:cxnLst/>
              <a:rect r="r" b="b" t="t" l="l"/>
              <a:pathLst>
                <a:path h="1554480" w="9735676">
                  <a:moveTo>
                    <a:pt x="0" y="182880"/>
                  </a:moveTo>
                  <a:cubicBezTo>
                    <a:pt x="0" y="81915"/>
                    <a:pt x="74543" y="0"/>
                    <a:pt x="166422" y="0"/>
                  </a:cubicBezTo>
                  <a:lnTo>
                    <a:pt x="9569254" y="0"/>
                  </a:lnTo>
                  <a:cubicBezTo>
                    <a:pt x="9661133" y="0"/>
                    <a:pt x="9735676" y="81915"/>
                    <a:pt x="9735676" y="182880"/>
                  </a:cubicBezTo>
                  <a:lnTo>
                    <a:pt x="9735676" y="1371600"/>
                  </a:lnTo>
                  <a:cubicBezTo>
                    <a:pt x="9735676" y="1472565"/>
                    <a:pt x="9661133" y="1554480"/>
                    <a:pt x="9569254" y="1554480"/>
                  </a:cubicBezTo>
                  <a:lnTo>
                    <a:pt x="166422" y="1554480"/>
                  </a:lnTo>
                  <a:cubicBezTo>
                    <a:pt x="74543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97084" y="5429704"/>
            <a:ext cx="6740083" cy="1165860"/>
            <a:chOff x="0" y="0"/>
            <a:chExt cx="8986778" cy="15544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86777" cy="1554480"/>
            </a:xfrm>
            <a:custGeom>
              <a:avLst/>
              <a:gdLst/>
              <a:ahLst/>
              <a:cxnLst/>
              <a:rect r="r" b="b" t="t" l="l"/>
              <a:pathLst>
                <a:path h="1554480" w="8986777">
                  <a:moveTo>
                    <a:pt x="0" y="0"/>
                  </a:moveTo>
                  <a:lnTo>
                    <a:pt x="8986777" y="0"/>
                  </a:lnTo>
                  <a:lnTo>
                    <a:pt x="8986777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87" r="-9889" b="-7378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8986778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2131" indent="-286066" lvl="1">
                <a:lnSpc>
                  <a:spcPts val="3179"/>
                </a:lnSpc>
                <a:buFont typeface="Arial"/>
                <a:buChar char="•"/>
              </a:pPr>
              <a:r>
                <a:rPr lang="en-US" sz="26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Planificación de Poker Planning (78 PF)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85043" y="6869884"/>
            <a:ext cx="7301757" cy="1165860"/>
            <a:chOff x="0" y="0"/>
            <a:chExt cx="9735676" cy="15544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35676" cy="1554480"/>
            </a:xfrm>
            <a:custGeom>
              <a:avLst/>
              <a:gdLst/>
              <a:ahLst/>
              <a:cxnLst/>
              <a:rect r="r" b="b" t="t" l="l"/>
              <a:pathLst>
                <a:path h="1554480" w="9735676">
                  <a:moveTo>
                    <a:pt x="0" y="182880"/>
                  </a:moveTo>
                  <a:cubicBezTo>
                    <a:pt x="0" y="81915"/>
                    <a:pt x="74543" y="0"/>
                    <a:pt x="166422" y="0"/>
                  </a:cubicBezTo>
                  <a:lnTo>
                    <a:pt x="9569254" y="0"/>
                  </a:lnTo>
                  <a:cubicBezTo>
                    <a:pt x="9661133" y="0"/>
                    <a:pt x="9735676" y="81915"/>
                    <a:pt x="9735676" y="182880"/>
                  </a:cubicBezTo>
                  <a:lnTo>
                    <a:pt x="9735676" y="1371600"/>
                  </a:lnTo>
                  <a:cubicBezTo>
                    <a:pt x="9735676" y="1472565"/>
                    <a:pt x="9661133" y="1554480"/>
                    <a:pt x="9569254" y="1554480"/>
                  </a:cubicBezTo>
                  <a:lnTo>
                    <a:pt x="166422" y="1554480"/>
                  </a:lnTo>
                  <a:cubicBezTo>
                    <a:pt x="74543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697084" y="6869884"/>
            <a:ext cx="6740083" cy="1165860"/>
            <a:chOff x="0" y="0"/>
            <a:chExt cx="8986778" cy="15544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986777" cy="1554480"/>
            </a:xfrm>
            <a:custGeom>
              <a:avLst/>
              <a:gdLst/>
              <a:ahLst/>
              <a:cxnLst/>
              <a:rect r="r" b="b" t="t" l="l"/>
              <a:pathLst>
                <a:path h="1554480" w="8986777">
                  <a:moveTo>
                    <a:pt x="0" y="0"/>
                  </a:moveTo>
                  <a:lnTo>
                    <a:pt x="8986777" y="0"/>
                  </a:lnTo>
                  <a:lnTo>
                    <a:pt x="8986777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87" r="-9889" b="-737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8986778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2131" indent="-286066" lvl="1">
                <a:lnSpc>
                  <a:spcPts val="3179"/>
                </a:lnSpc>
                <a:buFont typeface="Arial"/>
                <a:buChar char="•"/>
              </a:pPr>
              <a:r>
                <a:rPr lang="en-US" sz="26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Prototipo navegable / mockups de la app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18760" y="3989524"/>
            <a:ext cx="7635035" cy="1165860"/>
            <a:chOff x="0" y="0"/>
            <a:chExt cx="10180047" cy="15544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80048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180048">
                  <a:moveTo>
                    <a:pt x="0" y="182880"/>
                  </a:moveTo>
                  <a:cubicBezTo>
                    <a:pt x="0" y="81915"/>
                    <a:pt x="77946" y="0"/>
                    <a:pt x="174018" y="0"/>
                  </a:cubicBezTo>
                  <a:lnTo>
                    <a:pt x="10006029" y="0"/>
                  </a:lnTo>
                  <a:cubicBezTo>
                    <a:pt x="10102102" y="0"/>
                    <a:pt x="10180048" y="81915"/>
                    <a:pt x="10180048" y="182880"/>
                  </a:cubicBezTo>
                  <a:lnTo>
                    <a:pt x="10180048" y="1371600"/>
                  </a:lnTo>
                  <a:cubicBezTo>
                    <a:pt x="10180048" y="1472565"/>
                    <a:pt x="10102102" y="1554480"/>
                    <a:pt x="10006029" y="1554480"/>
                  </a:cubicBezTo>
                  <a:lnTo>
                    <a:pt x="174018" y="1554480"/>
                  </a:lnTo>
                  <a:cubicBezTo>
                    <a:pt x="77946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645043" y="3989524"/>
            <a:ext cx="7047725" cy="1165860"/>
            <a:chOff x="0" y="0"/>
            <a:chExt cx="9396966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396966" cy="1554480"/>
            </a:xfrm>
            <a:custGeom>
              <a:avLst/>
              <a:gdLst/>
              <a:ahLst/>
              <a:cxnLst/>
              <a:rect r="r" b="b" t="t" l="l"/>
              <a:pathLst>
                <a:path h="1554480" w="9396966">
                  <a:moveTo>
                    <a:pt x="0" y="0"/>
                  </a:moveTo>
                  <a:lnTo>
                    <a:pt x="9396966" y="0"/>
                  </a:lnTo>
                  <a:lnTo>
                    <a:pt x="9396966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87" r="-5092" b="-7378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9396966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2131" indent="-286066" lvl="1">
                <a:lnSpc>
                  <a:spcPts val="3179"/>
                </a:lnSpc>
                <a:buFont typeface="Arial"/>
                <a:buChar char="•"/>
              </a:pPr>
              <a:r>
                <a:rPr lang="en-US" sz="26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Aplicación funcional Tally (MVP)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18760" y="5429704"/>
            <a:ext cx="7635035" cy="1165860"/>
            <a:chOff x="0" y="0"/>
            <a:chExt cx="10180047" cy="15544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180048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180048">
                  <a:moveTo>
                    <a:pt x="0" y="182880"/>
                  </a:moveTo>
                  <a:cubicBezTo>
                    <a:pt x="0" y="81915"/>
                    <a:pt x="77946" y="0"/>
                    <a:pt x="174018" y="0"/>
                  </a:cubicBezTo>
                  <a:lnTo>
                    <a:pt x="10006029" y="0"/>
                  </a:lnTo>
                  <a:cubicBezTo>
                    <a:pt x="10102102" y="0"/>
                    <a:pt x="10180048" y="81915"/>
                    <a:pt x="10180048" y="182880"/>
                  </a:cubicBezTo>
                  <a:lnTo>
                    <a:pt x="10180048" y="1371600"/>
                  </a:lnTo>
                  <a:cubicBezTo>
                    <a:pt x="10180048" y="1472565"/>
                    <a:pt x="10102102" y="1554480"/>
                    <a:pt x="10006029" y="1554480"/>
                  </a:cubicBezTo>
                  <a:lnTo>
                    <a:pt x="174018" y="1554480"/>
                  </a:lnTo>
                  <a:cubicBezTo>
                    <a:pt x="77946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645043" y="5429704"/>
            <a:ext cx="7047725" cy="1165860"/>
            <a:chOff x="0" y="0"/>
            <a:chExt cx="9396966" cy="1554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396966" cy="1554480"/>
            </a:xfrm>
            <a:custGeom>
              <a:avLst/>
              <a:gdLst/>
              <a:ahLst/>
              <a:cxnLst/>
              <a:rect r="r" b="b" t="t" l="l"/>
              <a:pathLst>
                <a:path h="1554480" w="9396966">
                  <a:moveTo>
                    <a:pt x="0" y="0"/>
                  </a:moveTo>
                  <a:lnTo>
                    <a:pt x="9396966" y="0"/>
                  </a:lnTo>
                  <a:lnTo>
                    <a:pt x="9396966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87" r="-5092" b="-7378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9396966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2131" indent="-286066" lvl="1">
                <a:lnSpc>
                  <a:spcPts val="3179"/>
                </a:lnSpc>
                <a:buFont typeface="Arial"/>
                <a:buChar char="•"/>
              </a:pPr>
              <a:r>
                <a:rPr lang="en-US" sz="26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de usuario y respaldo de base de datos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6801" y="2389854"/>
            <a:ext cx="17294397" cy="7034761"/>
            <a:chOff x="0" y="0"/>
            <a:chExt cx="23059196" cy="93796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59196" cy="9379681"/>
            </a:xfrm>
            <a:custGeom>
              <a:avLst/>
              <a:gdLst/>
              <a:ahLst/>
              <a:cxnLst/>
              <a:rect r="r" b="b" t="t" l="l"/>
              <a:pathLst>
                <a:path h="9379681" w="23059196">
                  <a:moveTo>
                    <a:pt x="123974" y="0"/>
                  </a:moveTo>
                  <a:lnTo>
                    <a:pt x="22935222" y="0"/>
                  </a:lnTo>
                  <a:cubicBezTo>
                    <a:pt x="23003690" y="0"/>
                    <a:pt x="23059196" y="419943"/>
                    <a:pt x="23059196" y="937968"/>
                  </a:cubicBezTo>
                  <a:lnTo>
                    <a:pt x="23059196" y="8441713"/>
                  </a:lnTo>
                  <a:cubicBezTo>
                    <a:pt x="23059196" y="8959739"/>
                    <a:pt x="23003690" y="9379681"/>
                    <a:pt x="22935222" y="9379681"/>
                  </a:cubicBezTo>
                  <a:lnTo>
                    <a:pt x="123974" y="9379681"/>
                  </a:lnTo>
                  <a:cubicBezTo>
                    <a:pt x="55505" y="9379681"/>
                    <a:pt x="0" y="8959739"/>
                    <a:pt x="0" y="8441713"/>
                  </a:cubicBezTo>
                  <a:lnTo>
                    <a:pt x="0" y="937968"/>
                  </a:lnTo>
                  <a:cubicBezTo>
                    <a:pt x="0" y="419943"/>
                    <a:pt x="55505" y="0"/>
                    <a:pt x="123974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059196" cy="9417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0018" y="353695"/>
            <a:ext cx="15267964" cy="952500"/>
            <a:chOff x="0" y="0"/>
            <a:chExt cx="20357285" cy="127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57286" cy="1270000"/>
            </a:xfrm>
            <a:custGeom>
              <a:avLst/>
              <a:gdLst/>
              <a:ahLst/>
              <a:cxnLst/>
              <a:rect r="r" b="b" t="t" l="l"/>
              <a:pathLst>
                <a:path h="1270000" w="20357286">
                  <a:moveTo>
                    <a:pt x="109448" y="0"/>
                  </a:moveTo>
                  <a:lnTo>
                    <a:pt x="20247837" y="0"/>
                  </a:lnTo>
                  <a:cubicBezTo>
                    <a:pt x="20308284" y="0"/>
                    <a:pt x="20357286" y="56860"/>
                    <a:pt x="20357286" y="127000"/>
                  </a:cubicBezTo>
                  <a:lnTo>
                    <a:pt x="20357286" y="1143000"/>
                  </a:lnTo>
                  <a:cubicBezTo>
                    <a:pt x="20357286" y="1213140"/>
                    <a:pt x="20308284" y="1270000"/>
                    <a:pt x="20247837" y="1270000"/>
                  </a:cubicBezTo>
                  <a:lnTo>
                    <a:pt x="109448" y="1270000"/>
                  </a:lnTo>
                  <a:cubicBezTo>
                    <a:pt x="49001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49001" y="0"/>
                    <a:pt x="109448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57285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79243" y="371466"/>
            <a:ext cx="10902364" cy="79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B2E18E"/>
                </a:solidFill>
                <a:latin typeface="Poppins Bold"/>
                <a:ea typeface="Poppins Bold"/>
                <a:cs typeface="Poppins Bold"/>
                <a:sym typeface="Poppins Bold"/>
              </a:rPr>
              <a:t>PLAN</a:t>
            </a:r>
            <a:r>
              <a:rPr lang="en-US" b="true" sz="4400" strike="noStrike" u="none">
                <a:solidFill>
                  <a:srgbClr val="B2E18E"/>
                </a:solidFill>
                <a:latin typeface="Poppins Bold"/>
                <a:ea typeface="Poppins Bold"/>
                <a:cs typeface="Poppins Bold"/>
                <a:sym typeface="Poppins Bold"/>
              </a:rPr>
              <a:t> DE TRABA</a:t>
            </a:r>
            <a:r>
              <a:rPr lang="en-US" b="true" sz="4400" strike="noStrike" u="none">
                <a:solidFill>
                  <a:srgbClr val="B2E18E"/>
                </a:solidFill>
                <a:latin typeface="Poppins Bold"/>
                <a:ea typeface="Poppins Bold"/>
                <a:cs typeface="Poppins Bold"/>
                <a:sym typeface="Poppins Bold"/>
              </a:rPr>
              <a:t>JO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21792" y="1650714"/>
            <a:ext cx="16637508" cy="607543"/>
            <a:chOff x="0" y="0"/>
            <a:chExt cx="22183344" cy="8100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83344" cy="810058"/>
            </a:xfrm>
            <a:custGeom>
              <a:avLst/>
              <a:gdLst/>
              <a:ahLst/>
              <a:cxnLst/>
              <a:rect r="r" b="b" t="t" l="l"/>
              <a:pathLst>
                <a:path h="810058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810058"/>
                  </a:lnTo>
                  <a:lnTo>
                    <a:pt x="0" y="8100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8443" r="0" b="-47874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2183344" cy="8767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59"/>
                </a:lnSpc>
              </a:pPr>
              <a:r>
                <a:rPr lang="en-US" b="true" sz="3049">
                  <a:solidFill>
                    <a:srgbClr val="D7FF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Carta Gantt — Fase 1 a Fase 2 (Semanas 1 a 14)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825054" y="2685129"/>
            <a:ext cx="803367" cy="531943"/>
            <a:chOff x="0" y="0"/>
            <a:chExt cx="1071156" cy="7092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628421" y="2685129"/>
            <a:ext cx="803367" cy="531943"/>
            <a:chOff x="0" y="0"/>
            <a:chExt cx="1071156" cy="7092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31788" y="2685129"/>
            <a:ext cx="803367" cy="531943"/>
            <a:chOff x="0" y="0"/>
            <a:chExt cx="1071156" cy="7092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35155" y="2685129"/>
            <a:ext cx="803367" cy="531943"/>
            <a:chOff x="0" y="0"/>
            <a:chExt cx="1071156" cy="7092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38513" y="2685129"/>
            <a:ext cx="803367" cy="531943"/>
            <a:chOff x="0" y="0"/>
            <a:chExt cx="1071156" cy="70925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41880" y="2685129"/>
            <a:ext cx="803367" cy="531943"/>
            <a:chOff x="0" y="0"/>
            <a:chExt cx="1071156" cy="70925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645247" y="2685129"/>
            <a:ext cx="803367" cy="531943"/>
            <a:chOff x="0" y="0"/>
            <a:chExt cx="1071156" cy="70925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448614" y="2685129"/>
            <a:ext cx="803367" cy="531943"/>
            <a:chOff x="0" y="0"/>
            <a:chExt cx="1071156" cy="70925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251981" y="2685129"/>
            <a:ext cx="803367" cy="531943"/>
            <a:chOff x="0" y="0"/>
            <a:chExt cx="1071156" cy="70925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055348" y="2685129"/>
            <a:ext cx="803367" cy="531943"/>
            <a:chOff x="0" y="0"/>
            <a:chExt cx="1071156" cy="70925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858715" y="2685129"/>
            <a:ext cx="803367" cy="531943"/>
            <a:chOff x="0" y="0"/>
            <a:chExt cx="1071156" cy="70925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662073" y="2685129"/>
            <a:ext cx="803367" cy="531943"/>
            <a:chOff x="0" y="0"/>
            <a:chExt cx="1071156" cy="70925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465440" y="2685129"/>
            <a:ext cx="803367" cy="531943"/>
            <a:chOff x="0" y="0"/>
            <a:chExt cx="1071156" cy="70925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268807" y="2685129"/>
            <a:ext cx="803367" cy="531943"/>
            <a:chOff x="0" y="0"/>
            <a:chExt cx="1071156" cy="70925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10501" y="3066990"/>
            <a:ext cx="5417820" cy="603504"/>
            <a:chOff x="0" y="0"/>
            <a:chExt cx="7223760" cy="80467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Épicas y criterios de aceptación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825054" y="3192621"/>
            <a:ext cx="11247120" cy="411480"/>
            <a:chOff x="0" y="0"/>
            <a:chExt cx="1499616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825054" y="3192621"/>
            <a:ext cx="1606734" cy="411480"/>
            <a:chOff x="0" y="0"/>
            <a:chExt cx="2142312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42363" cy="548640"/>
            </a:xfrm>
            <a:custGeom>
              <a:avLst/>
              <a:gdLst/>
              <a:ahLst/>
              <a:cxnLst/>
              <a:rect r="r" b="b" t="t" l="l"/>
              <a:pathLst>
                <a:path h="548640" w="2142363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87499" y="0"/>
                  </a:lnTo>
                  <a:cubicBezTo>
                    <a:pt x="2117852" y="0"/>
                    <a:pt x="2142363" y="24511"/>
                    <a:pt x="2142363" y="54864"/>
                  </a:cubicBezTo>
                  <a:lnTo>
                    <a:pt x="2142363" y="493776"/>
                  </a:lnTo>
                  <a:cubicBezTo>
                    <a:pt x="2142363" y="524129"/>
                    <a:pt x="2117852" y="548640"/>
                    <a:pt x="2087499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44C0C5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10501" y="3670494"/>
            <a:ext cx="5417820" cy="603504"/>
            <a:chOff x="0" y="0"/>
            <a:chExt cx="7223760" cy="80467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Poker Planning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825054" y="3796125"/>
            <a:ext cx="11247120" cy="411480"/>
            <a:chOff x="0" y="0"/>
            <a:chExt cx="1499616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7431788" y="3796125"/>
            <a:ext cx="1606734" cy="411480"/>
            <a:chOff x="0" y="0"/>
            <a:chExt cx="2142312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42363" cy="548640"/>
            </a:xfrm>
            <a:custGeom>
              <a:avLst/>
              <a:gdLst/>
              <a:ahLst/>
              <a:cxnLst/>
              <a:rect r="r" b="b" t="t" l="l"/>
              <a:pathLst>
                <a:path h="548640" w="2142363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87499" y="0"/>
                  </a:lnTo>
                  <a:cubicBezTo>
                    <a:pt x="2117852" y="0"/>
                    <a:pt x="2142363" y="24511"/>
                    <a:pt x="2142363" y="54864"/>
                  </a:cubicBezTo>
                  <a:lnTo>
                    <a:pt x="2142363" y="493776"/>
                  </a:lnTo>
                  <a:cubicBezTo>
                    <a:pt x="2142363" y="524129"/>
                    <a:pt x="2117852" y="548640"/>
                    <a:pt x="2087499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A4CD6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10501" y="4273998"/>
            <a:ext cx="5417820" cy="603504"/>
            <a:chOff x="0" y="0"/>
            <a:chExt cx="7223760" cy="8046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Activación / login / recuperación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825054" y="4399629"/>
            <a:ext cx="11247120" cy="411480"/>
            <a:chOff x="0" y="0"/>
            <a:chExt cx="1499616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038513" y="4399629"/>
            <a:ext cx="2410101" cy="411480"/>
            <a:chOff x="0" y="0"/>
            <a:chExt cx="3213468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213481" cy="548640"/>
            </a:xfrm>
            <a:custGeom>
              <a:avLst/>
              <a:gdLst/>
              <a:ahLst/>
              <a:cxnLst/>
              <a:rect r="r" b="b" t="t" l="l"/>
              <a:pathLst>
                <a:path h="548640" w="3213481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3158617" y="0"/>
                  </a:lnTo>
                  <a:cubicBezTo>
                    <a:pt x="3188970" y="0"/>
                    <a:pt x="3213481" y="24511"/>
                    <a:pt x="3213481" y="54864"/>
                  </a:cubicBezTo>
                  <a:lnTo>
                    <a:pt x="3213481" y="493776"/>
                  </a:lnTo>
                  <a:cubicBezTo>
                    <a:pt x="3213481" y="524129"/>
                    <a:pt x="3188970" y="548640"/>
                    <a:pt x="3158617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FFC16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10501" y="4877502"/>
            <a:ext cx="5417820" cy="603504"/>
            <a:chOff x="0" y="0"/>
            <a:chExt cx="7223760" cy="8046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Categorías y movimientos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825054" y="5003133"/>
            <a:ext cx="11247120" cy="411480"/>
            <a:chOff x="0" y="0"/>
            <a:chExt cx="1499616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645247" y="5003133"/>
            <a:ext cx="1606734" cy="411480"/>
            <a:chOff x="0" y="0"/>
            <a:chExt cx="2142312" cy="548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42363" cy="548640"/>
            </a:xfrm>
            <a:custGeom>
              <a:avLst/>
              <a:gdLst/>
              <a:ahLst/>
              <a:cxnLst/>
              <a:rect r="r" b="b" t="t" l="l"/>
              <a:pathLst>
                <a:path h="548640" w="2142363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87499" y="0"/>
                  </a:lnTo>
                  <a:cubicBezTo>
                    <a:pt x="2117852" y="0"/>
                    <a:pt x="2142363" y="24511"/>
                    <a:pt x="2142363" y="54864"/>
                  </a:cubicBezTo>
                  <a:lnTo>
                    <a:pt x="2142363" y="493776"/>
                  </a:lnTo>
                  <a:cubicBezTo>
                    <a:pt x="2142363" y="524129"/>
                    <a:pt x="2117852" y="548640"/>
                    <a:pt x="2087499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44C0C5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410501" y="5481006"/>
            <a:ext cx="5417820" cy="603504"/>
            <a:chOff x="0" y="0"/>
            <a:chExt cx="7223760" cy="80467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Listado y exportación Excel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5825054" y="5606637"/>
            <a:ext cx="11247120" cy="411480"/>
            <a:chOff x="0" y="0"/>
            <a:chExt cx="1499616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448614" y="5606637"/>
            <a:ext cx="1606734" cy="411480"/>
            <a:chOff x="0" y="0"/>
            <a:chExt cx="2142312" cy="5486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142363" cy="548640"/>
            </a:xfrm>
            <a:custGeom>
              <a:avLst/>
              <a:gdLst/>
              <a:ahLst/>
              <a:cxnLst/>
              <a:rect r="r" b="b" t="t" l="l"/>
              <a:pathLst>
                <a:path h="548640" w="2142363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87499" y="0"/>
                  </a:lnTo>
                  <a:cubicBezTo>
                    <a:pt x="2117852" y="0"/>
                    <a:pt x="2142363" y="24511"/>
                    <a:pt x="2142363" y="54864"/>
                  </a:cubicBezTo>
                  <a:lnTo>
                    <a:pt x="2142363" y="493776"/>
                  </a:lnTo>
                  <a:cubicBezTo>
                    <a:pt x="2142363" y="524129"/>
                    <a:pt x="2117852" y="548640"/>
                    <a:pt x="2087499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A4CD6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410501" y="6084510"/>
            <a:ext cx="5417820" cy="603504"/>
            <a:chOff x="0" y="0"/>
            <a:chExt cx="7223760" cy="80467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financiero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825054" y="6210141"/>
            <a:ext cx="11247120" cy="411480"/>
            <a:chOff x="0" y="0"/>
            <a:chExt cx="1499616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2251981" y="6210141"/>
            <a:ext cx="2410101" cy="411480"/>
            <a:chOff x="0" y="0"/>
            <a:chExt cx="3213468" cy="5486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213481" cy="548640"/>
            </a:xfrm>
            <a:custGeom>
              <a:avLst/>
              <a:gdLst/>
              <a:ahLst/>
              <a:cxnLst/>
              <a:rect r="r" b="b" t="t" l="l"/>
              <a:pathLst>
                <a:path h="548640" w="3213481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3158617" y="0"/>
                  </a:lnTo>
                  <a:cubicBezTo>
                    <a:pt x="3188970" y="0"/>
                    <a:pt x="3213481" y="24511"/>
                    <a:pt x="3213481" y="54864"/>
                  </a:cubicBezTo>
                  <a:lnTo>
                    <a:pt x="3213481" y="493776"/>
                  </a:lnTo>
                  <a:cubicBezTo>
                    <a:pt x="3213481" y="524129"/>
                    <a:pt x="3188970" y="548640"/>
                    <a:pt x="3158617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FFC160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410501" y="6688014"/>
            <a:ext cx="5417820" cy="603504"/>
            <a:chOff x="0" y="0"/>
            <a:chExt cx="7223760" cy="80467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Activación municipal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5825054" y="6813645"/>
            <a:ext cx="11247120" cy="411480"/>
            <a:chOff x="0" y="0"/>
            <a:chExt cx="14996160" cy="5486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055348" y="6813645"/>
            <a:ext cx="1606734" cy="411480"/>
            <a:chOff x="0" y="0"/>
            <a:chExt cx="2142312" cy="5486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142363" cy="548640"/>
            </a:xfrm>
            <a:custGeom>
              <a:avLst/>
              <a:gdLst/>
              <a:ahLst/>
              <a:cxnLst/>
              <a:rect r="r" b="b" t="t" l="l"/>
              <a:pathLst>
                <a:path h="548640" w="2142363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87499" y="0"/>
                  </a:lnTo>
                  <a:cubicBezTo>
                    <a:pt x="2117852" y="0"/>
                    <a:pt x="2142363" y="24511"/>
                    <a:pt x="2142363" y="54864"/>
                  </a:cubicBezTo>
                  <a:lnTo>
                    <a:pt x="2142363" y="493776"/>
                  </a:lnTo>
                  <a:cubicBezTo>
                    <a:pt x="2142363" y="524129"/>
                    <a:pt x="2117852" y="548640"/>
                    <a:pt x="2087499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44C0C5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410501" y="7291518"/>
            <a:ext cx="5417820" cy="603504"/>
            <a:chOff x="0" y="0"/>
            <a:chExt cx="7223760" cy="80467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Meta de venta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5825054" y="7417149"/>
            <a:ext cx="11247120" cy="411480"/>
            <a:chOff x="0" y="0"/>
            <a:chExt cx="14996160" cy="5486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3858715" y="7417149"/>
            <a:ext cx="1606734" cy="411480"/>
            <a:chOff x="0" y="0"/>
            <a:chExt cx="2142312" cy="54864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142363" cy="548640"/>
            </a:xfrm>
            <a:custGeom>
              <a:avLst/>
              <a:gdLst/>
              <a:ahLst/>
              <a:cxnLst/>
              <a:rect r="r" b="b" t="t" l="l"/>
              <a:pathLst>
                <a:path h="548640" w="2142363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87499" y="0"/>
                  </a:lnTo>
                  <a:cubicBezTo>
                    <a:pt x="2117852" y="0"/>
                    <a:pt x="2142363" y="24511"/>
                    <a:pt x="2142363" y="54864"/>
                  </a:cubicBezTo>
                  <a:lnTo>
                    <a:pt x="2142363" y="493776"/>
                  </a:lnTo>
                  <a:cubicBezTo>
                    <a:pt x="2142363" y="524129"/>
                    <a:pt x="2117852" y="548640"/>
                    <a:pt x="2087499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A4CD6F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410501" y="7895022"/>
            <a:ext cx="5417820" cy="603504"/>
            <a:chOff x="0" y="0"/>
            <a:chExt cx="7223760" cy="80467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Recordatorios y pagos pendientes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825054" y="8020653"/>
            <a:ext cx="11247120" cy="411480"/>
            <a:chOff x="0" y="0"/>
            <a:chExt cx="14996160" cy="5486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4662073" y="8020653"/>
            <a:ext cx="1606734" cy="411480"/>
            <a:chOff x="0" y="0"/>
            <a:chExt cx="2142312" cy="5486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142363" cy="548640"/>
            </a:xfrm>
            <a:custGeom>
              <a:avLst/>
              <a:gdLst/>
              <a:ahLst/>
              <a:cxnLst/>
              <a:rect r="r" b="b" t="t" l="l"/>
              <a:pathLst>
                <a:path h="548640" w="2142363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87499" y="0"/>
                  </a:lnTo>
                  <a:cubicBezTo>
                    <a:pt x="2117852" y="0"/>
                    <a:pt x="2142363" y="24511"/>
                    <a:pt x="2142363" y="54864"/>
                  </a:cubicBezTo>
                  <a:lnTo>
                    <a:pt x="2142363" y="493776"/>
                  </a:lnTo>
                  <a:cubicBezTo>
                    <a:pt x="2142363" y="524129"/>
                    <a:pt x="2117852" y="548640"/>
                    <a:pt x="2087499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FFC160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10501" y="8498526"/>
            <a:ext cx="5417820" cy="603504"/>
            <a:chOff x="0" y="0"/>
            <a:chExt cx="7223760" cy="80467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Pruebas y demo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5825054" y="8624157"/>
            <a:ext cx="11247120" cy="411480"/>
            <a:chOff x="0" y="0"/>
            <a:chExt cx="14996160" cy="5486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5465440" y="8624157"/>
            <a:ext cx="1606734" cy="411480"/>
            <a:chOff x="0" y="0"/>
            <a:chExt cx="2142312" cy="5486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142363" cy="548640"/>
            </a:xfrm>
            <a:custGeom>
              <a:avLst/>
              <a:gdLst/>
              <a:ahLst/>
              <a:cxnLst/>
              <a:rect r="r" b="b" t="t" l="l"/>
              <a:pathLst>
                <a:path h="548640" w="2142363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87499" y="0"/>
                  </a:lnTo>
                  <a:cubicBezTo>
                    <a:pt x="2117852" y="0"/>
                    <a:pt x="2142363" y="24511"/>
                    <a:pt x="2142363" y="54864"/>
                  </a:cubicBezTo>
                  <a:lnTo>
                    <a:pt x="2142363" y="493776"/>
                  </a:lnTo>
                  <a:cubicBezTo>
                    <a:pt x="2142363" y="524129"/>
                    <a:pt x="2117852" y="548640"/>
                    <a:pt x="2087499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44C0C5"/>
            </a:solidFill>
          </p:spPr>
        </p:sp>
      </p:grpSp>
      <p:sp>
        <p:nvSpPr>
          <p:cNvPr name="AutoShape 124" id="124"/>
          <p:cNvSpPr/>
          <p:nvPr/>
        </p:nvSpPr>
        <p:spPr>
          <a:xfrm flipV="true">
            <a:off x="2281700" y="9915525"/>
            <a:ext cx="15158575" cy="0"/>
          </a:xfrm>
          <a:prstGeom prst="line">
            <a:avLst/>
          </a:prstGeom>
          <a:ln cap="flat" w="9525">
            <a:solidFill>
              <a:srgbClr val="FFC1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5" id="125"/>
          <p:cNvGrpSpPr/>
          <p:nvPr/>
        </p:nvGrpSpPr>
        <p:grpSpPr>
          <a:xfrm rot="0">
            <a:off x="190034" y="9709785"/>
            <a:ext cx="8229600" cy="411480"/>
            <a:chOff x="0" y="0"/>
            <a:chExt cx="10972800" cy="5486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Tally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6801" y="1650737"/>
            <a:ext cx="17294397" cy="7773878"/>
            <a:chOff x="0" y="0"/>
            <a:chExt cx="23059196" cy="10365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59196" cy="10365170"/>
            </a:xfrm>
            <a:custGeom>
              <a:avLst/>
              <a:gdLst/>
              <a:ahLst/>
              <a:cxnLst/>
              <a:rect r="r" b="b" t="t" l="l"/>
              <a:pathLst>
                <a:path h="10365170" w="23059196">
                  <a:moveTo>
                    <a:pt x="123974" y="0"/>
                  </a:moveTo>
                  <a:lnTo>
                    <a:pt x="22935222" y="0"/>
                  </a:lnTo>
                  <a:cubicBezTo>
                    <a:pt x="23003690" y="0"/>
                    <a:pt x="23059196" y="464065"/>
                    <a:pt x="23059196" y="1036517"/>
                  </a:cubicBezTo>
                  <a:lnTo>
                    <a:pt x="23059196" y="9328654"/>
                  </a:lnTo>
                  <a:cubicBezTo>
                    <a:pt x="23059196" y="9901107"/>
                    <a:pt x="23003690" y="10365170"/>
                    <a:pt x="22935222" y="10365170"/>
                  </a:cubicBezTo>
                  <a:lnTo>
                    <a:pt x="123974" y="10365170"/>
                  </a:lnTo>
                  <a:cubicBezTo>
                    <a:pt x="55505" y="10365170"/>
                    <a:pt x="0" y="9901107"/>
                    <a:pt x="0" y="9328654"/>
                  </a:cubicBezTo>
                  <a:lnTo>
                    <a:pt x="0" y="1036517"/>
                  </a:lnTo>
                  <a:cubicBezTo>
                    <a:pt x="0" y="464065"/>
                    <a:pt x="55505" y="0"/>
                    <a:pt x="123974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059196" cy="1040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0018" y="353695"/>
            <a:ext cx="15267964" cy="952500"/>
            <a:chOff x="0" y="0"/>
            <a:chExt cx="20357285" cy="127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57286" cy="1270000"/>
            </a:xfrm>
            <a:custGeom>
              <a:avLst/>
              <a:gdLst/>
              <a:ahLst/>
              <a:cxnLst/>
              <a:rect r="r" b="b" t="t" l="l"/>
              <a:pathLst>
                <a:path h="1270000" w="20357286">
                  <a:moveTo>
                    <a:pt x="109448" y="0"/>
                  </a:moveTo>
                  <a:lnTo>
                    <a:pt x="20247837" y="0"/>
                  </a:lnTo>
                  <a:cubicBezTo>
                    <a:pt x="20308284" y="0"/>
                    <a:pt x="20357286" y="56860"/>
                    <a:pt x="20357286" y="127000"/>
                  </a:cubicBezTo>
                  <a:lnTo>
                    <a:pt x="20357286" y="1143000"/>
                  </a:lnTo>
                  <a:cubicBezTo>
                    <a:pt x="20357286" y="1213140"/>
                    <a:pt x="20308284" y="1270000"/>
                    <a:pt x="20247837" y="1270000"/>
                  </a:cubicBezTo>
                  <a:lnTo>
                    <a:pt x="109448" y="1270000"/>
                  </a:lnTo>
                  <a:cubicBezTo>
                    <a:pt x="49001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49001" y="0"/>
                    <a:pt x="109448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57285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90307" y="371466"/>
            <a:ext cx="13907385" cy="79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B2E18E"/>
                </a:solidFill>
                <a:latin typeface="Poppins Bold"/>
                <a:ea typeface="Poppins Bold"/>
                <a:cs typeface="Poppins Bold"/>
                <a:sym typeface="Poppins Bold"/>
              </a:rPr>
              <a:t>FACTIBILIDAD</a:t>
            </a:r>
            <a:r>
              <a:rPr lang="en-US" b="true" sz="4400" strike="noStrike" u="none">
                <a:solidFill>
                  <a:srgbClr val="B2E18E"/>
                </a:solidFill>
                <a:latin typeface="Poppins Bold"/>
                <a:ea typeface="Poppins Bold"/>
                <a:cs typeface="Poppins Bold"/>
                <a:sym typeface="Poppins Bold"/>
              </a:rPr>
              <a:t> DEL PROYECTO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1887537"/>
            <a:ext cx="16637508" cy="569127"/>
            <a:chOff x="0" y="0"/>
            <a:chExt cx="22183344" cy="7588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83344" cy="758836"/>
            </a:xfrm>
            <a:custGeom>
              <a:avLst/>
              <a:gdLst/>
              <a:ahLst/>
              <a:cxnLst/>
              <a:rect r="r" b="b" t="t" l="l"/>
              <a:pathLst>
                <a:path h="758836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758836"/>
                  </a:lnTo>
                  <a:lnTo>
                    <a:pt x="0" y="7588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413" r="0" b="-5178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2183344" cy="8159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 qué Tally es viable dentro del semestre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606040"/>
            <a:ext cx="8161020" cy="6446520"/>
            <a:chOff x="0" y="0"/>
            <a:chExt cx="10881360" cy="859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81361" cy="8595361"/>
            </a:xfrm>
            <a:custGeom>
              <a:avLst/>
              <a:gdLst/>
              <a:ahLst/>
              <a:cxnLst/>
              <a:rect r="r" b="b" t="t" l="l"/>
              <a:pathLst>
                <a:path h="8595361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8375904"/>
                  </a:lnTo>
                  <a:cubicBezTo>
                    <a:pt x="10881361" y="8497062"/>
                    <a:pt x="10783062" y="8595361"/>
                    <a:pt x="10661904" y="8595361"/>
                  </a:cubicBezTo>
                  <a:lnTo>
                    <a:pt x="219456" y="8595361"/>
                  </a:lnTo>
                  <a:cubicBezTo>
                    <a:pt x="98298" y="8595360"/>
                    <a:pt x="0" y="8497062"/>
                    <a:pt x="0" y="8375904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3017520"/>
            <a:ext cx="685800" cy="109728"/>
            <a:chOff x="0" y="0"/>
            <a:chExt cx="914400" cy="1463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FA79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18578" y="2846060"/>
            <a:ext cx="7132320" cy="2391354"/>
            <a:chOff x="0" y="0"/>
            <a:chExt cx="9509760" cy="31884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09760" cy="3188472"/>
            </a:xfrm>
            <a:custGeom>
              <a:avLst/>
              <a:gdLst/>
              <a:ahLst/>
              <a:cxnLst/>
              <a:rect r="r" b="b" t="t" l="l"/>
              <a:pathLst>
                <a:path h="318847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188472"/>
                  </a:lnTo>
                  <a:lnTo>
                    <a:pt x="0" y="3188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75" r="0" b="2754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9509760" cy="3197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9"/>
                </a:lnSpc>
              </a:pPr>
              <a:r>
                <a:rPr lang="en-US" sz="324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Facilitadores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80160" y="4742063"/>
            <a:ext cx="137160" cy="137160"/>
            <a:chOff x="0" y="0"/>
            <a:chExt cx="182880" cy="182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FA79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23060" y="4663440"/>
            <a:ext cx="6858000" cy="960120"/>
            <a:chOff x="0" y="0"/>
            <a:chExt cx="9144000" cy="1280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91440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1"/>
                </a:lnSpc>
              </a:pPr>
              <a:r>
                <a:rPr lang="en-US" sz="2424">
                  <a:solidFill>
                    <a:srgbClr val="E8EC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Equipo con conocimientos previos en las tecnologías a usar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80160" y="6045083"/>
            <a:ext cx="137160" cy="137160"/>
            <a:chOff x="0" y="0"/>
            <a:chExt cx="182880" cy="182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FA79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23060" y="5866775"/>
            <a:ext cx="6858000" cy="960120"/>
            <a:chOff x="0" y="0"/>
            <a:chExt cx="914400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91440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1"/>
                </a:lnSpc>
              </a:pPr>
              <a:r>
                <a:rPr lang="en-US" sz="2424">
                  <a:solidFill>
                    <a:srgbClr val="E8EC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Herramientas gratuitas o de bajo costo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80160" y="7348103"/>
            <a:ext cx="137160" cy="137160"/>
            <a:chOff x="0" y="0"/>
            <a:chExt cx="182880" cy="182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FA79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23060" y="7169795"/>
            <a:ext cx="6858000" cy="960120"/>
            <a:chOff x="0" y="0"/>
            <a:chExt cx="9144000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0"/>
              <a:ext cx="91440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1"/>
                </a:lnSpc>
              </a:pPr>
              <a:r>
                <a:rPr lang="en-US" sz="2424">
                  <a:solidFill>
                    <a:srgbClr val="E8EC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Experiencia personal y familiar con emprendimiento informal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32620" y="2606040"/>
            <a:ext cx="8161020" cy="6446520"/>
            <a:chOff x="0" y="0"/>
            <a:chExt cx="10881360" cy="8595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881361" cy="8595361"/>
            </a:xfrm>
            <a:custGeom>
              <a:avLst/>
              <a:gdLst/>
              <a:ahLst/>
              <a:cxnLst/>
              <a:rect r="r" b="b" t="t" l="l"/>
              <a:pathLst>
                <a:path h="8595361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8375904"/>
                  </a:lnTo>
                  <a:cubicBezTo>
                    <a:pt x="10881361" y="8497062"/>
                    <a:pt x="10783062" y="8595361"/>
                    <a:pt x="10661904" y="8595361"/>
                  </a:cubicBezTo>
                  <a:lnTo>
                    <a:pt x="219456" y="8595361"/>
                  </a:lnTo>
                  <a:cubicBezTo>
                    <a:pt x="98298" y="8595360"/>
                    <a:pt x="0" y="8497062"/>
                    <a:pt x="0" y="8375904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081260" y="3017520"/>
            <a:ext cx="685800" cy="109728"/>
            <a:chOff x="0" y="0"/>
            <a:chExt cx="914400" cy="1463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264140" y="2767139"/>
            <a:ext cx="7132320" cy="2376361"/>
            <a:chOff x="0" y="0"/>
            <a:chExt cx="9509760" cy="31684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09760" cy="3168481"/>
            </a:xfrm>
            <a:custGeom>
              <a:avLst/>
              <a:gdLst/>
              <a:ahLst/>
              <a:cxnLst/>
              <a:rect r="r" b="b" t="t" l="l"/>
              <a:pathLst>
                <a:path h="3168481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168481"/>
                  </a:lnTo>
                  <a:lnTo>
                    <a:pt x="0" y="31684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52" r="0" b="2708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9509760" cy="3178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9"/>
                </a:lnSpc>
              </a:pPr>
              <a:r>
                <a:rPr lang="en-US" sz="324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Riesgos y mitigación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989820" y="4742063"/>
            <a:ext cx="137160" cy="137160"/>
            <a:chOff x="0" y="0"/>
            <a:chExt cx="182880" cy="182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264140" y="4333170"/>
            <a:ext cx="6858000" cy="960120"/>
            <a:chOff x="0" y="0"/>
            <a:chExt cx="9144000" cy="12801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0"/>
              <a:ext cx="91440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1"/>
                </a:lnSpc>
              </a:pPr>
              <a:r>
                <a:rPr lang="en-US" sz="2424">
                  <a:solidFill>
                    <a:srgbClr val="E8EC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Coordinación de horarios entre integrantes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989820" y="6045083"/>
            <a:ext cx="137160" cy="137160"/>
            <a:chOff x="0" y="0"/>
            <a:chExt cx="182880" cy="1828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332720" y="5633603"/>
            <a:ext cx="6858000" cy="960120"/>
            <a:chOff x="0" y="0"/>
            <a:chExt cx="9144000" cy="12801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0"/>
              <a:ext cx="91440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1"/>
                </a:lnSpc>
              </a:pPr>
              <a:r>
                <a:rPr lang="en-US" sz="2424">
                  <a:solidFill>
                    <a:srgbClr val="E8EC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Mitigación: reuniones semanales fijas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989820" y="7348103"/>
            <a:ext cx="137160" cy="137160"/>
            <a:chOff x="0" y="0"/>
            <a:chExt cx="182880" cy="1828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332720" y="6936623"/>
            <a:ext cx="6858000" cy="960120"/>
            <a:chOff x="0" y="0"/>
            <a:chExt cx="9144000" cy="12801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144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0"/>
              <a:ext cx="91440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1"/>
                </a:lnSpc>
              </a:pPr>
              <a:r>
                <a:rPr lang="en-US" sz="2424">
                  <a:solidFill>
                    <a:srgbClr val="E8EC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División clara de responsabilidades por especialidad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 flipV="true">
            <a:off x="2281700" y="9915525"/>
            <a:ext cx="15158575" cy="0"/>
          </a:xfrm>
          <a:prstGeom prst="line">
            <a:avLst/>
          </a:prstGeom>
          <a:ln cap="flat" w="9525">
            <a:solidFill>
              <a:srgbClr val="FFC1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0">
            <a:off x="190034" y="9709785"/>
            <a:ext cx="8229600" cy="411480"/>
            <a:chOff x="0" y="0"/>
            <a:chExt cx="1097280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Tally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" y="1979302"/>
            <a:ext cx="16921162" cy="7592126"/>
            <a:chOff x="0" y="0"/>
            <a:chExt cx="22561550" cy="101228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61550" cy="10122835"/>
            </a:xfrm>
            <a:custGeom>
              <a:avLst/>
              <a:gdLst/>
              <a:ahLst/>
              <a:cxnLst/>
              <a:rect r="r" b="b" t="t" l="l"/>
              <a:pathLst>
                <a:path h="10122835" w="22561550">
                  <a:moveTo>
                    <a:pt x="121299" y="0"/>
                  </a:moveTo>
                  <a:lnTo>
                    <a:pt x="22440252" y="0"/>
                  </a:lnTo>
                  <a:cubicBezTo>
                    <a:pt x="22507243" y="0"/>
                    <a:pt x="22561550" y="453215"/>
                    <a:pt x="22561550" y="1012284"/>
                  </a:cubicBezTo>
                  <a:lnTo>
                    <a:pt x="22561550" y="9110552"/>
                  </a:lnTo>
                  <a:cubicBezTo>
                    <a:pt x="22561550" y="9669621"/>
                    <a:pt x="22507243" y="10122835"/>
                    <a:pt x="22440252" y="10122835"/>
                  </a:cubicBezTo>
                  <a:lnTo>
                    <a:pt x="121299" y="10122835"/>
                  </a:lnTo>
                  <a:cubicBezTo>
                    <a:pt x="54307" y="10122835"/>
                    <a:pt x="0" y="9669621"/>
                    <a:pt x="0" y="9110552"/>
                  </a:cubicBezTo>
                  <a:lnTo>
                    <a:pt x="0" y="1012284"/>
                  </a:lnTo>
                  <a:cubicBezTo>
                    <a:pt x="0" y="453215"/>
                    <a:pt x="54307" y="0"/>
                    <a:pt x="121299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561550" cy="10160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4475" y="352425"/>
            <a:ext cx="15268575" cy="952500"/>
            <a:chOff x="0" y="0"/>
            <a:chExt cx="20358100" cy="127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581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0358100">
                  <a:moveTo>
                    <a:pt x="127000" y="0"/>
                  </a:moveTo>
                  <a:lnTo>
                    <a:pt x="20231100" y="0"/>
                  </a:lnTo>
                  <a:cubicBezTo>
                    <a:pt x="20301240" y="0"/>
                    <a:pt x="20358100" y="56860"/>
                    <a:pt x="20358100" y="127000"/>
                  </a:cubicBezTo>
                  <a:lnTo>
                    <a:pt x="20358100" y="1143000"/>
                  </a:lnTo>
                  <a:cubicBezTo>
                    <a:pt x="20358100" y="1213140"/>
                    <a:pt x="20301240" y="1270000"/>
                    <a:pt x="202311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581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2281700" y="9915525"/>
            <a:ext cx="15158575" cy="0"/>
          </a:xfrm>
          <a:prstGeom prst="line">
            <a:avLst/>
          </a:prstGeom>
          <a:ln cap="flat" w="9525">
            <a:solidFill>
              <a:srgbClr val="A1F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90034" y="9709785"/>
            <a:ext cx="8229600" cy="411480"/>
            <a:chOff x="0" y="0"/>
            <a:chExt cx="109728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Tally</a:t>
              </a: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4801189" y="4207203"/>
            <a:ext cx="2575114" cy="5184793"/>
            <a:chOff x="0" y="0"/>
            <a:chExt cx="9461500" cy="190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00304" y="312801"/>
              <a:ext cx="8650859" cy="18424398"/>
            </a:xfrm>
            <a:custGeom>
              <a:avLst/>
              <a:gdLst/>
              <a:ahLst/>
              <a:cxnLst/>
              <a:rect r="r" b="b" t="t" l="l"/>
              <a:pathLst>
                <a:path h="18424398" w="8650859">
                  <a:moveTo>
                    <a:pt x="7532370" y="18424398"/>
                  </a:moveTo>
                  <a:lnTo>
                    <a:pt x="1118489" y="18424398"/>
                  </a:lnTo>
                  <a:cubicBezTo>
                    <a:pt x="500761" y="18424398"/>
                    <a:pt x="0" y="17923636"/>
                    <a:pt x="0" y="17305910"/>
                  </a:cubicBezTo>
                  <a:lnTo>
                    <a:pt x="0" y="1118489"/>
                  </a:lnTo>
                  <a:cubicBezTo>
                    <a:pt x="0" y="500761"/>
                    <a:pt x="500761" y="0"/>
                    <a:pt x="1118489" y="0"/>
                  </a:cubicBezTo>
                  <a:lnTo>
                    <a:pt x="7532370" y="0"/>
                  </a:lnTo>
                  <a:cubicBezTo>
                    <a:pt x="8150098" y="0"/>
                    <a:pt x="8650859" y="500761"/>
                    <a:pt x="8650859" y="1118489"/>
                  </a:cubicBezTo>
                  <a:lnTo>
                    <a:pt x="8650859" y="17305910"/>
                  </a:lnTo>
                  <a:cubicBezTo>
                    <a:pt x="8650732" y="17923636"/>
                    <a:pt x="8150098" y="18424398"/>
                    <a:pt x="7532370" y="18424398"/>
                  </a:cubicBezTo>
                  <a:close/>
                </a:path>
              </a:pathLst>
            </a:custGeom>
            <a:blipFill>
              <a:blip r:embed="rId3"/>
              <a:stretch>
                <a:fillRect l="-2241" t="0" r="-217225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615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461500">
                  <a:moveTo>
                    <a:pt x="94615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461500" y="0"/>
                  </a:lnTo>
                  <a:lnTo>
                    <a:pt x="9461500" y="19050000"/>
                  </a:lnTo>
                  <a:close/>
                </a:path>
              </a:pathLst>
            </a:custGeom>
            <a:blipFill>
              <a:blip r:embed="rId4"/>
              <a:stretch>
                <a:fillRect l="-83" t="0" r="-83" b="0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7861206" y="4207203"/>
            <a:ext cx="2575114" cy="5184793"/>
            <a:chOff x="0" y="0"/>
            <a:chExt cx="9461500" cy="190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00304" y="312801"/>
              <a:ext cx="8650859" cy="18424398"/>
            </a:xfrm>
            <a:custGeom>
              <a:avLst/>
              <a:gdLst/>
              <a:ahLst/>
              <a:cxnLst/>
              <a:rect r="r" b="b" t="t" l="l"/>
              <a:pathLst>
                <a:path h="18424398" w="8650859">
                  <a:moveTo>
                    <a:pt x="7532370" y="18424398"/>
                  </a:moveTo>
                  <a:lnTo>
                    <a:pt x="1118489" y="18424398"/>
                  </a:lnTo>
                  <a:cubicBezTo>
                    <a:pt x="500761" y="18424398"/>
                    <a:pt x="0" y="17923636"/>
                    <a:pt x="0" y="17305910"/>
                  </a:cubicBezTo>
                  <a:lnTo>
                    <a:pt x="0" y="1118489"/>
                  </a:lnTo>
                  <a:cubicBezTo>
                    <a:pt x="0" y="500761"/>
                    <a:pt x="500761" y="0"/>
                    <a:pt x="1118489" y="0"/>
                  </a:cubicBezTo>
                  <a:lnTo>
                    <a:pt x="7532370" y="0"/>
                  </a:lnTo>
                  <a:cubicBezTo>
                    <a:pt x="8150098" y="0"/>
                    <a:pt x="8650859" y="500761"/>
                    <a:pt x="8650859" y="1118489"/>
                  </a:cubicBezTo>
                  <a:lnTo>
                    <a:pt x="8650859" y="17305910"/>
                  </a:lnTo>
                  <a:cubicBezTo>
                    <a:pt x="8650732" y="17923636"/>
                    <a:pt x="8150098" y="18424398"/>
                    <a:pt x="7532370" y="18424398"/>
                  </a:cubicBezTo>
                  <a:close/>
                </a:path>
              </a:pathLst>
            </a:custGeom>
            <a:blipFill>
              <a:blip r:embed="rId3"/>
              <a:stretch>
                <a:fillRect l="-107043" t="0" r="-112422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615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461500">
                  <a:moveTo>
                    <a:pt x="94615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461500" y="0"/>
                  </a:lnTo>
                  <a:lnTo>
                    <a:pt x="9461500" y="19050000"/>
                  </a:lnTo>
                  <a:close/>
                </a:path>
              </a:pathLst>
            </a:custGeom>
            <a:blipFill>
              <a:blip r:embed="rId4"/>
              <a:stretch>
                <a:fillRect l="-83" t="0" r="-83" b="0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0921222" y="4207203"/>
            <a:ext cx="2575114" cy="5184793"/>
            <a:chOff x="0" y="0"/>
            <a:chExt cx="9461500" cy="190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00304" y="312801"/>
              <a:ext cx="8650859" cy="18424398"/>
            </a:xfrm>
            <a:custGeom>
              <a:avLst/>
              <a:gdLst/>
              <a:ahLst/>
              <a:cxnLst/>
              <a:rect r="r" b="b" t="t" l="l"/>
              <a:pathLst>
                <a:path h="18424398" w="8650859">
                  <a:moveTo>
                    <a:pt x="7532370" y="18424398"/>
                  </a:moveTo>
                  <a:lnTo>
                    <a:pt x="1118489" y="18424398"/>
                  </a:lnTo>
                  <a:cubicBezTo>
                    <a:pt x="500761" y="18424398"/>
                    <a:pt x="0" y="17923636"/>
                    <a:pt x="0" y="17305910"/>
                  </a:cubicBezTo>
                  <a:lnTo>
                    <a:pt x="0" y="1118489"/>
                  </a:lnTo>
                  <a:cubicBezTo>
                    <a:pt x="0" y="500761"/>
                    <a:pt x="500761" y="0"/>
                    <a:pt x="1118489" y="0"/>
                  </a:cubicBezTo>
                  <a:lnTo>
                    <a:pt x="7532370" y="0"/>
                  </a:lnTo>
                  <a:cubicBezTo>
                    <a:pt x="8150098" y="0"/>
                    <a:pt x="8650859" y="500761"/>
                    <a:pt x="8650859" y="1118489"/>
                  </a:cubicBezTo>
                  <a:lnTo>
                    <a:pt x="8650859" y="17305910"/>
                  </a:lnTo>
                  <a:cubicBezTo>
                    <a:pt x="8650732" y="17923636"/>
                    <a:pt x="8150098" y="18424398"/>
                    <a:pt x="7532370" y="18424398"/>
                  </a:cubicBezTo>
                  <a:close/>
                </a:path>
              </a:pathLst>
            </a:custGeom>
            <a:blipFill>
              <a:blip r:embed="rId3"/>
              <a:stretch>
                <a:fillRect l="-213723" t="0" r="-5742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615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461500">
                  <a:moveTo>
                    <a:pt x="94615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461500" y="0"/>
                  </a:lnTo>
                  <a:lnTo>
                    <a:pt x="9461500" y="19050000"/>
                  </a:lnTo>
                  <a:close/>
                </a:path>
              </a:pathLst>
            </a:custGeom>
            <a:blipFill>
              <a:blip r:embed="rId4"/>
              <a:stretch>
                <a:fillRect l="-83" t="0" r="-83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3686175" y="352425"/>
            <a:ext cx="10906125" cy="80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22"/>
              </a:lnSpc>
              <a:spcBef>
                <a:spcPct val="0"/>
              </a:spcBef>
            </a:pPr>
            <a:r>
              <a:rPr lang="en-US" b="true" sz="4444" strike="noStrike" u="none">
                <a:solidFill>
                  <a:srgbClr val="B2E18E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19359" y="3054822"/>
            <a:ext cx="193693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b="true" sz="2300">
                <a:solidFill>
                  <a:srgbClr val="B2E1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 Cloud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2918" y="2664153"/>
            <a:ext cx="246855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b="true" sz="2300">
                <a:solidFill>
                  <a:srgbClr val="FFA2E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Desarrollo Full-Stack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21053" y="4009549"/>
            <a:ext cx="226083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B81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Metodologías Ágiles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0636" y="5264944"/>
            <a:ext cx="226083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B2E1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Modelado de Bases de Datos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0636" y="8254692"/>
            <a:ext cx="226083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FD0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Escalabilidad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83538" y="2214148"/>
            <a:ext cx="178572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A1F9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de Negocio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05672" y="3397722"/>
            <a:ext cx="178572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FD0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84491" y="2385598"/>
            <a:ext cx="178572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FA2E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658168" y="3226272"/>
            <a:ext cx="242981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B81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 Cliente-Servidor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23145" y="2327706"/>
            <a:ext cx="30497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A1F9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UI (Interfaz de Usuario)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81236" y="6946556"/>
            <a:ext cx="232011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FA2E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UX (Experiencia de Usuario)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33340" y="3397722"/>
            <a:ext cx="30497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FA2E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UI (Interfaz de Usuario)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780348" y="4352449"/>
            <a:ext cx="304971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FD0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Mockups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33340" y="5343905"/>
            <a:ext cx="304971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FA2E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Scrum / Sprints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48000" y="7693581"/>
            <a:ext cx="304971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B2E1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KP</a:t>
            </a:r>
            <a:r>
              <a:rPr lang="en-US" b="true" sz="2299">
                <a:solidFill>
                  <a:srgbClr val="B2E1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733340" y="8352651"/>
            <a:ext cx="30497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FD0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</a:t>
            </a:r>
            <a:r>
              <a:rPr lang="en-US" b="true" sz="2299">
                <a:solidFill>
                  <a:srgbClr val="FFD0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ransformación Digital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650682" y="6222731"/>
            <a:ext cx="1883236" cy="68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A1F9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Lógica de negocio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690637" y="7131606"/>
            <a:ext cx="188323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B81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Carta Gantt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DAHOKv_B3yw</dc:identifier>
  <dcterms:modified xsi:type="dcterms:W3CDTF">2011-08-01T06:04:30Z</dcterms:modified>
  <cp:revision>1</cp:revision>
  <dc:title>Tally</dc:title>
</cp:coreProperties>
</file>